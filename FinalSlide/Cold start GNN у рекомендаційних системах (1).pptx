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embeddedFontLst>
    <p:embeddedFont>
      <p:font typeface="Montserrat" panose="00000500000000000000" pitchFamily="2" charset="-52"/>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3560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Вітаємо! Наш проєкт про холодний старт: як рекомендувати товар, який ще ніхто не купував, і чому для цього добре підходять графові нейронні мережі.</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 про команду: хто за що відповідав. Кожен розповідає про свою частину за порядком слайдів.</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Є три типи cold start: користувач, товар і система. Ми зосереджені на новому товарі. Важливо: це не те саме, що розрідженість даних — тут історії немає зовсім. Класичні методи вчать окремий вектор для кожного ID, тож для нового ID вектор не навчений, і лишається лише «показати популярне» без персоналізації.</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Існує кілька груп підходів: від простого «показати популярне» до meta-learning і контрастного навчання. Графові методи виділяються тим, що використовують і ознаки, і зв’язки. Дослідницьке питання: чи дає граф приріст понад самі ознаки на нових товарах? Гіпотези: H1 — GraphSAGE з ознаками краще за Popularity; H2 — GraphSAGE краще за content-only.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Новий телефон є в каталозі, але його ніхто не купив, тому зв’язків «людина — товар» у нього немає. Щоб він мав сусідів, у граф додають бренд, категорію й мітки. Шлях від старого телефону до нового йде через Samsung. Лінії потрібні в обидва боки, щоб новий телефон «побачив» бренд.</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passing простими словами: кожна точка бере свій старий опис, усереднює описи сусідів і ділить навпіл. Усі точки роблять це одночасно. Від покупця до нового телефону три лінії, тож потрібно три кроки. Навчання змінює коефіцієнти формули, а не самі числа з картки.</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моделі з різними властивостями. GraphSAGE — індуктивна, добре масштабується. GAT додає механізм уваги, але коштує дорожче. LightGCN — найпростіша й найшвидша, проте працює лише з ID вузлів і не використовує ознаки. Саме ця різниця стане ключовою на cold start.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дослідження обрано реальний датасет телефонів з Amazon. Він має і поведінкову історію, і характеристики пристроїв, зокрема бренд і модель, яких немає, наприклад, у MovieLens. Позитивними зв’язками вважаємо покупки з рейтингом понад 4 зірки; оцінки 1–3 відкинуто.</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Симулюємо cold start: три моделі телефонів лишаємо «теплими», а в моделі HTM видаляємо всі ребра з покупцями. У графі залишаються тільки тип, ціна та бренд. Справжні покупки зберігаємо окремо в true_results і після навчання порівнюємо з передбаченнями.</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Шість метрик якості топ-K списку. Recall і Precision відповідають на питання «скільки знайшли» і «наскільки точно». HitRate — чи є влучання. DCG і NDCG враховують позицію в списку. MRR показує, як швидко користувач дійде до першого потрібного товару.</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 результати з дослідження Pinterest, KDD 2018. Перші три рядки — моделі лише на зображеннях, лише на тексті та їх комбінація: Hit-rate 14–27%. Перехід до GNN одразу піднімає його до 41%, а повна архітектура PinSage досягає 67% і MRR 0,59.</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Що відбувається, коли в нового вузла немає ребер. GraphSAGE будує вектор з атрибутів і тому працює відмінно. GAT може скористатися атрибутами, але без сусідів механізм уваги нічого не зважує, тож результат задовільний. LightGCN покладається лише на ID, тому для нового вузла його вектор залишається випадковим. На практиці поєднують підходи.</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ризики. Перший — вартість: великі графи вимагають багато відеопам’яті. Другий — приватність: граф кодує поведінку людей, тому важливі GDPR і український закон про захист персональних даних. Третій — офлайн-оцінка на статичних даних не відображає живої поведінки користувачів.</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Масштаб системи Pinterest: граф із 3 мільярдів вузлів і 18 мільярдів ребер, навчання на 7,5 мільярда пар. PinSage досяг Hit-rate 67% проти 27% у найкращої комбінованої моделі на зображеннях і тексті, а MRR зріс з 0,37 до 0,59. Висновок: індуктивний граф із контентними ознаками значно краще розв’язує cold start.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Джерела: основні статті про PinSage, GraphSAGE, GAT і LightGCN, огляди з cold start і GNN у рекомендаціях, датасет Amazon та інструменти. Увесь код і матеріали доступні в нашому репозиторії на GitHub.</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Підсумок: холодний старт — це відсутність історії, а граф дає новому товару зв’язки через бренд, категорію й мітки. GNN, які працюють з ознаками, зокрема GraphSAGE, добре з цим справляються, а LightGCN — ні. Досвід Pinterest показує приріст від 27% до 67% Hit-rate. Але GNN — не чарівна паличка.</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Дякуємо за увагу! Готові відповісти на запитання. Усі матеріали проєкту — в репозиторії на GitHub.</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F5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04241"/>
            <a:ext cx="8890000" cy="363220"/>
          </a:xfrm>
          <a:prstGeom prst="rect">
            <a:avLst/>
          </a:prstGeom>
          <a:noFill/>
          <a:ln/>
        </p:spPr>
        <p:txBody>
          <a:bodyPr wrap="square" lIns="0" tIns="0" rIns="0" bIns="0" rtlCol="0" anchor="t"/>
          <a:lstStyle>
            <a:lvl1pPr marL="0" indent="0" algn="l">
              <a:lnSpc>
                <a:spcPct val="115000"/>
              </a:lnSpc>
              <a:buNone/>
              <a:defRPr lang="en-US" sz="2600" dirty="0">
                <a:solidFill>
                  <a:srgbClr val="17387E"/>
                </a:solidFill>
                <a:latin typeface="Montserrat" pitchFamily="34" charset="0"/>
                <a:ea typeface="Montserrat" pitchFamily="34" charset="-122"/>
                <a:cs typeface="Montserrat" pitchFamily="34" charset="-120"/>
              </a:defRPr>
            </a:lvl1pPr>
          </a:lstStyle>
          <a:p>
            <a:pPr marL="0" indent="0" algn="l">
              <a:lnSpc>
                <a:spcPct val="115000"/>
              </a:lnSpc>
              <a:buNone/>
            </a:pPr>
            <a:endParaRPr lang="en-US" sz="2600" dirty="0">
              <a:latin typeface="Montserrat" charset="0"/>
              <a:ea typeface="Montserrat" charset="0"/>
              <a:cs typeface="Montserrat" charset="0"/>
            </a:endParaRPr>
          </a:p>
        </p:txBody>
      </p:sp>
      <p:sp>
        <p:nvSpPr>
          <p:cNvPr id="3" name="Text Placeholder 2"/>
          <p:cNvSpPr>
            <a:spLocks noGrp="1"/>
          </p:cNvSpPr>
          <p:nvPr>
            <p:ph type="body" idx="101"/>
          </p:nvPr>
        </p:nvSpPr>
        <p:spPr>
          <a:xfrm>
            <a:off x="812800" y="1572261"/>
            <a:ext cx="10566400" cy="4472939"/>
          </a:xfrm>
          <a:prstGeom prst="rect">
            <a:avLst/>
          </a:prstGeom>
          <a:noFill/>
          <a:ln/>
        </p:spPr>
        <p:txBody>
          <a:bodyPr wrap="square" lIns="0" tIns="0" rIns="0" bIns="0" rtlCol="0" anchor="t"/>
          <a:lstStyle>
            <a:lvl1pPr marL="0" indent="0" algn="l">
              <a:lnSpc>
                <a:spcPct val="140000"/>
              </a:lnSpc>
              <a:buNone/>
              <a:defRPr lang="en-US" sz="1600" dirty="0">
                <a:solidFill>
                  <a:srgbClr val="17387E"/>
                </a:solidFill>
                <a:latin typeface="Montserrat" pitchFamily="34" charset="0"/>
                <a:ea typeface="Montserrat" pitchFamily="34" charset="-122"/>
                <a:cs typeface="Montserrat" pitchFamily="34" charset="-120"/>
              </a:defRPr>
            </a:lvl1pPr>
          </a:lstStyle>
          <a:p>
            <a:pPr marL="0" indent="0" algn="l">
              <a:lnSpc>
                <a:spcPct val="140000"/>
              </a:lnSpc>
              <a:buNone/>
            </a:pPr>
            <a:endParaRPr lang="en-US" sz="1600" dirty="0">
              <a:latin typeface="Montserrat" charset="0"/>
              <a:ea typeface="Montserrat" charset="0"/>
              <a:cs typeface="Montserrat"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5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04241"/>
            <a:ext cx="8890000" cy="363220"/>
          </a:xfrm>
          <a:prstGeom prst="rect">
            <a:avLst/>
          </a:prstGeom>
          <a:noFill/>
          <a:ln/>
        </p:spPr>
        <p:txBody>
          <a:bodyPr wrap="square" lIns="0" tIns="0" rIns="0" bIns="0" rtlCol="0" anchor="t"/>
          <a:lstStyle>
            <a:lvl1pPr marL="0" indent="0" algn="l">
              <a:lnSpc>
                <a:spcPct val="115000"/>
              </a:lnSpc>
              <a:buNone/>
              <a:defRPr lang="en-US" sz="2600" dirty="0">
                <a:solidFill>
                  <a:srgbClr val="17387E"/>
                </a:solidFill>
                <a:latin typeface="Montserrat" pitchFamily="34" charset="0"/>
                <a:ea typeface="Montserrat" pitchFamily="34" charset="-122"/>
                <a:cs typeface="Montserrat" pitchFamily="34" charset="-120"/>
              </a:defRPr>
            </a:lvl1pPr>
          </a:lstStyle>
          <a:p>
            <a:pPr marL="0" indent="0" algn="l">
              <a:lnSpc>
                <a:spcPct val="115000"/>
              </a:lnSpc>
              <a:buNone/>
            </a:pPr>
            <a:endParaRPr lang="en-US" sz="2600" dirty="0">
              <a:latin typeface="Montserrat" charset="0"/>
              <a:ea typeface="Montserrat" charset="0"/>
              <a:cs typeface="Montserrat" charset="0"/>
            </a:endParaRPr>
          </a:p>
        </p:txBody>
      </p:sp>
      <p:sp>
        <p:nvSpPr>
          <p:cNvPr id="3" name="Text Placeholder 2"/>
          <p:cNvSpPr>
            <a:spLocks noGrp="1"/>
          </p:cNvSpPr>
          <p:nvPr>
            <p:ph type="body" idx="101"/>
          </p:nvPr>
        </p:nvSpPr>
        <p:spPr>
          <a:xfrm>
            <a:off x="812800" y="1572261"/>
            <a:ext cx="10566400" cy="4472939"/>
          </a:xfrm>
          <a:prstGeom prst="rect">
            <a:avLst/>
          </a:prstGeom>
          <a:noFill/>
          <a:ln/>
        </p:spPr>
        <p:txBody>
          <a:bodyPr wrap="square" lIns="0" tIns="0" rIns="0" bIns="0" rtlCol="0" anchor="t"/>
          <a:lstStyle>
            <a:lvl1pPr marL="0" indent="0" algn="l">
              <a:lnSpc>
                <a:spcPct val="140000"/>
              </a:lnSpc>
              <a:buNone/>
              <a:defRPr lang="en-US" sz="1600" dirty="0">
                <a:solidFill>
                  <a:srgbClr val="17387E"/>
                </a:solidFill>
                <a:latin typeface="Montserrat" pitchFamily="34" charset="0"/>
                <a:ea typeface="Montserrat" pitchFamily="34" charset="-122"/>
                <a:cs typeface="Montserrat" pitchFamily="34" charset="-120"/>
              </a:defRPr>
            </a:lvl1pPr>
          </a:lstStyle>
          <a:p>
            <a:pPr marL="0" indent="0" algn="l">
              <a:lnSpc>
                <a:spcPct val="140000"/>
              </a:lnSpc>
              <a:buNone/>
            </a:pPr>
            <a:endParaRPr lang="en-US" sz="1600" dirty="0">
              <a:latin typeface="Montserrat" charset="0"/>
              <a:ea typeface="Montserrat" charset="0"/>
              <a:cs typeface="Montserrat"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MariaZanko/CS101-Project"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87E"/>
        </a:solidFill>
        <a:effectLst/>
      </p:bgPr>
    </p:bg>
    <p:spTree>
      <p:nvGrpSpPr>
        <p:cNvPr id="1" name=""/>
        <p:cNvGrpSpPr/>
        <p:nvPr/>
      </p:nvGrpSpPr>
      <p:grpSpPr>
        <a:xfrm>
          <a:off x="0" y="0"/>
          <a:ext cx="0" cy="0"/>
          <a:chOff x="0" y="0"/>
          <a:chExt cx="0" cy="0"/>
        </a:xfrm>
      </p:grpSpPr>
      <p:sp>
        <p:nvSpPr>
          <p:cNvPr id="2" name="Shape 0"/>
          <p:cNvSpPr/>
          <p:nvPr/>
        </p:nvSpPr>
        <p:spPr>
          <a:xfrm>
            <a:off x="8890000" y="3556000"/>
            <a:ext cx="3302000" cy="3302000"/>
          </a:xfrm>
          <a:custGeom>
            <a:avLst/>
            <a:gdLst/>
            <a:ahLst/>
            <a:cxnLst/>
            <a:rect l="l" t="t" r="r" b="b"/>
            <a:pathLst>
              <a:path w="3302000" h="3302000">
                <a:moveTo>
                  <a:pt x="1625600" y="0"/>
                </a:moveTo>
                <a:lnTo>
                  <a:pt x="3302000" y="0"/>
                </a:lnTo>
                <a:lnTo>
                  <a:pt x="3302000" y="3302000"/>
                </a:lnTo>
                <a:lnTo>
                  <a:pt x="0" y="3302000"/>
                </a:lnTo>
                <a:lnTo>
                  <a:pt x="0" y="1625600"/>
                </a:lnTo>
                <a:arcTo wR="1625600" hR="1625600" stAng="10800000" swAng="5400000"/>
                <a:close/>
              </a:path>
            </a:pathLst>
          </a:custGeom>
          <a:gradFill rotWithShape="1">
            <a:gsLst>
              <a:gs pos="0">
                <a:srgbClr val="8DB3E6"/>
              </a:gs>
              <a:gs pos="50000">
                <a:srgbClr val="8DB3E6"/>
              </a:gs>
              <a:gs pos="50000">
                <a:srgbClr val="17387E"/>
              </a:gs>
              <a:gs pos="100000">
                <a:srgbClr val="17387E"/>
              </a:gs>
            </a:gsLst>
            <a:lin ang="2700000" scaled="0"/>
          </a:gradFill>
          <a:ln/>
        </p:spPr>
      </p:sp>
      <p:sp>
        <p:nvSpPr>
          <p:cNvPr id="3" name="Shape 1"/>
          <p:cNvSpPr/>
          <p:nvPr/>
        </p:nvSpPr>
        <p:spPr>
          <a:xfrm>
            <a:off x="10541000" y="5207000"/>
            <a:ext cx="1651000" cy="1651000"/>
          </a:xfrm>
          <a:custGeom>
            <a:avLst/>
            <a:gdLst/>
            <a:ahLst/>
            <a:cxnLst/>
            <a:rect l="l" t="t" r="r" b="b"/>
            <a:pathLst>
              <a:path w="1651000" h="1651000">
                <a:moveTo>
                  <a:pt x="1625600" y="0"/>
                </a:moveTo>
                <a:lnTo>
                  <a:pt x="1651000" y="0"/>
                </a:lnTo>
                <a:lnTo>
                  <a:pt x="1651000" y="1651000"/>
                </a:lnTo>
                <a:lnTo>
                  <a:pt x="0" y="1651000"/>
                </a:lnTo>
                <a:lnTo>
                  <a:pt x="0" y="1625600"/>
                </a:lnTo>
                <a:arcTo wR="1625600" hR="1625600" stAng="10800000" swAng="5400000"/>
                <a:close/>
              </a:path>
            </a:pathLst>
          </a:custGeom>
          <a:solidFill>
            <a:srgbClr val="EAF0FB"/>
          </a:solidFill>
          <a:ln/>
        </p:spPr>
      </p:sp>
      <p:pic>
        <p:nvPicPr>
          <p:cNvPr id="4" name="Image 0" descr="Декоративні точки"/>
          <p:cNvPicPr>
            <a:picLocks noChangeAspect="1"/>
          </p:cNvPicPr>
          <p:nvPr/>
        </p:nvPicPr>
        <p:blipFill>
          <a:blip r:embed="rId3"/>
          <a:srcRect/>
          <a:stretch/>
        </p:blipFill>
        <p:spPr>
          <a:xfrm>
            <a:off x="812800" y="609600"/>
            <a:ext cx="762000" cy="609600"/>
          </a:xfrm>
          <a:prstGeom prst="rect">
            <a:avLst/>
          </a:prstGeom>
        </p:spPr>
      </p:pic>
      <p:sp>
        <p:nvSpPr>
          <p:cNvPr id="5" name="Text 2"/>
          <p:cNvSpPr/>
          <p:nvPr/>
        </p:nvSpPr>
        <p:spPr>
          <a:xfrm>
            <a:off x="812800" y="1548130"/>
            <a:ext cx="2157127"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9DBDEB"/>
                </a:solidFill>
                <a:latin typeface="Montserrat" pitchFamily="34" charset="0"/>
                <a:ea typeface="Montserrat" pitchFamily="34" charset="-122"/>
                <a:cs typeface="Montserrat" pitchFamily="34" charset="-120"/>
              </a:rPr>
              <a:t>CS101 · ПРОЄКТ</a:t>
            </a:r>
            <a:endParaRPr lang="en-US" sz="1400" dirty="0">
              <a:latin typeface="Montserrat" charset="0"/>
              <a:ea typeface="Montserrat" charset="0"/>
              <a:cs typeface="Montserrat" charset="0"/>
            </a:endParaRPr>
          </a:p>
        </p:txBody>
      </p:sp>
      <p:sp>
        <p:nvSpPr>
          <p:cNvPr id="6" name="Text 3"/>
          <p:cNvSpPr>
            <a:spLocks noGrp="1"/>
          </p:cNvSpPr>
          <p:nvPr>
            <p:ph type="title"/>
          </p:nvPr>
        </p:nvSpPr>
        <p:spPr>
          <a:xfrm>
            <a:off x="812800" y="2025650"/>
            <a:ext cx="8175625" cy="178562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7FD"/>
                </a:solidFill>
                <a:latin typeface="Montserrat" pitchFamily="34" charset="0"/>
                <a:ea typeface="Montserrat" pitchFamily="34" charset="-122"/>
                <a:cs typeface="Montserrat" pitchFamily="34" charset="-120"/>
              </a:rPr>
              <a:t>ХОЛОДНИЙ СТАРТ У РЕКОМЕНДАЦІЙНИХ СИСТЕМАХ</a:t>
            </a:r>
            <a:endParaRPr lang="en-US" sz="4200" dirty="0">
              <a:latin typeface="Montserrat" charset="0"/>
              <a:ea typeface="Montserrat" charset="0"/>
              <a:cs typeface="Montserrat" charset="0"/>
            </a:endParaRPr>
          </a:p>
        </p:txBody>
      </p:sp>
      <p:sp>
        <p:nvSpPr>
          <p:cNvPr id="7" name="Text 4"/>
          <p:cNvSpPr/>
          <p:nvPr/>
        </p:nvSpPr>
        <p:spPr>
          <a:xfrm>
            <a:off x="812800" y="4014470"/>
            <a:ext cx="7521575"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8F2"/>
                </a:solidFill>
                <a:latin typeface="Montserrat" pitchFamily="34" charset="0"/>
                <a:ea typeface="Montserrat" pitchFamily="34" charset="-122"/>
                <a:cs typeface="Montserrat" pitchFamily="34" charset="-120"/>
              </a:rPr>
              <a:t>Як графові нейронні мережі (GNN) допомагають рекомендувати нові товари без історії взаємодій</a:t>
            </a:r>
            <a:endParaRPr lang="en-US" sz="1800" dirty="0">
              <a:latin typeface="Montserrat" charset="0"/>
              <a:ea typeface="Montserrat" charset="0"/>
              <a:cs typeface="Montserrat" charset="0"/>
            </a:endParaRPr>
          </a:p>
        </p:txBody>
      </p:sp>
      <p:sp>
        <p:nvSpPr>
          <p:cNvPr id="8" name="Text 5"/>
          <p:cNvSpPr/>
          <p:nvPr/>
        </p:nvSpPr>
        <p:spPr>
          <a:xfrm>
            <a:off x="812800" y="4883150"/>
            <a:ext cx="2575560" cy="426720"/>
          </a:xfrm>
          <a:prstGeom prst="roundRect">
            <a:avLst>
              <a:gd name="adj" fmla="val 50000"/>
            </a:avLst>
          </a:prstGeom>
          <a:solidFill>
            <a:srgbClr val="EAF0FB"/>
          </a:solidFill>
          <a:ln/>
        </p:spPr>
        <p:txBody>
          <a:bodyPr wrap="none" lIns="0" tIns="0" rIns="0" bIns="0" rtlCol="0" anchor="ctr">
            <a:normAutofit/>
          </a:bodyPr>
          <a:lstStyle/>
          <a:p>
            <a:pPr marL="0" indent="0" algn="ctr">
              <a:lnSpc>
                <a:spcPts val="1960"/>
              </a:lnSpc>
              <a:buNone/>
            </a:pPr>
            <a:r>
              <a:rPr lang="en-US" sz="1400" b="1" dirty="0">
                <a:solidFill>
                  <a:srgbClr val="17387E"/>
                </a:solidFill>
                <a:latin typeface="Montserrat" pitchFamily="34" charset="0"/>
                <a:ea typeface="Montserrat" pitchFamily="34" charset="-122"/>
                <a:cs typeface="Montserrat" pitchFamily="34" charset="-120"/>
              </a:rPr>
              <a:t>Команда з 5 учасників</a:t>
            </a:r>
            <a:endParaRPr lang="en-US" sz="1400" dirty="0">
              <a:latin typeface="Montserrat" charset="0"/>
              <a:ea typeface="Montserrat" charset="0"/>
              <a:cs typeface="Montserrat"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2</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40"/>
            <a:ext cx="9156700"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ХТО І НАД ЧИМ ПРАЦЮВАВ</a:t>
            </a:r>
            <a:endParaRPr lang="en-US" sz="2600" dirty="0">
              <a:latin typeface="Montserrat" charset="0"/>
              <a:ea typeface="Montserrat" charset="0"/>
              <a:cs typeface="Montserrat" charset="0"/>
            </a:endParaRPr>
          </a:p>
        </p:txBody>
      </p:sp>
      <p:sp>
        <p:nvSpPr>
          <p:cNvPr id="6" name="Shape 4"/>
          <p:cNvSpPr/>
          <p:nvPr/>
        </p:nvSpPr>
        <p:spPr>
          <a:xfrm>
            <a:off x="542059" y="1484948"/>
            <a:ext cx="10553700" cy="707390"/>
          </a:xfrm>
          <a:prstGeom prst="roundRect">
            <a:avLst>
              <a:gd name="adj" fmla="val 17056"/>
            </a:avLst>
          </a:prstGeom>
          <a:solidFill>
            <a:srgbClr val="FFFFFF"/>
          </a:solidFill>
          <a:ln w="12700">
            <a:solidFill>
              <a:srgbClr val="D5E0F3"/>
            </a:solidFill>
            <a:prstDash val="solid"/>
          </a:ln>
        </p:spPr>
      </p:sp>
      <p:sp>
        <p:nvSpPr>
          <p:cNvPr id="7" name="Text 5"/>
          <p:cNvSpPr/>
          <p:nvPr/>
        </p:nvSpPr>
        <p:spPr>
          <a:xfrm>
            <a:off x="1026160" y="1613535"/>
            <a:ext cx="1841500" cy="383540"/>
          </a:xfrm>
          <a:prstGeom prst="roundRect">
            <a:avLst>
              <a:gd name="adj" fmla="val 23179"/>
            </a:avLst>
          </a:prstGeom>
          <a:solidFill>
            <a:srgbClr val="17387E"/>
          </a:solidFill>
          <a:ln/>
        </p:spPr>
        <p:txBody>
          <a:bodyPr wrap="square" lIns="75562" tIns="50162" rIns="75562" bIns="24762" rtlCol="0" anchor="t">
            <a:normAutofit/>
          </a:bodyPr>
          <a:lstStyle/>
          <a:p>
            <a:pPr marL="0" indent="0" algn="ctr">
              <a:lnSpc>
                <a:spcPts val="1820"/>
              </a:lnSpc>
              <a:buNone/>
            </a:pPr>
            <a:r>
              <a:rPr lang="en-US" sz="1300" b="1" dirty="0">
                <a:solidFill>
                  <a:srgbClr val="F4F7FD"/>
                </a:solidFill>
                <a:latin typeface="Montserrat" pitchFamily="34" charset="0"/>
                <a:ea typeface="Montserrat" pitchFamily="34" charset="-122"/>
                <a:cs typeface="Montserrat" pitchFamily="34" charset="-120"/>
              </a:rPr>
              <a:t>Слайди 3–4</a:t>
            </a:r>
            <a:endParaRPr lang="en-US" sz="1300" dirty="0">
              <a:latin typeface="Montserrat" charset="0"/>
              <a:ea typeface="Montserrat" charset="0"/>
              <a:cs typeface="Montserrat" charset="0"/>
            </a:endParaRPr>
          </a:p>
        </p:txBody>
      </p:sp>
      <p:sp>
        <p:nvSpPr>
          <p:cNvPr id="8" name="Text 6"/>
          <p:cNvSpPr/>
          <p:nvPr/>
        </p:nvSpPr>
        <p:spPr>
          <a:xfrm>
            <a:off x="3070860" y="1671955"/>
            <a:ext cx="2485390" cy="292100"/>
          </a:xfrm>
          <a:prstGeom prst="rect">
            <a:avLst/>
          </a:prstGeom>
          <a:noFill/>
          <a:ln/>
        </p:spPr>
        <p:txBody>
          <a:bodyPr wrap="square" lIns="0" tIns="0" rIns="0" bIns="0" rtlCol="0" anchor="t">
            <a:normAutofit/>
          </a:bodyPr>
          <a:lstStyle/>
          <a:p>
            <a:pPr marL="0" indent="0" algn="l">
              <a:lnSpc>
                <a:spcPts val="2100"/>
              </a:lnSpc>
              <a:buNone/>
            </a:pPr>
            <a:r>
              <a:rPr lang="uk-UA" sz="1500" b="1" dirty="0" err="1">
                <a:solidFill>
                  <a:srgbClr val="17387E"/>
                </a:solidFill>
                <a:latin typeface="Montserrat" pitchFamily="34" charset="0"/>
                <a:ea typeface="Montserrat" pitchFamily="34" charset="-122"/>
                <a:cs typeface="Montserrat" pitchFamily="34" charset="-120"/>
              </a:rPr>
              <a:t>Занько</a:t>
            </a:r>
            <a:r>
              <a:rPr lang="uk-UA" sz="1500" b="1" dirty="0">
                <a:solidFill>
                  <a:srgbClr val="17387E"/>
                </a:solidFill>
                <a:latin typeface="Montserrat" pitchFamily="34" charset="0"/>
                <a:ea typeface="Montserrat" pitchFamily="34" charset="-122"/>
                <a:cs typeface="Montserrat" pitchFamily="34" charset="-120"/>
              </a:rPr>
              <a:t> Марія </a:t>
            </a:r>
            <a:endParaRPr lang="en-US" sz="1500" dirty="0">
              <a:latin typeface="Montserrat" charset="0"/>
              <a:ea typeface="Montserrat" charset="0"/>
              <a:cs typeface="Montserrat" charset="0"/>
            </a:endParaRPr>
          </a:p>
        </p:txBody>
      </p:sp>
      <p:sp>
        <p:nvSpPr>
          <p:cNvPr id="9" name="Text 7"/>
          <p:cNvSpPr/>
          <p:nvPr/>
        </p:nvSpPr>
        <p:spPr>
          <a:xfrm>
            <a:off x="5687060" y="1582420"/>
            <a:ext cx="5643143"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F3563"/>
                </a:solidFill>
                <a:latin typeface="Montserrat" pitchFamily="34" charset="0"/>
                <a:ea typeface="Montserrat" pitchFamily="34" charset="-122"/>
                <a:cs typeface="Montserrat" pitchFamily="34" charset="-120"/>
              </a:rPr>
              <a:t>Постановка проблеми: типи cold start, підходи до розв’язання, чому граф</a:t>
            </a:r>
            <a:endParaRPr lang="en-US" sz="1300" dirty="0">
              <a:latin typeface="Montserrat" charset="0"/>
              <a:ea typeface="Montserrat" charset="0"/>
              <a:cs typeface="Montserrat" charset="0"/>
            </a:endParaRPr>
          </a:p>
        </p:txBody>
      </p:sp>
      <p:sp>
        <p:nvSpPr>
          <p:cNvPr id="10" name="Shape 8"/>
          <p:cNvSpPr/>
          <p:nvPr/>
        </p:nvSpPr>
        <p:spPr>
          <a:xfrm>
            <a:off x="819150" y="2273300"/>
            <a:ext cx="10553700" cy="707390"/>
          </a:xfrm>
          <a:prstGeom prst="roundRect">
            <a:avLst>
              <a:gd name="adj" fmla="val 17056"/>
            </a:avLst>
          </a:prstGeom>
          <a:solidFill>
            <a:srgbClr val="FFFFFF"/>
          </a:solidFill>
          <a:ln w="12700">
            <a:solidFill>
              <a:srgbClr val="D5E0F3"/>
            </a:solidFill>
            <a:prstDash val="solid"/>
          </a:ln>
        </p:spPr>
      </p:sp>
      <p:sp>
        <p:nvSpPr>
          <p:cNvPr id="11" name="Text 9"/>
          <p:cNvSpPr/>
          <p:nvPr/>
        </p:nvSpPr>
        <p:spPr>
          <a:xfrm>
            <a:off x="1026160" y="2435225"/>
            <a:ext cx="1841500" cy="383540"/>
          </a:xfrm>
          <a:prstGeom prst="roundRect">
            <a:avLst>
              <a:gd name="adj" fmla="val 23179"/>
            </a:avLst>
          </a:prstGeom>
          <a:solidFill>
            <a:srgbClr val="17387E"/>
          </a:solidFill>
          <a:ln/>
        </p:spPr>
        <p:txBody>
          <a:bodyPr wrap="square" lIns="75562" tIns="50162" rIns="75562" bIns="24762" rtlCol="0" anchor="t">
            <a:normAutofit/>
          </a:bodyPr>
          <a:lstStyle/>
          <a:p>
            <a:pPr marL="0" indent="0" algn="ctr">
              <a:lnSpc>
                <a:spcPts val="1820"/>
              </a:lnSpc>
              <a:buNone/>
            </a:pPr>
            <a:r>
              <a:rPr lang="en-US" sz="1300" b="1" dirty="0">
                <a:solidFill>
                  <a:srgbClr val="F4F7FD"/>
                </a:solidFill>
                <a:latin typeface="Montserrat" pitchFamily="34" charset="0"/>
                <a:ea typeface="Montserrat" pitchFamily="34" charset="-122"/>
                <a:cs typeface="Montserrat" pitchFamily="34" charset="-120"/>
              </a:rPr>
              <a:t>Слайди 5–6</a:t>
            </a:r>
            <a:endParaRPr lang="en-US" sz="1300" dirty="0">
              <a:latin typeface="Montserrat" charset="0"/>
              <a:ea typeface="Montserrat" charset="0"/>
              <a:cs typeface="Montserrat" charset="0"/>
            </a:endParaRPr>
          </a:p>
        </p:txBody>
      </p:sp>
      <p:sp>
        <p:nvSpPr>
          <p:cNvPr id="12" name="Text 10"/>
          <p:cNvSpPr/>
          <p:nvPr/>
        </p:nvSpPr>
        <p:spPr>
          <a:xfrm>
            <a:off x="3070860" y="2493645"/>
            <a:ext cx="2485390" cy="292100"/>
          </a:xfrm>
          <a:prstGeom prst="rect">
            <a:avLst/>
          </a:prstGeom>
          <a:noFill/>
          <a:ln/>
        </p:spPr>
        <p:txBody>
          <a:bodyPr wrap="square" lIns="0" tIns="0" rIns="0" bIns="0" rtlCol="0" anchor="t">
            <a:normAutofit/>
          </a:bodyPr>
          <a:lstStyle/>
          <a:p>
            <a:pPr marL="0" indent="0" algn="l">
              <a:lnSpc>
                <a:spcPts val="2100"/>
              </a:lnSpc>
              <a:buNone/>
            </a:pPr>
            <a:r>
              <a:rPr lang="uk-UA" sz="1500" b="1" dirty="0">
                <a:solidFill>
                  <a:srgbClr val="17387E"/>
                </a:solidFill>
                <a:latin typeface="Montserrat" pitchFamily="34" charset="0"/>
                <a:ea typeface="Montserrat" pitchFamily="34" charset="-122"/>
                <a:cs typeface="Montserrat" pitchFamily="34" charset="-120"/>
              </a:rPr>
              <a:t>Сергій Муха</a:t>
            </a:r>
            <a:endParaRPr lang="en-US" sz="1500" dirty="0">
              <a:latin typeface="Montserrat" charset="0"/>
              <a:ea typeface="Montserrat" charset="0"/>
              <a:cs typeface="Montserrat" charset="0"/>
            </a:endParaRPr>
          </a:p>
        </p:txBody>
      </p:sp>
      <p:sp>
        <p:nvSpPr>
          <p:cNvPr id="13" name="Text 11"/>
          <p:cNvSpPr/>
          <p:nvPr/>
        </p:nvSpPr>
        <p:spPr>
          <a:xfrm>
            <a:off x="5687060" y="2404110"/>
            <a:ext cx="5643143"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F3563"/>
                </a:solidFill>
                <a:latin typeface="Montserrat" pitchFamily="34" charset="0"/>
                <a:ea typeface="Montserrat" pitchFamily="34" charset="-122"/>
                <a:cs typeface="Montserrat" pitchFamily="34" charset="-120"/>
              </a:rPr>
              <a:t>Гетерогенний граф і message passing: як новий товар отримує опис від сусідів</a:t>
            </a:r>
            <a:endParaRPr lang="en-US" sz="1300" dirty="0">
              <a:latin typeface="Montserrat" charset="0"/>
              <a:ea typeface="Montserrat" charset="0"/>
              <a:cs typeface="Montserrat" charset="0"/>
            </a:endParaRPr>
          </a:p>
        </p:txBody>
      </p:sp>
      <p:sp>
        <p:nvSpPr>
          <p:cNvPr id="14" name="Shape 12"/>
          <p:cNvSpPr/>
          <p:nvPr/>
        </p:nvSpPr>
        <p:spPr>
          <a:xfrm>
            <a:off x="819150" y="3094990"/>
            <a:ext cx="10553700" cy="707390"/>
          </a:xfrm>
          <a:prstGeom prst="roundRect">
            <a:avLst>
              <a:gd name="adj" fmla="val 17056"/>
            </a:avLst>
          </a:prstGeom>
          <a:solidFill>
            <a:srgbClr val="FFFFFF"/>
          </a:solidFill>
          <a:ln w="12700">
            <a:solidFill>
              <a:srgbClr val="D5E0F3"/>
            </a:solidFill>
            <a:prstDash val="solid"/>
          </a:ln>
        </p:spPr>
        <p:txBody>
          <a:bodyPr/>
          <a:lstStyle/>
          <a:p>
            <a:endParaRPr lang="ru-UA" dirty="0"/>
          </a:p>
        </p:txBody>
      </p:sp>
      <p:sp>
        <p:nvSpPr>
          <p:cNvPr id="15" name="Text 13"/>
          <p:cNvSpPr/>
          <p:nvPr/>
        </p:nvSpPr>
        <p:spPr>
          <a:xfrm>
            <a:off x="1026160" y="3256915"/>
            <a:ext cx="1841500" cy="383540"/>
          </a:xfrm>
          <a:prstGeom prst="roundRect">
            <a:avLst>
              <a:gd name="adj" fmla="val 23179"/>
            </a:avLst>
          </a:prstGeom>
          <a:solidFill>
            <a:srgbClr val="17387E"/>
          </a:solidFill>
          <a:ln/>
        </p:spPr>
        <p:txBody>
          <a:bodyPr wrap="square" lIns="75562" tIns="50162" rIns="75562" bIns="24762" rtlCol="0" anchor="t">
            <a:normAutofit/>
          </a:bodyPr>
          <a:lstStyle/>
          <a:p>
            <a:pPr marL="0" indent="0" algn="ctr">
              <a:lnSpc>
                <a:spcPts val="1820"/>
              </a:lnSpc>
              <a:buNone/>
            </a:pPr>
            <a:r>
              <a:rPr lang="en-US" sz="1300" b="1" dirty="0">
                <a:solidFill>
                  <a:srgbClr val="F4F7FD"/>
                </a:solidFill>
                <a:latin typeface="Montserrat" pitchFamily="34" charset="0"/>
                <a:ea typeface="Montserrat" pitchFamily="34" charset="-122"/>
                <a:cs typeface="Montserrat" pitchFamily="34" charset="-120"/>
              </a:rPr>
              <a:t>Слайди 7, 12</a:t>
            </a:r>
            <a:endParaRPr lang="en-US" sz="1300" dirty="0">
              <a:latin typeface="Montserrat" charset="0"/>
              <a:ea typeface="Montserrat" charset="0"/>
              <a:cs typeface="Montserrat" charset="0"/>
            </a:endParaRPr>
          </a:p>
        </p:txBody>
      </p:sp>
      <p:sp>
        <p:nvSpPr>
          <p:cNvPr id="16" name="Text 14"/>
          <p:cNvSpPr/>
          <p:nvPr/>
        </p:nvSpPr>
        <p:spPr>
          <a:xfrm>
            <a:off x="3070860" y="3315335"/>
            <a:ext cx="2485390" cy="292100"/>
          </a:xfrm>
          <a:prstGeom prst="rect">
            <a:avLst/>
          </a:prstGeom>
          <a:noFill/>
          <a:ln/>
        </p:spPr>
        <p:txBody>
          <a:bodyPr wrap="square" lIns="0" tIns="0" rIns="0" bIns="0" rtlCol="0" anchor="t">
            <a:normAutofit/>
          </a:bodyPr>
          <a:lstStyle/>
          <a:p>
            <a:pPr marL="0" indent="0" algn="l">
              <a:lnSpc>
                <a:spcPts val="2100"/>
              </a:lnSpc>
              <a:buNone/>
            </a:pPr>
            <a:r>
              <a:rPr lang="uk-UA" sz="1600" b="1" dirty="0">
                <a:solidFill>
                  <a:srgbClr val="17387E"/>
                </a:solidFill>
                <a:latin typeface="Montserrat" pitchFamily="34" charset="0"/>
                <a:ea typeface="Montserrat" pitchFamily="34" charset="-122"/>
                <a:cs typeface="Montserrat" pitchFamily="34" charset="-120"/>
              </a:rPr>
              <a:t>Ігор </a:t>
            </a:r>
            <a:r>
              <a:rPr lang="uk-UA" sz="1600" b="1" dirty="0" err="1">
                <a:solidFill>
                  <a:srgbClr val="17387E"/>
                </a:solidFill>
                <a:latin typeface="Montserrat" pitchFamily="34" charset="0"/>
                <a:ea typeface="Montserrat" pitchFamily="34" charset="-122"/>
                <a:cs typeface="Montserrat" pitchFamily="34" charset="-120"/>
              </a:rPr>
              <a:t>Квеленков</a:t>
            </a:r>
            <a:endParaRPr lang="en-US" sz="1600" dirty="0">
              <a:latin typeface="Montserrat" charset="0"/>
              <a:ea typeface="Montserrat" charset="0"/>
              <a:cs typeface="Montserrat" charset="0"/>
            </a:endParaRPr>
          </a:p>
        </p:txBody>
      </p:sp>
      <p:sp>
        <p:nvSpPr>
          <p:cNvPr id="17" name="Text 15"/>
          <p:cNvSpPr/>
          <p:nvPr/>
        </p:nvSpPr>
        <p:spPr>
          <a:xfrm>
            <a:off x="5687060" y="3225800"/>
            <a:ext cx="5643143"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F3563"/>
                </a:solidFill>
                <a:latin typeface="Montserrat" pitchFamily="34" charset="0"/>
                <a:ea typeface="Montserrat" pitchFamily="34" charset="-122"/>
                <a:cs typeface="Montserrat" pitchFamily="34" charset="-120"/>
              </a:rPr>
              <a:t>Алгоритми GNN: GraphSAGE, GAT, LightGCN та їхня поведінка на cold start</a:t>
            </a:r>
            <a:endParaRPr lang="en-US" sz="1300" dirty="0">
              <a:latin typeface="Montserrat" charset="0"/>
              <a:ea typeface="Montserrat" charset="0"/>
              <a:cs typeface="Montserrat" charset="0"/>
            </a:endParaRPr>
          </a:p>
        </p:txBody>
      </p:sp>
      <p:sp>
        <p:nvSpPr>
          <p:cNvPr id="18" name="Shape 16"/>
          <p:cNvSpPr/>
          <p:nvPr/>
        </p:nvSpPr>
        <p:spPr>
          <a:xfrm>
            <a:off x="819150" y="3916680"/>
            <a:ext cx="10553700" cy="645160"/>
          </a:xfrm>
          <a:prstGeom prst="roundRect">
            <a:avLst>
              <a:gd name="adj" fmla="val 18701"/>
            </a:avLst>
          </a:prstGeom>
          <a:solidFill>
            <a:srgbClr val="FFFFFF"/>
          </a:solidFill>
          <a:ln w="12700">
            <a:solidFill>
              <a:srgbClr val="D5E0F3"/>
            </a:solidFill>
            <a:prstDash val="solid"/>
          </a:ln>
        </p:spPr>
      </p:sp>
      <p:sp>
        <p:nvSpPr>
          <p:cNvPr id="19" name="Text 17"/>
          <p:cNvSpPr/>
          <p:nvPr/>
        </p:nvSpPr>
        <p:spPr>
          <a:xfrm>
            <a:off x="1026160" y="4047490"/>
            <a:ext cx="1841500" cy="383540"/>
          </a:xfrm>
          <a:prstGeom prst="roundRect">
            <a:avLst>
              <a:gd name="adj" fmla="val 23179"/>
            </a:avLst>
          </a:prstGeom>
          <a:solidFill>
            <a:srgbClr val="17387E"/>
          </a:solidFill>
          <a:ln/>
        </p:spPr>
        <p:txBody>
          <a:bodyPr wrap="square" lIns="75562" tIns="50162" rIns="75562" bIns="24762" rtlCol="0" anchor="t">
            <a:normAutofit/>
          </a:bodyPr>
          <a:lstStyle/>
          <a:p>
            <a:pPr marL="0" indent="0" algn="ctr">
              <a:lnSpc>
                <a:spcPts val="1820"/>
              </a:lnSpc>
              <a:buNone/>
            </a:pPr>
            <a:r>
              <a:rPr lang="en-US" sz="1300" b="1" dirty="0">
                <a:solidFill>
                  <a:srgbClr val="F4F7FD"/>
                </a:solidFill>
                <a:latin typeface="Montserrat" pitchFamily="34" charset="0"/>
                <a:ea typeface="Montserrat" pitchFamily="34" charset="-122"/>
                <a:cs typeface="Montserrat" pitchFamily="34" charset="-120"/>
              </a:rPr>
              <a:t>Слайди 8–9</a:t>
            </a:r>
            <a:endParaRPr lang="en-US" sz="1300" dirty="0">
              <a:latin typeface="Montserrat" charset="0"/>
              <a:ea typeface="Montserrat" charset="0"/>
              <a:cs typeface="Montserrat" charset="0"/>
            </a:endParaRPr>
          </a:p>
        </p:txBody>
      </p:sp>
      <p:sp>
        <p:nvSpPr>
          <p:cNvPr id="20" name="Text 18"/>
          <p:cNvSpPr/>
          <p:nvPr/>
        </p:nvSpPr>
        <p:spPr>
          <a:xfrm>
            <a:off x="3070860" y="4105910"/>
            <a:ext cx="2485390" cy="292100"/>
          </a:xfrm>
          <a:prstGeom prst="rect">
            <a:avLst/>
          </a:prstGeom>
          <a:noFill/>
          <a:ln/>
        </p:spPr>
        <p:txBody>
          <a:bodyPr wrap="square" lIns="0" tIns="0" rIns="0" bIns="0" rtlCol="0" anchor="t">
            <a:normAutofit/>
          </a:bodyPr>
          <a:lstStyle/>
          <a:p>
            <a:pPr marL="0" indent="0" algn="l">
              <a:lnSpc>
                <a:spcPts val="2100"/>
              </a:lnSpc>
              <a:buNone/>
            </a:pPr>
            <a:r>
              <a:rPr lang="en-US" sz="1500" b="1" dirty="0" err="1">
                <a:solidFill>
                  <a:srgbClr val="17387E"/>
                </a:solidFill>
                <a:latin typeface="Montserrat" pitchFamily="34" charset="0"/>
                <a:ea typeface="Montserrat" pitchFamily="34" charset="-122"/>
                <a:cs typeface="Montserrat" pitchFamily="34" charset="-120"/>
              </a:rPr>
              <a:t>Кал</a:t>
            </a:r>
            <a:r>
              <a:rPr lang="uk-UA" sz="1500" b="1" dirty="0">
                <a:solidFill>
                  <a:srgbClr val="17387E"/>
                </a:solidFill>
                <a:latin typeface="Montserrat" pitchFamily="34" charset="0"/>
                <a:ea typeface="Montserrat" pitchFamily="34" charset="-122"/>
                <a:cs typeface="Montserrat" pitchFamily="34" charset="-120"/>
              </a:rPr>
              <a:t>ь</a:t>
            </a:r>
            <a:r>
              <a:rPr lang="en-US" sz="1500" b="1" dirty="0" err="1">
                <a:solidFill>
                  <a:srgbClr val="17387E"/>
                </a:solidFill>
                <a:latin typeface="Montserrat" pitchFamily="34" charset="0"/>
                <a:ea typeface="Montserrat" pitchFamily="34" charset="-122"/>
                <a:cs typeface="Montserrat" pitchFamily="34" charset="-120"/>
              </a:rPr>
              <a:t>мус</a:t>
            </a:r>
            <a:r>
              <a:rPr lang="uk-UA" sz="1500" b="1" dirty="0">
                <a:solidFill>
                  <a:srgbClr val="17387E"/>
                </a:solidFill>
                <a:latin typeface="Montserrat" pitchFamily="34" charset="0"/>
                <a:ea typeface="Montserrat" pitchFamily="34" charset="-122"/>
                <a:cs typeface="Montserrat" pitchFamily="34" charset="-120"/>
              </a:rPr>
              <a:t> Ян</a:t>
            </a:r>
            <a:endParaRPr lang="en-US" sz="1500" dirty="0">
              <a:latin typeface="Montserrat" charset="0"/>
              <a:ea typeface="Montserrat" charset="0"/>
              <a:cs typeface="Montserrat" charset="0"/>
            </a:endParaRPr>
          </a:p>
        </p:txBody>
      </p:sp>
      <p:sp>
        <p:nvSpPr>
          <p:cNvPr id="21" name="Text 19"/>
          <p:cNvSpPr/>
          <p:nvPr/>
        </p:nvSpPr>
        <p:spPr>
          <a:xfrm>
            <a:off x="5687060" y="4127818"/>
            <a:ext cx="5643143"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F3563"/>
                </a:solidFill>
                <a:latin typeface="Montserrat" pitchFamily="34" charset="0"/>
                <a:ea typeface="Montserrat" pitchFamily="34" charset="-122"/>
                <a:cs typeface="Montserrat" pitchFamily="34" charset="-120"/>
              </a:rPr>
              <a:t>Датасет Amazon і симуляція cold start</a:t>
            </a:r>
            <a:endParaRPr lang="en-US" sz="1300" dirty="0">
              <a:latin typeface="Montserrat" charset="0"/>
              <a:ea typeface="Montserrat" charset="0"/>
              <a:cs typeface="Montserrat" charset="0"/>
            </a:endParaRPr>
          </a:p>
        </p:txBody>
      </p:sp>
      <p:sp>
        <p:nvSpPr>
          <p:cNvPr id="22" name="Shape 20"/>
          <p:cNvSpPr/>
          <p:nvPr/>
        </p:nvSpPr>
        <p:spPr>
          <a:xfrm>
            <a:off x="819150" y="4676140"/>
            <a:ext cx="10553700" cy="876300"/>
          </a:xfrm>
          <a:prstGeom prst="roundRect">
            <a:avLst>
              <a:gd name="adj" fmla="val 13768"/>
            </a:avLst>
          </a:prstGeom>
          <a:solidFill>
            <a:srgbClr val="FFFFFF"/>
          </a:solidFill>
          <a:ln w="12700">
            <a:solidFill>
              <a:srgbClr val="D5E0F3"/>
            </a:solidFill>
            <a:prstDash val="solid"/>
          </a:ln>
        </p:spPr>
      </p:sp>
      <p:sp>
        <p:nvSpPr>
          <p:cNvPr id="23" name="Text 21"/>
          <p:cNvSpPr/>
          <p:nvPr/>
        </p:nvSpPr>
        <p:spPr>
          <a:xfrm>
            <a:off x="1026160" y="4806950"/>
            <a:ext cx="1841500" cy="614680"/>
          </a:xfrm>
          <a:prstGeom prst="roundRect">
            <a:avLst>
              <a:gd name="adj" fmla="val 14463"/>
            </a:avLst>
          </a:prstGeom>
          <a:solidFill>
            <a:srgbClr val="17387E"/>
          </a:solidFill>
          <a:ln/>
        </p:spPr>
        <p:txBody>
          <a:bodyPr wrap="square" lIns="75562" tIns="50162" rIns="75562" bIns="24762" rtlCol="0" anchor="t">
            <a:normAutofit/>
          </a:bodyPr>
          <a:lstStyle/>
          <a:p>
            <a:pPr marL="0" indent="0" algn="ctr">
              <a:lnSpc>
                <a:spcPts val="1820"/>
              </a:lnSpc>
              <a:buNone/>
            </a:pPr>
            <a:r>
              <a:rPr lang="en-US" sz="1300" b="1" dirty="0">
                <a:solidFill>
                  <a:srgbClr val="F4F7FD"/>
                </a:solidFill>
                <a:latin typeface="Montserrat" pitchFamily="34" charset="0"/>
                <a:ea typeface="Montserrat" pitchFamily="34" charset="-122"/>
                <a:cs typeface="Montserrat" pitchFamily="34" charset="-120"/>
              </a:rPr>
              <a:t>Слайди 10–11, 13–14</a:t>
            </a:r>
            <a:endParaRPr lang="en-US" sz="1300" dirty="0">
              <a:latin typeface="Montserrat" charset="0"/>
              <a:ea typeface="Montserrat" charset="0"/>
              <a:cs typeface="Montserrat" charset="0"/>
            </a:endParaRPr>
          </a:p>
        </p:txBody>
      </p:sp>
      <p:sp>
        <p:nvSpPr>
          <p:cNvPr id="24" name="Text 22"/>
          <p:cNvSpPr/>
          <p:nvPr/>
        </p:nvSpPr>
        <p:spPr>
          <a:xfrm>
            <a:off x="3070860" y="4980940"/>
            <a:ext cx="2485390" cy="292100"/>
          </a:xfrm>
          <a:prstGeom prst="rect">
            <a:avLst/>
          </a:prstGeom>
          <a:noFill/>
          <a:ln/>
        </p:spPr>
        <p:txBody>
          <a:bodyPr wrap="square" lIns="0" tIns="0" rIns="0" bIns="0" rtlCol="0" anchor="t">
            <a:normAutofit/>
          </a:bodyPr>
          <a:lstStyle/>
          <a:p>
            <a:pPr marL="0" indent="0" algn="l">
              <a:lnSpc>
                <a:spcPts val="2100"/>
              </a:lnSpc>
              <a:buNone/>
            </a:pPr>
            <a:r>
              <a:rPr lang="en-US" sz="1500" b="1" dirty="0" err="1">
                <a:solidFill>
                  <a:srgbClr val="17387E"/>
                </a:solidFill>
                <a:latin typeface="Montserrat" pitchFamily="34" charset="0"/>
                <a:ea typeface="Montserrat" pitchFamily="34" charset="-122"/>
                <a:cs typeface="Montserrat" pitchFamily="34" charset="-120"/>
              </a:rPr>
              <a:t>Радківський</a:t>
            </a:r>
            <a:r>
              <a:rPr lang="uk-UA" sz="1500" b="1" dirty="0">
                <a:solidFill>
                  <a:srgbClr val="17387E"/>
                </a:solidFill>
                <a:latin typeface="Montserrat" pitchFamily="34" charset="0"/>
                <a:ea typeface="Montserrat" pitchFamily="34" charset="-122"/>
                <a:cs typeface="Montserrat" pitchFamily="34" charset="-120"/>
              </a:rPr>
              <a:t> Ілля</a:t>
            </a:r>
            <a:endParaRPr lang="en-US" sz="1500" dirty="0">
              <a:latin typeface="Montserrat" charset="0"/>
              <a:ea typeface="Montserrat" charset="0"/>
              <a:cs typeface="Montserrat" charset="0"/>
            </a:endParaRPr>
          </a:p>
        </p:txBody>
      </p:sp>
      <p:sp>
        <p:nvSpPr>
          <p:cNvPr id="25" name="Text 23"/>
          <p:cNvSpPr/>
          <p:nvPr/>
        </p:nvSpPr>
        <p:spPr>
          <a:xfrm>
            <a:off x="5687060" y="5002847"/>
            <a:ext cx="5643143"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F3563"/>
                </a:solidFill>
                <a:latin typeface="Montserrat" pitchFamily="34" charset="0"/>
                <a:ea typeface="Montserrat" pitchFamily="34" charset="-122"/>
                <a:cs typeface="Montserrat" pitchFamily="34" charset="-120"/>
              </a:rPr>
              <a:t>Метрики, результати Pinterest, обмеження та досвід індустрії</a:t>
            </a:r>
            <a:endParaRPr lang="en-US" sz="1300" dirty="0">
              <a:latin typeface="Montserrat" charset="0"/>
              <a:ea typeface="Montserrat" charset="0"/>
              <a:cs typeface="Montserrat" charset="0"/>
            </a:endParaRPr>
          </a:p>
        </p:txBody>
      </p:sp>
      <p:sp>
        <p:nvSpPr>
          <p:cNvPr id="26" name="Text 24"/>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Cold start · GNN у рекомендаційних системах</a:t>
            </a:r>
            <a:endParaRPr lang="en-US" sz="1200" dirty="0">
              <a:latin typeface="Montserrat" charset="0"/>
              <a:ea typeface="Montserrat" charset="0"/>
              <a:cs typeface="Montserrat" charset="0"/>
            </a:endParaRPr>
          </a:p>
        </p:txBody>
      </p:sp>
      <p:sp>
        <p:nvSpPr>
          <p:cNvPr id="27" name="Text 25"/>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2 / 17</a:t>
            </a:r>
            <a:endParaRPr lang="en-US" sz="1200" dirty="0">
              <a:latin typeface="Montserrat" charset="0"/>
              <a:ea typeface="Montserrat" charset="0"/>
              <a:cs typeface="Montserrat"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3</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41"/>
            <a:ext cx="9156700" cy="75184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ХОЛОДНИЙ СТАРТ: ЩО ЦЕ І ЧОМУ КЛАСИЧНІ МЕТОДИ ТУТ СЛАБКІ</a:t>
            </a:r>
            <a:endParaRPr lang="en-US" sz="2600" dirty="0">
              <a:latin typeface="Montserrat" charset="0"/>
              <a:ea typeface="Montserrat" charset="0"/>
              <a:cs typeface="Montserrat" charset="0"/>
            </a:endParaRPr>
          </a:p>
        </p:txBody>
      </p:sp>
      <p:sp>
        <p:nvSpPr>
          <p:cNvPr id="6" name="Text 4"/>
          <p:cNvSpPr/>
          <p:nvPr/>
        </p:nvSpPr>
        <p:spPr>
          <a:xfrm>
            <a:off x="812800" y="1783080"/>
            <a:ext cx="1088339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87E"/>
                </a:solidFill>
                <a:latin typeface="Montserrat" pitchFamily="34" charset="0"/>
                <a:ea typeface="Montserrat" pitchFamily="34" charset="-122"/>
                <a:cs typeface="Montserrat" pitchFamily="34" charset="-120"/>
              </a:rPr>
              <a:t>1) Три типи cold start</a:t>
            </a:r>
            <a:endParaRPr lang="en-US" sz="1600" dirty="0">
              <a:latin typeface="Montserrat" charset="0"/>
              <a:ea typeface="Montserrat" charset="0"/>
              <a:cs typeface="Montserrat" charset="0"/>
            </a:endParaRPr>
          </a:p>
        </p:txBody>
      </p:sp>
      <p:sp>
        <p:nvSpPr>
          <p:cNvPr id="7" name="Shape 5"/>
          <p:cNvSpPr/>
          <p:nvPr/>
        </p:nvSpPr>
        <p:spPr>
          <a:xfrm>
            <a:off x="812800" y="2179320"/>
            <a:ext cx="3420507" cy="989330"/>
          </a:xfrm>
          <a:prstGeom prst="roundRect">
            <a:avLst>
              <a:gd name="adj" fmla="val 12837"/>
            </a:avLst>
          </a:prstGeom>
          <a:solidFill>
            <a:srgbClr val="E6ECF8"/>
          </a:solidFill>
          <a:ln/>
        </p:spPr>
      </p:sp>
      <p:sp>
        <p:nvSpPr>
          <p:cNvPr id="8" name="Text 6"/>
          <p:cNvSpPr/>
          <p:nvPr/>
        </p:nvSpPr>
        <p:spPr>
          <a:xfrm>
            <a:off x="990600" y="2319020"/>
            <a:ext cx="315685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7387E"/>
                </a:solidFill>
                <a:latin typeface="Montserrat" pitchFamily="34" charset="0"/>
                <a:ea typeface="Montserrat" pitchFamily="34" charset="-122"/>
                <a:cs typeface="Montserrat" pitchFamily="34" charset="-120"/>
              </a:rPr>
              <a:t>USER COLD START</a:t>
            </a:r>
            <a:endParaRPr lang="en-US" sz="1200" dirty="0">
              <a:latin typeface="Montserrat" charset="0"/>
              <a:ea typeface="Montserrat" charset="0"/>
              <a:cs typeface="Montserrat" charset="0"/>
            </a:endParaRPr>
          </a:p>
        </p:txBody>
      </p:sp>
      <p:sp>
        <p:nvSpPr>
          <p:cNvPr id="9" name="Text 7"/>
          <p:cNvSpPr/>
          <p:nvPr/>
        </p:nvSpPr>
        <p:spPr>
          <a:xfrm>
            <a:off x="990600" y="2583180"/>
            <a:ext cx="3156854"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F3563"/>
                </a:solidFill>
                <a:latin typeface="Montserrat" pitchFamily="34" charset="0"/>
                <a:ea typeface="Montserrat" pitchFamily="34" charset="-122"/>
                <a:cs typeface="Montserrat" pitchFamily="34" charset="-120"/>
              </a:rPr>
              <a:t>Новий користувач: ще немає кліків і покупок</a:t>
            </a:r>
            <a:endParaRPr lang="en-US" sz="1300" dirty="0">
              <a:latin typeface="Montserrat" charset="0"/>
              <a:ea typeface="Montserrat" charset="0"/>
              <a:cs typeface="Montserrat" charset="0"/>
            </a:endParaRPr>
          </a:p>
        </p:txBody>
      </p:sp>
      <p:sp>
        <p:nvSpPr>
          <p:cNvPr id="10" name="Shape 8"/>
          <p:cNvSpPr/>
          <p:nvPr/>
        </p:nvSpPr>
        <p:spPr>
          <a:xfrm>
            <a:off x="4385707" y="2179320"/>
            <a:ext cx="3420586" cy="989330"/>
          </a:xfrm>
          <a:prstGeom prst="roundRect">
            <a:avLst>
              <a:gd name="adj" fmla="val 12837"/>
            </a:avLst>
          </a:prstGeom>
          <a:solidFill>
            <a:srgbClr val="17387E"/>
          </a:solidFill>
          <a:ln/>
        </p:spPr>
      </p:sp>
      <p:sp>
        <p:nvSpPr>
          <p:cNvPr id="11" name="Text 9"/>
          <p:cNvSpPr/>
          <p:nvPr/>
        </p:nvSpPr>
        <p:spPr>
          <a:xfrm>
            <a:off x="4563507" y="2319020"/>
            <a:ext cx="315693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DBDEB"/>
                </a:solidFill>
                <a:latin typeface="Montserrat" pitchFamily="34" charset="0"/>
                <a:ea typeface="Montserrat" pitchFamily="34" charset="-122"/>
                <a:cs typeface="Montserrat" pitchFamily="34" charset="-120"/>
              </a:rPr>
              <a:t>ITEM COLD START</a:t>
            </a:r>
            <a:endParaRPr lang="en-US" sz="1200" dirty="0">
              <a:latin typeface="Montserrat" charset="0"/>
              <a:ea typeface="Montserrat" charset="0"/>
              <a:cs typeface="Montserrat" charset="0"/>
            </a:endParaRPr>
          </a:p>
        </p:txBody>
      </p:sp>
      <p:sp>
        <p:nvSpPr>
          <p:cNvPr id="12" name="Text 10"/>
          <p:cNvSpPr/>
          <p:nvPr/>
        </p:nvSpPr>
        <p:spPr>
          <a:xfrm>
            <a:off x="4563507" y="2583180"/>
            <a:ext cx="3156936"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7FD"/>
                </a:solidFill>
                <a:latin typeface="Montserrat" pitchFamily="34" charset="0"/>
                <a:ea typeface="Montserrat" pitchFamily="34" charset="-122"/>
                <a:cs typeface="Montserrat" pitchFamily="34" charset="-120"/>
              </a:rPr>
              <a:t>Новий товар: немає взаємодій. </a:t>
            </a:r>
            <a:r>
              <a:rPr lang="en-US" sz="1300" b="1" dirty="0">
                <a:solidFill>
                  <a:srgbClr val="F4F7FD"/>
                </a:solidFill>
                <a:latin typeface="Montserrat" pitchFamily="34" charset="0"/>
                <a:ea typeface="Montserrat" pitchFamily="34" charset="-122"/>
                <a:cs typeface="Montserrat" pitchFamily="34" charset="-120"/>
              </a:rPr>
              <a:t>Наш фокус</a:t>
            </a:r>
            <a:endParaRPr lang="en-US" sz="1300" dirty="0">
              <a:latin typeface="Montserrat" charset="0"/>
              <a:ea typeface="Montserrat" charset="0"/>
              <a:cs typeface="Montserrat" charset="0"/>
            </a:endParaRPr>
          </a:p>
        </p:txBody>
      </p:sp>
      <p:sp>
        <p:nvSpPr>
          <p:cNvPr id="13" name="Shape 11"/>
          <p:cNvSpPr/>
          <p:nvPr/>
        </p:nvSpPr>
        <p:spPr>
          <a:xfrm>
            <a:off x="7958693" y="2179320"/>
            <a:ext cx="3420507" cy="989330"/>
          </a:xfrm>
          <a:prstGeom prst="roundRect">
            <a:avLst>
              <a:gd name="adj" fmla="val 12837"/>
            </a:avLst>
          </a:prstGeom>
          <a:solidFill>
            <a:srgbClr val="E6ECF8"/>
          </a:solidFill>
          <a:ln/>
        </p:spPr>
      </p:sp>
      <p:sp>
        <p:nvSpPr>
          <p:cNvPr id="14" name="Text 12"/>
          <p:cNvSpPr/>
          <p:nvPr/>
        </p:nvSpPr>
        <p:spPr>
          <a:xfrm>
            <a:off x="8136493" y="2319020"/>
            <a:ext cx="315685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7387E"/>
                </a:solidFill>
                <a:latin typeface="Montserrat" pitchFamily="34" charset="0"/>
                <a:ea typeface="Montserrat" pitchFamily="34" charset="-122"/>
                <a:cs typeface="Montserrat" pitchFamily="34" charset="-120"/>
              </a:rPr>
              <a:t>SYSTEM COLD START</a:t>
            </a:r>
            <a:endParaRPr lang="en-US" sz="1200" dirty="0">
              <a:latin typeface="Montserrat" charset="0"/>
              <a:ea typeface="Montserrat" charset="0"/>
              <a:cs typeface="Montserrat" charset="0"/>
            </a:endParaRPr>
          </a:p>
        </p:txBody>
      </p:sp>
      <p:sp>
        <p:nvSpPr>
          <p:cNvPr id="15" name="Text 13"/>
          <p:cNvSpPr/>
          <p:nvPr/>
        </p:nvSpPr>
        <p:spPr>
          <a:xfrm>
            <a:off x="8136493" y="2583180"/>
            <a:ext cx="3156854"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F3563"/>
                </a:solidFill>
                <a:latin typeface="Montserrat" pitchFamily="34" charset="0"/>
                <a:ea typeface="Montserrat" pitchFamily="34" charset="-122"/>
                <a:cs typeface="Montserrat" pitchFamily="34" charset="-120"/>
              </a:rPr>
              <a:t>Нова платформа: немає ні користувачів, ні історії</a:t>
            </a:r>
            <a:endParaRPr lang="en-US" sz="1300" dirty="0">
              <a:latin typeface="Montserrat" charset="0"/>
              <a:ea typeface="Montserrat" charset="0"/>
              <a:cs typeface="Montserrat" charset="0"/>
            </a:endParaRPr>
          </a:p>
        </p:txBody>
      </p:sp>
      <p:sp>
        <p:nvSpPr>
          <p:cNvPr id="16" name="Text 14"/>
          <p:cNvSpPr/>
          <p:nvPr/>
        </p:nvSpPr>
        <p:spPr>
          <a:xfrm>
            <a:off x="812800" y="3321050"/>
            <a:ext cx="10883392"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F3563"/>
                </a:solidFill>
                <a:latin typeface="Montserrat" pitchFamily="34" charset="0"/>
                <a:ea typeface="Montserrat" pitchFamily="34" charset="-122"/>
                <a:cs typeface="Montserrat" pitchFamily="34" charset="-120"/>
              </a:rPr>
              <a:t>Cold start ≠ sparsity: історії </a:t>
            </a:r>
            <a:r>
              <a:rPr lang="en-US" sz="1300" b="1" dirty="0">
                <a:solidFill>
                  <a:srgbClr val="1F3563"/>
                </a:solidFill>
                <a:latin typeface="Montserrat" pitchFamily="34" charset="0"/>
                <a:ea typeface="Montserrat" pitchFamily="34" charset="-122"/>
                <a:cs typeface="Montserrat" pitchFamily="34" charset="-120"/>
              </a:rPr>
              <a:t>немає зовсім</a:t>
            </a:r>
            <a:r>
              <a:rPr lang="en-US" sz="1300" dirty="0">
                <a:solidFill>
                  <a:srgbClr val="1F3563"/>
                </a:solidFill>
                <a:latin typeface="Montserrat" pitchFamily="34" charset="0"/>
                <a:ea typeface="Montserrat" pitchFamily="34" charset="-122"/>
                <a:cs typeface="Montserrat" pitchFamily="34" charset="-120"/>
              </a:rPr>
              <a:t> ≠ історії </a:t>
            </a:r>
            <a:r>
              <a:rPr lang="en-US" sz="1300" b="1" dirty="0">
                <a:solidFill>
                  <a:srgbClr val="1F3563"/>
                </a:solidFill>
                <a:latin typeface="Montserrat" pitchFamily="34" charset="0"/>
                <a:ea typeface="Montserrat" pitchFamily="34" charset="-122"/>
                <a:cs typeface="Montserrat" pitchFamily="34" charset="-120"/>
              </a:rPr>
              <a:t>мало</a:t>
            </a:r>
            <a:endParaRPr lang="en-US" sz="1300" dirty="0">
              <a:latin typeface="Montserrat" charset="0"/>
              <a:ea typeface="Montserrat" charset="0"/>
              <a:cs typeface="Montserrat" charset="0"/>
            </a:endParaRPr>
          </a:p>
        </p:txBody>
      </p:sp>
      <p:sp>
        <p:nvSpPr>
          <p:cNvPr id="17" name="Text 15"/>
          <p:cNvSpPr/>
          <p:nvPr/>
        </p:nvSpPr>
        <p:spPr>
          <a:xfrm>
            <a:off x="812800" y="3696336"/>
            <a:ext cx="1088339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87E"/>
                </a:solidFill>
                <a:latin typeface="Montserrat" pitchFamily="34" charset="0"/>
                <a:ea typeface="Montserrat" pitchFamily="34" charset="-122"/>
                <a:cs typeface="Montserrat" pitchFamily="34" charset="-120"/>
              </a:rPr>
              <a:t>2) Чому CF і матрична факторизація тут не працюють</a:t>
            </a:r>
            <a:endParaRPr lang="en-US" sz="1600" dirty="0">
              <a:latin typeface="Montserrat" charset="0"/>
              <a:ea typeface="Montserrat" charset="0"/>
              <a:cs typeface="Montserrat" charset="0"/>
            </a:endParaRPr>
          </a:p>
        </p:txBody>
      </p:sp>
      <p:sp>
        <p:nvSpPr>
          <p:cNvPr id="18" name="Shape 16"/>
          <p:cNvSpPr/>
          <p:nvPr/>
        </p:nvSpPr>
        <p:spPr>
          <a:xfrm>
            <a:off x="819150" y="4098925"/>
            <a:ext cx="3924300" cy="967740"/>
          </a:xfrm>
          <a:prstGeom prst="roundRect">
            <a:avLst>
              <a:gd name="adj" fmla="val 12467"/>
            </a:avLst>
          </a:prstGeom>
          <a:solidFill>
            <a:srgbClr val="FFFFFF"/>
          </a:solidFill>
          <a:ln w="12700">
            <a:solidFill>
              <a:srgbClr val="D5E0F3"/>
            </a:solidFill>
            <a:prstDash val="solid"/>
          </a:ln>
        </p:spPr>
      </p:sp>
      <p:sp>
        <p:nvSpPr>
          <p:cNvPr id="19" name="Text 17"/>
          <p:cNvSpPr/>
          <p:nvPr/>
        </p:nvSpPr>
        <p:spPr>
          <a:xfrm>
            <a:off x="1026160" y="4255136"/>
            <a:ext cx="3615588"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387E"/>
                </a:solidFill>
                <a:latin typeface="Montserrat" pitchFamily="34" charset="0"/>
                <a:ea typeface="Montserrat" pitchFamily="34" charset="-122"/>
                <a:cs typeface="Montserrat" pitchFamily="34" charset="-120"/>
              </a:rPr>
              <a:t>ŷ</a:t>
            </a:r>
            <a:r>
              <a:rPr lang="en-US" sz="2200" b="1" dirty="0">
                <a:solidFill>
                  <a:srgbClr val="3F6BC4"/>
                </a:solidFill>
                <a:latin typeface="Montserrat" pitchFamily="34" charset="0"/>
                <a:ea typeface="Montserrat" pitchFamily="34" charset="-122"/>
                <a:cs typeface="Montserrat" pitchFamily="34" charset="-120"/>
              </a:rPr>
              <a:t>ui</a:t>
            </a:r>
            <a:r>
              <a:rPr lang="en-US" sz="2200" b="1" dirty="0">
                <a:solidFill>
                  <a:srgbClr val="17387E"/>
                </a:solidFill>
                <a:latin typeface="Montserrat" pitchFamily="34" charset="0"/>
                <a:ea typeface="Montserrat" pitchFamily="34" charset="-122"/>
                <a:cs typeface="Montserrat" pitchFamily="34" charset="-120"/>
              </a:rPr>
              <a:t> = p</a:t>
            </a:r>
            <a:r>
              <a:rPr lang="en-US" sz="2200" b="1" dirty="0">
                <a:solidFill>
                  <a:srgbClr val="3F6BC4"/>
                </a:solidFill>
                <a:latin typeface="Montserrat" pitchFamily="34" charset="0"/>
                <a:ea typeface="Montserrat" pitchFamily="34" charset="-122"/>
                <a:cs typeface="Montserrat" pitchFamily="34" charset="-120"/>
              </a:rPr>
              <a:t>u</a:t>
            </a:r>
            <a:r>
              <a:rPr lang="en-US" sz="2200" b="1" dirty="0">
                <a:solidFill>
                  <a:srgbClr val="17387E"/>
                </a:solidFill>
                <a:latin typeface="Montserrat" pitchFamily="34" charset="0"/>
                <a:ea typeface="Montserrat" pitchFamily="34" charset="-122"/>
                <a:cs typeface="Montserrat" pitchFamily="34" charset="-120"/>
              </a:rPr>
              <a:t> · q</a:t>
            </a:r>
            <a:r>
              <a:rPr lang="en-US" sz="2200" b="1" dirty="0">
                <a:solidFill>
                  <a:srgbClr val="3F6BC4"/>
                </a:solidFill>
                <a:latin typeface="Montserrat" pitchFamily="34" charset="0"/>
                <a:ea typeface="Montserrat" pitchFamily="34" charset="-122"/>
                <a:cs typeface="Montserrat" pitchFamily="34" charset="-120"/>
              </a:rPr>
              <a:t>i</a:t>
            </a:r>
            <a:endParaRPr lang="en-US" sz="2200" dirty="0">
              <a:latin typeface="Montserrat" charset="0"/>
              <a:ea typeface="Montserrat" charset="0"/>
              <a:cs typeface="Montserrat" charset="0"/>
            </a:endParaRPr>
          </a:p>
        </p:txBody>
      </p:sp>
      <p:sp>
        <p:nvSpPr>
          <p:cNvPr id="20" name="Text 18"/>
          <p:cNvSpPr/>
          <p:nvPr/>
        </p:nvSpPr>
        <p:spPr>
          <a:xfrm>
            <a:off x="1026160" y="4697095"/>
            <a:ext cx="361558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вектор на кожен ID</a:t>
            </a:r>
            <a:endParaRPr lang="en-US" sz="1200" dirty="0">
              <a:latin typeface="Montserrat" charset="0"/>
              <a:ea typeface="Montserrat" charset="0"/>
              <a:cs typeface="Montserrat" charset="0"/>
            </a:endParaRPr>
          </a:p>
        </p:txBody>
      </p:sp>
      <p:sp>
        <p:nvSpPr>
          <p:cNvPr id="21" name="Text 19"/>
          <p:cNvSpPr/>
          <p:nvPr/>
        </p:nvSpPr>
        <p:spPr>
          <a:xfrm>
            <a:off x="5101844" y="4211320"/>
            <a:ext cx="6460998" cy="768350"/>
          </a:xfrm>
          <a:prstGeom prst="rect">
            <a:avLst/>
          </a:prstGeom>
          <a:noFill/>
          <a:ln/>
        </p:spPr>
        <p:txBody>
          <a:bodyPr wrap="square" lIns="0" tIns="0" rIns="0" bIns="0" rtlCol="0" anchor="t">
            <a:normAutofit/>
          </a:bodyPr>
          <a:lstStyle/>
          <a:p>
            <a:pPr marL="155956" indent="-155956" algn="l">
              <a:lnSpc>
                <a:spcPts val="1950"/>
              </a:lnSpc>
              <a:buSzPct val="100000"/>
              <a:buChar char="•"/>
            </a:pPr>
            <a:r>
              <a:rPr lang="en-US" sz="1300" dirty="0">
                <a:solidFill>
                  <a:srgbClr val="1F3563"/>
                </a:solidFill>
                <a:latin typeface="Montserrat" pitchFamily="34" charset="0"/>
                <a:ea typeface="Montserrat" pitchFamily="34" charset="-122"/>
                <a:cs typeface="Montserrat" pitchFamily="34" charset="-120"/>
              </a:rPr>
              <a:t>Вектор </a:t>
            </a:r>
            <a:r>
              <a:rPr lang="en-US" sz="1300" b="1" dirty="0">
                <a:solidFill>
                  <a:srgbClr val="1F3563"/>
                </a:solidFill>
                <a:latin typeface="Montserrat" pitchFamily="34" charset="0"/>
                <a:ea typeface="Montserrat" pitchFamily="34" charset="-122"/>
                <a:cs typeface="Montserrat" pitchFamily="34" charset="-120"/>
              </a:rPr>
              <a:t>кожного ID</a:t>
            </a:r>
            <a:r>
              <a:rPr lang="en-US" sz="1300" dirty="0">
                <a:solidFill>
                  <a:srgbClr val="1F3563"/>
                </a:solidFill>
                <a:latin typeface="Montserrat" pitchFamily="34" charset="0"/>
                <a:ea typeface="Montserrat" pitchFamily="34" charset="-122"/>
                <a:cs typeface="Montserrat" pitchFamily="34" charset="-120"/>
              </a:rPr>
              <a:t> навчається на взаємодіях</a:t>
            </a:r>
            <a:endParaRPr lang="en-US" sz="1300" dirty="0">
              <a:latin typeface="Montserrat" charset="0"/>
              <a:ea typeface="Montserrat" charset="0"/>
              <a:cs typeface="Montserrat" charset="0"/>
            </a:endParaRPr>
          </a:p>
          <a:p>
            <a:pPr marL="155956" indent="-155956" algn="l">
              <a:lnSpc>
                <a:spcPts val="1950"/>
              </a:lnSpc>
              <a:buSzPct val="100000"/>
              <a:buChar char="•"/>
            </a:pPr>
            <a:r>
              <a:rPr lang="en-US" sz="1300" dirty="0">
                <a:solidFill>
                  <a:srgbClr val="1F3563"/>
                </a:solidFill>
                <a:latin typeface="Montserrat" pitchFamily="34" charset="0"/>
                <a:ea typeface="Montserrat" pitchFamily="34" charset="-122"/>
                <a:cs typeface="Montserrat" pitchFamily="34" charset="-120"/>
              </a:rPr>
              <a:t>Новий ID: взаємодій немає, вектор </a:t>
            </a:r>
            <a:r>
              <a:rPr lang="en-US" sz="1300" b="1" dirty="0">
                <a:solidFill>
                  <a:srgbClr val="1F3563"/>
                </a:solidFill>
                <a:latin typeface="Montserrat" pitchFamily="34" charset="0"/>
                <a:ea typeface="Montserrat" pitchFamily="34" charset="-122"/>
                <a:cs typeface="Montserrat" pitchFamily="34" charset="-120"/>
              </a:rPr>
              <a:t>не навчений</a:t>
            </a:r>
            <a:r>
              <a:rPr lang="en-US" sz="1300" dirty="0">
                <a:solidFill>
                  <a:srgbClr val="1F3563"/>
                </a:solidFill>
                <a:latin typeface="Montserrat" pitchFamily="34" charset="0"/>
                <a:ea typeface="Montserrat" pitchFamily="34" charset="-122"/>
                <a:cs typeface="Montserrat" pitchFamily="34" charset="-120"/>
              </a:rPr>
              <a:t> (випадковий)</a:t>
            </a:r>
            <a:endParaRPr lang="en-US" sz="1300" dirty="0">
              <a:latin typeface="Montserrat" charset="0"/>
              <a:ea typeface="Montserrat" charset="0"/>
              <a:cs typeface="Montserrat" charset="0"/>
            </a:endParaRPr>
          </a:p>
          <a:p>
            <a:pPr marL="155956" indent="-155956" algn="l">
              <a:lnSpc>
                <a:spcPts val="1950"/>
              </a:lnSpc>
              <a:buSzPct val="100000"/>
              <a:buChar char="•"/>
            </a:pPr>
            <a:r>
              <a:rPr lang="en-US" sz="1300" dirty="0">
                <a:solidFill>
                  <a:srgbClr val="1F3563"/>
                </a:solidFill>
                <a:latin typeface="Montserrat" pitchFamily="34" charset="0"/>
                <a:ea typeface="Montserrat" pitchFamily="34" charset="-122"/>
                <a:cs typeface="Montserrat" pitchFamily="34" charset="-120"/>
              </a:rPr>
              <a:t>Запасний варіант: </a:t>
            </a:r>
            <a:r>
              <a:rPr lang="en-US" sz="1300" b="1" dirty="0">
                <a:solidFill>
                  <a:srgbClr val="1F3563"/>
                </a:solidFill>
                <a:latin typeface="Montserrat" pitchFamily="34" charset="0"/>
                <a:ea typeface="Montserrat" pitchFamily="34" charset="-122"/>
                <a:cs typeface="Montserrat" pitchFamily="34" charset="-120"/>
              </a:rPr>
              <a:t>Popularity</a:t>
            </a:r>
            <a:r>
              <a:rPr lang="en-US" sz="1300" dirty="0">
                <a:solidFill>
                  <a:srgbClr val="1F3563"/>
                </a:solidFill>
                <a:latin typeface="Montserrat" pitchFamily="34" charset="0"/>
                <a:ea typeface="Montserrat" pitchFamily="34" charset="-122"/>
                <a:cs typeface="Montserrat" pitchFamily="34" charset="-120"/>
              </a:rPr>
              <a:t>, але без персоналізації</a:t>
            </a:r>
            <a:endParaRPr lang="en-US" sz="1300" dirty="0">
              <a:latin typeface="Montserrat" charset="0"/>
              <a:ea typeface="Montserrat" charset="0"/>
              <a:cs typeface="Montserrat" charset="0"/>
            </a:endParaRPr>
          </a:p>
        </p:txBody>
      </p:sp>
      <p:sp>
        <p:nvSpPr>
          <p:cNvPr id="22" name="Text 20"/>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Постановка проблеми · </a:t>
            </a:r>
            <a:endParaRPr lang="en-US" sz="1200" dirty="0">
              <a:latin typeface="Montserrat" charset="0"/>
              <a:ea typeface="Montserrat" charset="0"/>
              <a:cs typeface="Montserrat" charset="0"/>
            </a:endParaRPr>
          </a:p>
        </p:txBody>
      </p:sp>
      <p:sp>
        <p:nvSpPr>
          <p:cNvPr id="23" name="Text 21"/>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3 / 17</a:t>
            </a:r>
            <a:endParaRPr lang="en-US" sz="1200" dirty="0">
              <a:latin typeface="Montserrat" charset="0"/>
              <a:ea typeface="Montserrat" charset="0"/>
              <a:cs typeface="Montserrat"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31934"/>
          </a:xfrm>
          <a:prstGeom prst="rect">
            <a:avLst/>
          </a:prstGeom>
          <a:noFill/>
          <a:ln/>
        </p:spPr>
        <p:txBody>
          <a:bodyPr wrap="square" lIns="0" tIns="0" rIns="0" bIns="0" rtlCol="0" anchor="t">
            <a:normAutofit/>
          </a:bodyPr>
          <a:lstStyle/>
          <a:p>
            <a:pPr marL="0" indent="0" algn="l">
              <a:lnSpc>
                <a:spcPts val="1672"/>
              </a:lnSpc>
              <a:buNone/>
            </a:pPr>
            <a:r>
              <a:rPr lang="en-US" sz="1194" b="1" kern="0" spc="100" dirty="0">
                <a:solidFill>
                  <a:srgbClr val="3F6BC4"/>
                </a:solidFill>
                <a:latin typeface="Montserrat" pitchFamily="34" charset="0"/>
                <a:ea typeface="Montserrat" pitchFamily="34" charset="-122"/>
                <a:cs typeface="Montserrat" pitchFamily="34" charset="-120"/>
              </a:rPr>
              <a:t>СЛАЙД 4</a:t>
            </a:r>
            <a:endParaRPr lang="en-US" sz="1194" dirty="0">
              <a:latin typeface="Montserrat" charset="0"/>
              <a:ea typeface="Montserrat" charset="0"/>
              <a:cs typeface="Montserrat" charset="0"/>
            </a:endParaRPr>
          </a:p>
        </p:txBody>
      </p:sp>
      <p:sp>
        <p:nvSpPr>
          <p:cNvPr id="5" name="Text 3"/>
          <p:cNvSpPr>
            <a:spLocks noGrp="1"/>
          </p:cNvSpPr>
          <p:nvPr>
            <p:ph type="title"/>
          </p:nvPr>
        </p:nvSpPr>
        <p:spPr>
          <a:xfrm>
            <a:off x="812800" y="879635"/>
            <a:ext cx="9156700" cy="349885"/>
          </a:xfrm>
          <a:prstGeom prst="rect">
            <a:avLst/>
          </a:prstGeom>
          <a:noFill/>
          <a:ln/>
        </p:spPr>
        <p:txBody>
          <a:bodyPr wrap="square" lIns="0" tIns="0" rIns="0" bIns="0" rtlCol="0" anchor="t">
            <a:normAutofit/>
          </a:bodyPr>
          <a:lstStyle/>
          <a:p>
            <a:pPr marL="0" indent="0" algn="l">
              <a:lnSpc>
                <a:spcPts val="2574"/>
              </a:lnSpc>
              <a:buNone/>
            </a:pPr>
            <a:r>
              <a:rPr lang="en-US" sz="2340" b="1" i="0" dirty="0">
                <a:solidFill>
                  <a:srgbClr val="17387E"/>
                </a:solidFill>
                <a:latin typeface="Montserrat" pitchFamily="34" charset="0"/>
                <a:ea typeface="Montserrat" pitchFamily="34" charset="-122"/>
                <a:cs typeface="Montserrat" pitchFamily="34" charset="-120"/>
              </a:rPr>
              <a:t>ПІДХОДИ ДО РОЗВ’ЯЗАННЯ І ЧОМУ ГРАФ</a:t>
            </a:r>
            <a:endParaRPr lang="en-US" sz="2340" dirty="0">
              <a:latin typeface="Montserrat" charset="0"/>
              <a:ea typeface="Montserrat" charset="0"/>
              <a:cs typeface="Montserrat" charset="0"/>
            </a:endParaRPr>
          </a:p>
        </p:txBody>
      </p:sp>
      <p:sp>
        <p:nvSpPr>
          <p:cNvPr id="6" name="Shape 4"/>
          <p:cNvSpPr/>
          <p:nvPr/>
        </p:nvSpPr>
        <p:spPr>
          <a:xfrm>
            <a:off x="812800" y="1348899"/>
            <a:ext cx="10566400" cy="0"/>
          </a:xfrm>
          <a:prstGeom prst="line">
            <a:avLst/>
          </a:prstGeom>
          <a:noFill/>
          <a:ln w="10160">
            <a:solidFill>
              <a:srgbClr val="141413">
                <a:alpha val="22000"/>
              </a:srgbClr>
            </a:solidFill>
            <a:prstDash val="solid"/>
          </a:ln>
        </p:spPr>
      </p:sp>
      <p:sp>
        <p:nvSpPr>
          <p:cNvPr id="7" name="Shape 5"/>
          <p:cNvSpPr/>
          <p:nvPr/>
        </p:nvSpPr>
        <p:spPr>
          <a:xfrm>
            <a:off x="817880" y="1343819"/>
            <a:ext cx="0" cy="3332321"/>
          </a:xfrm>
          <a:prstGeom prst="line">
            <a:avLst/>
          </a:prstGeom>
          <a:noFill/>
          <a:ln w="1016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1860" y="1392079"/>
          <a:ext cx="10378439" cy="3245959"/>
        </p:xfrm>
        <a:graphic>
          <a:graphicData uri="http://schemas.openxmlformats.org/drawingml/2006/table">
            <a:tbl>
              <a:tblPr/>
              <a:tblGrid>
                <a:gridCol w="3943807">
                  <a:extLst>
                    <a:ext uri="{9D8B030D-6E8A-4147-A177-3AD203B41FA5}">
                      <a16:colId xmlns:a16="http://schemas.microsoft.com/office/drawing/2014/main" val="20000"/>
                    </a:ext>
                  </a:extLst>
                </a:gridCol>
                <a:gridCol w="1660550">
                  <a:extLst>
                    <a:ext uri="{9D8B030D-6E8A-4147-A177-3AD203B41FA5}">
                      <a16:colId xmlns:a16="http://schemas.microsoft.com/office/drawing/2014/main" val="20001"/>
                    </a:ext>
                  </a:extLst>
                </a:gridCol>
                <a:gridCol w="2698394">
                  <a:extLst>
                    <a:ext uri="{9D8B030D-6E8A-4147-A177-3AD203B41FA5}">
                      <a16:colId xmlns:a16="http://schemas.microsoft.com/office/drawing/2014/main" val="20002"/>
                    </a:ext>
                  </a:extLst>
                </a:gridCol>
                <a:gridCol w="2075688">
                  <a:extLst>
                    <a:ext uri="{9D8B030D-6E8A-4147-A177-3AD203B41FA5}">
                      <a16:colId xmlns:a16="http://schemas.microsoft.com/office/drawing/2014/main" val="20003"/>
                    </a:ext>
                  </a:extLst>
                </a:gridCol>
              </a:tblGrid>
              <a:tr h="299006">
                <a:tc>
                  <a:txBody>
                    <a:bodyPr/>
                    <a:lstStyle/>
                    <a:p>
                      <a:pPr marL="0" indent="0">
                        <a:lnSpc>
                          <a:spcPts val="1517"/>
                        </a:lnSpc>
                        <a:buNone/>
                      </a:pPr>
                      <a:r>
                        <a:rPr lang="en-US" sz="1084" b="1" dirty="0">
                          <a:solidFill>
                            <a:srgbClr val="F4F7FD"/>
                          </a:solidFill>
                          <a:latin typeface="Montserrat" pitchFamily="34" charset="0"/>
                          <a:ea typeface="Montserrat" pitchFamily="34" charset="-122"/>
                          <a:cs typeface="Montserrat" pitchFamily="34" charset="-120"/>
                        </a:rPr>
                        <a:t>Підхід</a:t>
                      </a:r>
                      <a:endParaRPr lang="en-US" sz="1084" dirty="0">
                        <a:latin typeface="Montserrat" charset="0"/>
                        <a:ea typeface="Montserrat" charset="0"/>
                        <a:cs typeface="Montserrat" charset="0"/>
                      </a:endParaRPr>
                    </a:p>
                  </a:txBody>
                  <a:tcPr marL="48173" marR="48173" marT="48173" marB="48173">
                    <a:lnL w="0" cap="flat" cmpd="sng" algn="ctr">
                      <a:noFill/>
                    </a:lnL>
                    <a:lnR w="12700" cap="flat" cmpd="sng" algn="ctr">
                      <a:solidFill>
                        <a:srgbClr val="163066"/>
                      </a:solidFill>
                      <a:prstDash val="solid"/>
                      <a:round/>
                      <a:headEnd type="none" w="med" len="med"/>
                      <a:tailEnd type="none" w="med" len="med"/>
                    </a:lnR>
                    <a:lnT w="0" cap="flat" cmpd="sng" algn="ctr">
                      <a:noFill/>
                    </a:lnT>
                    <a:lnB w="12700" cap="flat" cmpd="sng" algn="ctr">
                      <a:solidFill>
                        <a:srgbClr val="163066"/>
                      </a:solidFill>
                      <a:prstDash val="solid"/>
                      <a:round/>
                      <a:headEnd type="none" w="med" len="med"/>
                      <a:tailEnd type="none" w="med" len="med"/>
                    </a:lnB>
                    <a:solidFill>
                      <a:srgbClr val="17387E"/>
                    </a:solidFill>
                  </a:tcPr>
                </a:tc>
                <a:tc>
                  <a:txBody>
                    <a:bodyPr/>
                    <a:lstStyle/>
                    <a:p>
                      <a:pPr marL="0" indent="0">
                        <a:lnSpc>
                          <a:spcPts val="1517"/>
                        </a:lnSpc>
                        <a:buNone/>
                      </a:pPr>
                      <a:r>
                        <a:rPr lang="en-US" sz="1084" b="1" dirty="0">
                          <a:solidFill>
                            <a:srgbClr val="F4F7FD"/>
                          </a:solidFill>
                          <a:latin typeface="Montserrat" pitchFamily="34" charset="0"/>
                          <a:ea typeface="Montserrat" pitchFamily="34" charset="-122"/>
                          <a:cs typeface="Montserrat" pitchFamily="34" charset="-120"/>
                        </a:rPr>
                        <a:t>Які дані потрібні</a:t>
                      </a:r>
                      <a:endParaRPr lang="en-US" sz="1084" dirty="0">
                        <a:latin typeface="Montserrat" charset="0"/>
                        <a:ea typeface="Montserrat" charset="0"/>
                        <a:cs typeface="Montserrat" charset="0"/>
                      </a:endParaRPr>
                    </a:p>
                  </a:txBody>
                  <a:tcPr marL="48173" marR="48173" marT="48173" marB="48173">
                    <a:lnL w="12700" cap="flat" cmpd="sng" algn="ctr">
                      <a:solidFill>
                        <a:srgbClr val="163066"/>
                      </a:solidFill>
                      <a:prstDash val="solid"/>
                      <a:round/>
                      <a:headEnd type="none" w="med" len="med"/>
                      <a:tailEnd type="none" w="med" len="med"/>
                    </a:lnL>
                    <a:lnR w="12700" cap="flat" cmpd="sng" algn="ctr">
                      <a:solidFill>
                        <a:srgbClr val="163066"/>
                      </a:solidFill>
                      <a:prstDash val="solid"/>
                      <a:round/>
                      <a:headEnd type="none" w="med" len="med"/>
                      <a:tailEnd type="none" w="med" len="med"/>
                    </a:lnR>
                    <a:lnT w="0" cap="flat" cmpd="sng" algn="ctr">
                      <a:noFill/>
                    </a:lnT>
                    <a:lnB w="12700" cap="flat" cmpd="sng" algn="ctr">
                      <a:solidFill>
                        <a:srgbClr val="163066"/>
                      </a:solidFill>
                      <a:prstDash val="solid"/>
                      <a:round/>
                      <a:headEnd type="none" w="med" len="med"/>
                      <a:tailEnd type="none" w="med" len="med"/>
                    </a:lnB>
                    <a:solidFill>
                      <a:srgbClr val="17387E"/>
                    </a:solidFill>
                  </a:tcPr>
                </a:tc>
                <a:tc>
                  <a:txBody>
                    <a:bodyPr/>
                    <a:lstStyle/>
                    <a:p>
                      <a:pPr marL="0" indent="0">
                        <a:lnSpc>
                          <a:spcPts val="1517"/>
                        </a:lnSpc>
                        <a:buNone/>
                      </a:pPr>
                      <a:r>
                        <a:rPr lang="en-US" sz="1084" b="1" dirty="0">
                          <a:solidFill>
                            <a:srgbClr val="F4F7FD"/>
                          </a:solidFill>
                          <a:latin typeface="Montserrat" pitchFamily="34" charset="0"/>
                          <a:ea typeface="Montserrat" pitchFamily="34" charset="-122"/>
                          <a:cs typeface="Montserrat" pitchFamily="34" charset="-120"/>
                        </a:rPr>
                        <a:t>Як вирішує cold start</a:t>
                      </a:r>
                      <a:endParaRPr lang="en-US" sz="1084" dirty="0">
                        <a:latin typeface="Montserrat" charset="0"/>
                        <a:ea typeface="Montserrat" charset="0"/>
                        <a:cs typeface="Montserrat" charset="0"/>
                      </a:endParaRPr>
                    </a:p>
                  </a:txBody>
                  <a:tcPr marL="48173" marR="48173" marT="48173" marB="48173">
                    <a:lnL w="12700" cap="flat" cmpd="sng" algn="ctr">
                      <a:solidFill>
                        <a:srgbClr val="163066"/>
                      </a:solidFill>
                      <a:prstDash val="solid"/>
                      <a:round/>
                      <a:headEnd type="none" w="med" len="med"/>
                      <a:tailEnd type="none" w="med" len="med"/>
                    </a:lnL>
                    <a:lnR w="12700" cap="flat" cmpd="sng" algn="ctr">
                      <a:solidFill>
                        <a:srgbClr val="163066"/>
                      </a:solidFill>
                      <a:prstDash val="solid"/>
                      <a:round/>
                      <a:headEnd type="none" w="med" len="med"/>
                      <a:tailEnd type="none" w="med" len="med"/>
                    </a:lnR>
                    <a:lnT w="0" cap="flat" cmpd="sng" algn="ctr">
                      <a:noFill/>
                    </a:lnT>
                    <a:lnB w="12700" cap="flat" cmpd="sng" algn="ctr">
                      <a:solidFill>
                        <a:srgbClr val="163066"/>
                      </a:solidFill>
                      <a:prstDash val="solid"/>
                      <a:round/>
                      <a:headEnd type="none" w="med" len="med"/>
                      <a:tailEnd type="none" w="med" len="med"/>
                    </a:lnB>
                    <a:solidFill>
                      <a:srgbClr val="17387E"/>
                    </a:solidFill>
                  </a:tcPr>
                </a:tc>
                <a:tc>
                  <a:txBody>
                    <a:bodyPr/>
                    <a:lstStyle/>
                    <a:p>
                      <a:pPr marL="0" indent="0">
                        <a:lnSpc>
                          <a:spcPts val="1517"/>
                        </a:lnSpc>
                        <a:buNone/>
                      </a:pPr>
                      <a:r>
                        <a:rPr lang="en-US" sz="1084" b="1" dirty="0">
                          <a:solidFill>
                            <a:srgbClr val="F4F7FD"/>
                          </a:solidFill>
                          <a:latin typeface="Montserrat" pitchFamily="34" charset="0"/>
                          <a:ea typeface="Montserrat" pitchFamily="34" charset="-122"/>
                          <a:cs typeface="Montserrat" pitchFamily="34" charset="-120"/>
                        </a:rPr>
                        <a:t>Обмеження</a:t>
                      </a:r>
                      <a:endParaRPr lang="en-US" sz="1084" dirty="0">
                        <a:latin typeface="Montserrat" charset="0"/>
                        <a:ea typeface="Montserrat" charset="0"/>
                        <a:cs typeface="Montserrat" charset="0"/>
                      </a:endParaRPr>
                    </a:p>
                  </a:txBody>
                  <a:tcPr marL="48173" marR="48173" marT="48173" marB="48173">
                    <a:lnL w="12700" cap="flat" cmpd="sng" algn="ctr">
                      <a:solidFill>
                        <a:srgbClr val="163066"/>
                      </a:solidFill>
                      <a:prstDash val="solid"/>
                      <a:round/>
                      <a:headEnd type="none" w="med" len="med"/>
                      <a:tailEnd type="none" w="med" len="med"/>
                    </a:lnL>
                    <a:lnR w="12700" cap="flat" cmpd="sng" algn="ctr">
                      <a:solidFill>
                        <a:srgbClr val="163066"/>
                      </a:solidFill>
                      <a:prstDash val="solid"/>
                      <a:round/>
                      <a:headEnd type="none" w="med" len="med"/>
                      <a:tailEnd type="none" w="med" len="med"/>
                    </a:lnR>
                    <a:lnT w="0" cap="flat" cmpd="sng" algn="ctr">
                      <a:noFill/>
                    </a:lnT>
                    <a:lnB w="12700" cap="flat" cmpd="sng" algn="ctr">
                      <a:solidFill>
                        <a:srgbClr val="163066"/>
                      </a:solidFill>
                      <a:prstDash val="solid"/>
                      <a:round/>
                      <a:headEnd type="none" w="med" len="med"/>
                      <a:tailEnd type="none" w="med" len="med"/>
                    </a:lnB>
                    <a:solidFill>
                      <a:srgbClr val="17387E"/>
                    </a:solidFill>
                  </a:tcPr>
                </a:tc>
                <a:extLst>
                  <a:ext uri="{0D108BD9-81ED-4DB2-BD59-A6C34878D82A}">
                    <a16:rowId xmlns:a16="http://schemas.microsoft.com/office/drawing/2014/main" val="10000"/>
                  </a:ext>
                </a:extLst>
              </a:tr>
              <a:tr h="491093">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Без даних про об’єкт: Popularity, random, опитування, bandit</a:t>
                      </a:r>
                      <a:endParaRPr lang="en-US" sz="1084" dirty="0">
                        <a:latin typeface="Montserrat" charset="0"/>
                        <a:ea typeface="Montserrat" charset="0"/>
                        <a:cs typeface="Montserrat" charset="0"/>
                      </a:endParaRPr>
                    </a:p>
                  </a:txBody>
                  <a:tcPr marL="48173" marR="48173" marT="48173" marB="48173">
                    <a:lnL w="0" cap="flat" cmpd="sng" algn="ctr">
                      <a:noFill/>
                    </a:lnL>
                    <a:lnR w="12700" cap="flat" cmpd="sng" algn="ctr">
                      <a:solidFill>
                        <a:srgbClr val="CBCBCB"/>
                      </a:solidFill>
                      <a:prstDash val="solid"/>
                      <a:round/>
                      <a:headEnd type="none" w="med" len="med"/>
                      <a:tailEnd type="none" w="med" len="med"/>
                    </a:lnR>
                    <a:lnT w="12700" cap="flat" cmpd="sng" algn="ctr">
                      <a:solidFill>
                        <a:srgbClr val="16306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глобальна статистика</a:t>
                      </a:r>
                      <a:endParaRPr lang="en-US" sz="1084" dirty="0">
                        <a:latin typeface="Montserrat" charset="0"/>
                        <a:ea typeface="Montserrat" charset="0"/>
                        <a:cs typeface="Montserrat" charset="0"/>
                      </a:endParaRPr>
                    </a:p>
                  </a:txBody>
                  <a:tcPr marL="48173" marR="48173" marT="48173" marB="48173">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306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показує популярне, досліджує</a:t>
                      </a:r>
                      <a:endParaRPr lang="en-US" sz="1084" dirty="0">
                        <a:latin typeface="Montserrat" charset="0"/>
                        <a:ea typeface="Montserrat" charset="0"/>
                        <a:cs typeface="Montserrat" charset="0"/>
                      </a:endParaRPr>
                    </a:p>
                  </a:txBody>
                  <a:tcPr marL="48173" marR="48173" marT="48173" marB="48173">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306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немає персоналізації</a:t>
                      </a:r>
                      <a:endParaRPr lang="en-US" sz="1084" dirty="0">
                        <a:latin typeface="Montserrat" charset="0"/>
                        <a:ea typeface="Montserrat" charset="0"/>
                        <a:cs typeface="Montserrat" charset="0"/>
                      </a:endParaRPr>
                    </a:p>
                  </a:txBody>
                  <a:tcPr marL="48173" marR="48173" marT="48173" marB="48173">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306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1172">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Content-based і гібридні (LightFM)</a:t>
                      </a:r>
                      <a:endParaRPr lang="en-US" sz="1084" dirty="0">
                        <a:latin typeface="Montserrat" charset="0"/>
                        <a:ea typeface="Montserrat" charset="0"/>
                        <a:cs typeface="Montserrat" charset="0"/>
                      </a:endParaRPr>
                    </a:p>
                  </a:txBody>
                  <a:tcPr marL="48173" marR="48173" marT="48173" marB="48173">
                    <a:lnL w="0" cap="flat" cmpd="sng" algn="ctr">
                      <a:noFill/>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ознаки об’єкта</a:t>
                      </a:r>
                      <a:endParaRPr lang="en-US" sz="1084" dirty="0">
                        <a:latin typeface="Montserrat" charset="0"/>
                        <a:ea typeface="Montserrat" charset="0"/>
                        <a:cs typeface="Montserrat" charset="0"/>
                      </a:endParaRPr>
                    </a:p>
                  </a:txBody>
                  <a:tcPr marL="48173" marR="48173" marT="48173" marB="48173">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вектор будується з ознак</a:t>
                      </a:r>
                      <a:endParaRPr lang="en-US" sz="1084" dirty="0">
                        <a:latin typeface="Montserrat" charset="0"/>
                        <a:ea typeface="Montserrat" charset="0"/>
                        <a:cs typeface="Montserrat" charset="0"/>
                      </a:endParaRPr>
                    </a:p>
                  </a:txBody>
                  <a:tcPr marL="48173" marR="48173" marT="48173" marB="48173">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залежить від ознак; без зв’язків</a:t>
                      </a:r>
                      <a:endParaRPr lang="en-US" sz="1084" dirty="0">
                        <a:latin typeface="Montserrat" charset="0"/>
                        <a:ea typeface="Montserrat" charset="0"/>
                        <a:cs typeface="Montserrat" charset="0"/>
                      </a:endParaRPr>
                    </a:p>
                  </a:txBody>
                  <a:tcPr marL="48173" marR="48173" marT="48173" marB="48173">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extLst>
                  <a:ext uri="{0D108BD9-81ED-4DB2-BD59-A6C34878D82A}">
                    <a16:rowId xmlns:a16="http://schemas.microsoft.com/office/drawing/2014/main" val="10002"/>
                  </a:ext>
                </a:extLst>
              </a:tr>
              <a:tr h="491172">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Глибокі з ознаками (DropoutNet, Heater)</a:t>
                      </a:r>
                      <a:endParaRPr lang="en-US" sz="1084" dirty="0">
                        <a:latin typeface="Montserrat" charset="0"/>
                        <a:ea typeface="Montserrat" charset="0"/>
                        <a:cs typeface="Montserrat" charset="0"/>
                      </a:endParaRPr>
                    </a:p>
                  </a:txBody>
                  <a:tcPr marL="48173" marR="48173" marT="48173" marB="48173">
                    <a:lnL w="0" cap="flat" cmpd="sng" algn="ctr">
                      <a:noFill/>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ознаки + історія</a:t>
                      </a:r>
                      <a:endParaRPr lang="en-US" sz="1084" dirty="0">
                        <a:latin typeface="Montserrat" charset="0"/>
                        <a:ea typeface="Montserrat" charset="0"/>
                        <a:cs typeface="Montserrat" charset="0"/>
                      </a:endParaRPr>
                    </a:p>
                  </a:txBody>
                  <a:tcPr marL="48173" marR="48173" marT="48173" marB="48173">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«вимикає» історію під час навчання</a:t>
                      </a:r>
                      <a:endParaRPr lang="en-US" sz="1084" dirty="0">
                        <a:latin typeface="Montserrat" charset="0"/>
                        <a:ea typeface="Montserrat" charset="0"/>
                        <a:cs typeface="Montserrat" charset="0"/>
                      </a:endParaRPr>
                    </a:p>
                  </a:txBody>
                  <a:tcPr marL="48173" marR="48173" marT="48173" marB="48173">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потрібні якісні ознаки</a:t>
                      </a:r>
                      <a:endParaRPr lang="en-US" sz="1084" dirty="0">
                        <a:latin typeface="Montserrat" charset="0"/>
                        <a:ea typeface="Montserrat" charset="0"/>
                        <a:cs typeface="Montserrat" charset="0"/>
                      </a:endParaRPr>
                    </a:p>
                  </a:txBody>
                  <a:tcPr marL="48173" marR="48173" marT="48173" marB="48173">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1172">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Meta-learning (MeLU, MAMO, MetaEmbedding)</a:t>
                      </a:r>
                      <a:endParaRPr lang="en-US" sz="1084" dirty="0">
                        <a:latin typeface="Montserrat" charset="0"/>
                        <a:ea typeface="Montserrat" charset="0"/>
                        <a:cs typeface="Montserrat" charset="0"/>
                      </a:endParaRPr>
                    </a:p>
                  </a:txBody>
                  <a:tcPr marL="48173" marR="48173" marT="48173" marB="48173">
                    <a:lnL w="0" cap="flat" cmpd="sng" algn="ctr">
                      <a:noFill/>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багато малих задач</a:t>
                      </a:r>
                      <a:endParaRPr lang="en-US" sz="1084" dirty="0">
                        <a:latin typeface="Montserrat" charset="0"/>
                        <a:ea typeface="Montserrat" charset="0"/>
                        <a:cs typeface="Montserrat" charset="0"/>
                      </a:endParaRPr>
                    </a:p>
                  </a:txBody>
                  <a:tcPr marL="48173" marR="48173" marT="48173" marB="48173">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швидка адаптація за кількома прикладами</a:t>
                      </a:r>
                      <a:endParaRPr lang="en-US" sz="1084" dirty="0">
                        <a:latin typeface="Montserrat" charset="0"/>
                        <a:ea typeface="Montserrat" charset="0"/>
                        <a:cs typeface="Montserrat" charset="0"/>
                      </a:endParaRPr>
                    </a:p>
                  </a:txBody>
                  <a:tcPr marL="48173" marR="48173" marT="48173" marB="48173">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складне навчання</a:t>
                      </a:r>
                      <a:endParaRPr lang="en-US" sz="1084" dirty="0">
                        <a:latin typeface="Montserrat" charset="0"/>
                        <a:ea typeface="Montserrat" charset="0"/>
                        <a:cs typeface="Montserrat" charset="0"/>
                      </a:endParaRPr>
                    </a:p>
                  </a:txBody>
                  <a:tcPr marL="48173" marR="48173" marT="48173" marB="48173">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extLst>
                  <a:ext uri="{0D108BD9-81ED-4DB2-BD59-A6C34878D82A}">
                    <a16:rowId xmlns:a16="http://schemas.microsoft.com/office/drawing/2014/main" val="10004"/>
                  </a:ext>
                </a:extLst>
              </a:tr>
              <a:tr h="491172">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Графові (GCMC, IGMC, STAR-GCN, PinSage, hetero GNN)</a:t>
                      </a:r>
                      <a:endParaRPr lang="en-US" sz="1084" dirty="0">
                        <a:latin typeface="Montserrat" charset="0"/>
                        <a:ea typeface="Montserrat" charset="0"/>
                        <a:cs typeface="Montserrat" charset="0"/>
                      </a:endParaRPr>
                    </a:p>
                  </a:txBody>
                  <a:tcPr marL="48173" marR="48173" marT="48173" marB="48173">
                    <a:lnL w="0" cap="flat" cmpd="sng" algn="ctr">
                      <a:noFill/>
                    </a:lnL>
                    <a:lnR w="12700" cap="flat" cmpd="sng" algn="ctr">
                      <a:solidFill>
                        <a:srgbClr val="A1ADC1"/>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A1ADC1"/>
                      </a:solidFill>
                      <a:prstDash val="solid"/>
                      <a:round/>
                      <a:headEnd type="none" w="med" len="med"/>
                      <a:tailEnd type="none" w="med" len="med"/>
                    </a:lnB>
                    <a:solidFill>
                      <a:srgbClr val="C9D8F2"/>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граф + ознаки</a:t>
                      </a:r>
                      <a:endParaRPr lang="en-US" sz="1084" dirty="0">
                        <a:latin typeface="Montserrat" charset="0"/>
                        <a:ea typeface="Montserrat" charset="0"/>
                        <a:cs typeface="Montserrat" charset="0"/>
                      </a:endParaRPr>
                    </a:p>
                  </a:txBody>
                  <a:tcPr marL="48173" marR="48173" marT="48173" marB="48173">
                    <a:lnL w="12700" cap="flat" cmpd="sng" algn="ctr">
                      <a:solidFill>
                        <a:srgbClr val="A1ADC1"/>
                      </a:solidFill>
                      <a:prstDash val="solid"/>
                      <a:round/>
                      <a:headEnd type="none" w="med" len="med"/>
                      <a:tailEnd type="none" w="med" len="med"/>
                    </a:lnL>
                    <a:lnR w="12700" cap="flat" cmpd="sng" algn="ctr">
                      <a:solidFill>
                        <a:srgbClr val="A1ADC1"/>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A1ADC1"/>
                      </a:solidFill>
                      <a:prstDash val="solid"/>
                      <a:round/>
                      <a:headEnd type="none" w="med" len="med"/>
                      <a:tailEnd type="none" w="med" len="med"/>
                    </a:lnB>
                    <a:solidFill>
                      <a:srgbClr val="C9D8F2"/>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сигнал від сусідів і зв’язків</a:t>
                      </a:r>
                      <a:endParaRPr lang="en-US" sz="1084" dirty="0">
                        <a:latin typeface="Montserrat" charset="0"/>
                        <a:ea typeface="Montserrat" charset="0"/>
                        <a:cs typeface="Montserrat" charset="0"/>
                      </a:endParaRPr>
                    </a:p>
                  </a:txBody>
                  <a:tcPr marL="48173" marR="48173" marT="48173" marB="48173">
                    <a:lnL w="12700" cap="flat" cmpd="sng" algn="ctr">
                      <a:solidFill>
                        <a:srgbClr val="A1ADC1"/>
                      </a:solidFill>
                      <a:prstDash val="solid"/>
                      <a:round/>
                      <a:headEnd type="none" w="med" len="med"/>
                      <a:tailEnd type="none" w="med" len="med"/>
                    </a:lnL>
                    <a:lnR w="12700" cap="flat" cmpd="sng" algn="ctr">
                      <a:solidFill>
                        <a:srgbClr val="A1ADC1"/>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A1ADC1"/>
                      </a:solidFill>
                      <a:prstDash val="solid"/>
                      <a:round/>
                      <a:headEnd type="none" w="med" len="med"/>
                      <a:tailEnd type="none" w="med" len="med"/>
                    </a:lnB>
                    <a:solidFill>
                      <a:srgbClr val="C9D8F2"/>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вартість; якість зв’язків</a:t>
                      </a:r>
                      <a:endParaRPr lang="en-US" sz="1084" dirty="0">
                        <a:latin typeface="Montserrat" charset="0"/>
                        <a:ea typeface="Montserrat" charset="0"/>
                        <a:cs typeface="Montserrat" charset="0"/>
                      </a:endParaRPr>
                    </a:p>
                  </a:txBody>
                  <a:tcPr marL="48173" marR="48173" marT="48173" marB="48173">
                    <a:lnL w="12700" cap="flat" cmpd="sng" algn="ctr">
                      <a:solidFill>
                        <a:srgbClr val="A1ADC1"/>
                      </a:solidFill>
                      <a:prstDash val="solid"/>
                      <a:round/>
                      <a:headEnd type="none" w="med" len="med"/>
                      <a:tailEnd type="none" w="med" len="med"/>
                    </a:lnL>
                    <a:lnR w="12700" cap="flat" cmpd="sng" algn="ctr">
                      <a:solidFill>
                        <a:srgbClr val="A1ADC1"/>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A1ADC1"/>
                      </a:solidFill>
                      <a:prstDash val="solid"/>
                      <a:round/>
                      <a:headEnd type="none" w="med" len="med"/>
                      <a:tailEnd type="none" w="med" len="med"/>
                    </a:lnB>
                    <a:solidFill>
                      <a:srgbClr val="C9D8F2"/>
                    </a:solidFill>
                  </a:tcPr>
                </a:tc>
                <a:extLst>
                  <a:ext uri="{0D108BD9-81ED-4DB2-BD59-A6C34878D82A}">
                    <a16:rowId xmlns:a16="http://schemas.microsoft.com/office/drawing/2014/main" val="10005"/>
                  </a:ext>
                </a:extLst>
              </a:tr>
              <a:tr h="491172">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Контрастне (CLCRec)</a:t>
                      </a:r>
                      <a:endParaRPr lang="en-US" sz="1084" dirty="0">
                        <a:latin typeface="Montserrat" charset="0"/>
                        <a:ea typeface="Montserrat" charset="0"/>
                        <a:cs typeface="Montserrat" charset="0"/>
                      </a:endParaRPr>
                    </a:p>
                  </a:txBody>
                  <a:tcPr marL="48173" marR="48173" marT="48173" marB="48173">
                    <a:lnL w="0" cap="flat" cmpd="sng" algn="ctr">
                      <a:noFill/>
                    </a:lnL>
                    <a:lnR w="12700" cap="flat" cmpd="sng" algn="ctr">
                      <a:solidFill>
                        <a:srgbClr val="CBCBCB"/>
                      </a:solidFill>
                      <a:prstDash val="solid"/>
                      <a:round/>
                      <a:headEnd type="none" w="med" len="med"/>
                      <a:tailEnd type="none" w="med" len="med"/>
                    </a:lnR>
                    <a:lnT w="12700" cap="flat" cmpd="sng" algn="ctr">
                      <a:solidFill>
                        <a:srgbClr val="A1AD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ознаки + взаємодії</a:t>
                      </a:r>
                      <a:endParaRPr lang="en-US" sz="1084" dirty="0">
                        <a:latin typeface="Montserrat" charset="0"/>
                        <a:ea typeface="Montserrat" charset="0"/>
                        <a:cs typeface="Montserrat" charset="0"/>
                      </a:endParaRPr>
                    </a:p>
                  </a:txBody>
                  <a:tcPr marL="48173" marR="48173" marT="48173" marB="48173">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1AD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вирівнює простори ознак і взаємодій</a:t>
                      </a:r>
                      <a:endParaRPr lang="en-US" sz="1084" dirty="0">
                        <a:latin typeface="Montserrat" charset="0"/>
                        <a:ea typeface="Montserrat" charset="0"/>
                        <a:cs typeface="Montserrat" charset="0"/>
                      </a:endParaRPr>
                    </a:p>
                  </a:txBody>
                  <a:tcPr marL="48173" marR="48173" marT="48173" marB="48173">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1AD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17"/>
                        </a:lnSpc>
                        <a:buNone/>
                      </a:pPr>
                      <a:r>
                        <a:rPr lang="en-US" sz="1084" dirty="0">
                          <a:solidFill>
                            <a:srgbClr val="1F3563"/>
                          </a:solidFill>
                          <a:latin typeface="Montserrat" pitchFamily="34" charset="0"/>
                          <a:ea typeface="Montserrat" pitchFamily="34" charset="-122"/>
                          <a:cs typeface="Montserrat" pitchFamily="34" charset="-120"/>
                        </a:rPr>
                        <a:t>складне налаштування</a:t>
                      </a:r>
                      <a:endParaRPr lang="en-US" sz="1084" dirty="0">
                        <a:latin typeface="Montserrat" charset="0"/>
                        <a:ea typeface="Montserrat" charset="0"/>
                        <a:cs typeface="Montserrat" charset="0"/>
                      </a:endParaRPr>
                    </a:p>
                  </a:txBody>
                  <a:tcPr marL="48173" marR="48173" marT="48173" marB="48173">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1AD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Shape 6"/>
          <p:cNvSpPr/>
          <p:nvPr/>
        </p:nvSpPr>
        <p:spPr>
          <a:xfrm>
            <a:off x="819150" y="4822191"/>
            <a:ext cx="5204460" cy="1013460"/>
          </a:xfrm>
          <a:prstGeom prst="roundRect">
            <a:avLst>
              <a:gd name="adj" fmla="val 11905"/>
            </a:avLst>
          </a:prstGeom>
          <a:solidFill>
            <a:srgbClr val="FFFFFF"/>
          </a:solidFill>
          <a:ln w="12700">
            <a:solidFill>
              <a:srgbClr val="D5E0F3"/>
            </a:solidFill>
            <a:prstDash val="solid"/>
          </a:ln>
        </p:spPr>
      </p:sp>
      <p:sp>
        <p:nvSpPr>
          <p:cNvPr id="10" name="Text 7"/>
          <p:cNvSpPr/>
          <p:nvPr/>
        </p:nvSpPr>
        <p:spPr>
          <a:xfrm>
            <a:off x="988060" y="4940300"/>
            <a:ext cx="5012639" cy="226774"/>
          </a:xfrm>
          <a:prstGeom prst="rect">
            <a:avLst/>
          </a:prstGeom>
          <a:noFill/>
          <a:ln/>
        </p:spPr>
        <p:txBody>
          <a:bodyPr wrap="square" lIns="0" tIns="0" rIns="0" bIns="0" rtlCol="0" anchor="t">
            <a:normAutofit/>
          </a:bodyPr>
          <a:lstStyle/>
          <a:p>
            <a:pPr marL="0" indent="0" algn="l">
              <a:lnSpc>
                <a:spcPts val="1621"/>
              </a:lnSpc>
              <a:buNone/>
            </a:pPr>
            <a:r>
              <a:rPr lang="en-US" sz="1158" b="1" dirty="0">
                <a:solidFill>
                  <a:srgbClr val="17387E"/>
                </a:solidFill>
                <a:latin typeface="Montserrat" pitchFamily="34" charset="0"/>
                <a:ea typeface="Montserrat" pitchFamily="34" charset="-122"/>
                <a:cs typeface="Montserrat" pitchFamily="34" charset="-120"/>
              </a:rPr>
              <a:t>Чому граф?</a:t>
            </a:r>
            <a:endParaRPr lang="en-US" sz="1158" dirty="0">
              <a:latin typeface="Montserrat" charset="0"/>
              <a:ea typeface="Montserrat" charset="0"/>
              <a:cs typeface="Montserrat" charset="0"/>
            </a:endParaRPr>
          </a:p>
        </p:txBody>
      </p:sp>
      <p:sp>
        <p:nvSpPr>
          <p:cNvPr id="11" name="Text 8"/>
          <p:cNvSpPr/>
          <p:nvPr/>
        </p:nvSpPr>
        <p:spPr>
          <a:xfrm>
            <a:off x="988060" y="5179775"/>
            <a:ext cx="5012639" cy="563166"/>
          </a:xfrm>
          <a:prstGeom prst="rect">
            <a:avLst/>
          </a:prstGeom>
          <a:noFill/>
          <a:ln/>
        </p:spPr>
        <p:txBody>
          <a:bodyPr wrap="square" lIns="0" tIns="0" rIns="0" bIns="0" rtlCol="0" anchor="t">
            <a:normAutofit/>
          </a:bodyPr>
          <a:lstStyle/>
          <a:p>
            <a:pPr marL="0" indent="0" algn="l">
              <a:lnSpc>
                <a:spcPts val="1564"/>
              </a:lnSpc>
              <a:buNone/>
            </a:pPr>
            <a:r>
              <a:rPr lang="en-US" sz="1159" dirty="0">
                <a:solidFill>
                  <a:srgbClr val="1F3563"/>
                </a:solidFill>
                <a:latin typeface="Montserrat" pitchFamily="34" charset="0"/>
                <a:ea typeface="Montserrat" pitchFamily="34" charset="-122"/>
                <a:cs typeface="Montserrat" pitchFamily="34" charset="-120"/>
              </a:rPr>
              <a:t>Зв’язки (бренд, категорія, теги) несуть сигнал навіть без взаємодій. GNN поширює його через сусідів (message passing).</a:t>
            </a:r>
            <a:endParaRPr lang="en-US" sz="1159" dirty="0">
              <a:latin typeface="Montserrat" charset="0"/>
              <a:ea typeface="Montserrat" charset="0"/>
              <a:cs typeface="Montserrat" charset="0"/>
            </a:endParaRPr>
          </a:p>
        </p:txBody>
      </p:sp>
      <p:sp>
        <p:nvSpPr>
          <p:cNvPr id="12" name="Shape 9"/>
          <p:cNvSpPr/>
          <p:nvPr/>
        </p:nvSpPr>
        <p:spPr>
          <a:xfrm>
            <a:off x="6182360" y="4815841"/>
            <a:ext cx="5196840" cy="1026160"/>
          </a:xfrm>
          <a:prstGeom prst="roundRect">
            <a:avLst>
              <a:gd name="adj" fmla="val 12376"/>
            </a:avLst>
          </a:prstGeom>
          <a:solidFill>
            <a:srgbClr val="17387E"/>
          </a:solidFill>
          <a:ln/>
        </p:spPr>
      </p:sp>
      <p:sp>
        <p:nvSpPr>
          <p:cNvPr id="13" name="Text 10"/>
          <p:cNvSpPr/>
          <p:nvPr/>
        </p:nvSpPr>
        <p:spPr>
          <a:xfrm>
            <a:off x="6347460" y="4930141"/>
            <a:ext cx="5012639" cy="232331"/>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9DBDEB"/>
                </a:solidFill>
                <a:latin typeface="Montserrat" pitchFamily="34" charset="0"/>
                <a:ea typeface="Montserrat" pitchFamily="34" charset="-122"/>
                <a:cs typeface="Montserrat" pitchFamily="34" charset="-120"/>
              </a:rPr>
              <a:t>Дослідницьке питання</a:t>
            </a:r>
            <a:endParaRPr lang="en-US" sz="1194" dirty="0">
              <a:latin typeface="Montserrat" charset="0"/>
              <a:ea typeface="Montserrat" charset="0"/>
              <a:cs typeface="Montserrat" charset="0"/>
            </a:endParaRPr>
          </a:p>
        </p:txBody>
      </p:sp>
      <p:sp>
        <p:nvSpPr>
          <p:cNvPr id="14" name="Text 11"/>
          <p:cNvSpPr/>
          <p:nvPr/>
        </p:nvSpPr>
        <p:spPr>
          <a:xfrm>
            <a:off x="6347460" y="5175171"/>
            <a:ext cx="5012639" cy="577929"/>
          </a:xfrm>
          <a:prstGeom prst="rect">
            <a:avLst/>
          </a:prstGeom>
          <a:noFill/>
          <a:ln/>
        </p:spPr>
        <p:txBody>
          <a:bodyPr wrap="square" lIns="0" tIns="0" rIns="0" bIns="0" rtlCol="0" anchor="t">
            <a:normAutofit/>
          </a:bodyPr>
          <a:lstStyle/>
          <a:p>
            <a:pPr marL="0" indent="0" algn="l">
              <a:lnSpc>
                <a:spcPts val="1458"/>
              </a:lnSpc>
              <a:buNone/>
            </a:pPr>
            <a:r>
              <a:rPr lang="en-US" sz="1080" dirty="0">
                <a:solidFill>
                  <a:srgbClr val="F4F7FD"/>
                </a:solidFill>
                <a:latin typeface="Montserrat" pitchFamily="34" charset="0"/>
                <a:ea typeface="Montserrat" pitchFamily="34" charset="-122"/>
                <a:cs typeface="Montserrat" pitchFamily="34" charset="-120"/>
              </a:rPr>
              <a:t>Чи дає граф приріст понад самі ознаки на нових товарах?</a:t>
            </a:r>
            <a:endParaRPr lang="en-US" sz="1080" dirty="0">
              <a:latin typeface="Montserrat" charset="0"/>
              <a:ea typeface="Montserrat" charset="0"/>
              <a:cs typeface="Montserrat" charset="0"/>
            </a:endParaRPr>
          </a:p>
          <a:p>
            <a:pPr marL="0" indent="0" algn="l">
              <a:lnSpc>
                <a:spcPts val="1458"/>
              </a:lnSpc>
              <a:buNone/>
            </a:pPr>
            <a:r>
              <a:rPr lang="en-US" sz="1080" b="1" dirty="0">
                <a:solidFill>
                  <a:srgbClr val="F4F7FD"/>
                </a:solidFill>
                <a:latin typeface="Montserrat" pitchFamily="34" charset="0"/>
                <a:ea typeface="Montserrat" pitchFamily="34" charset="-122"/>
                <a:cs typeface="Montserrat" pitchFamily="34" charset="-120"/>
              </a:rPr>
              <a:t>H1:</a:t>
            </a:r>
            <a:r>
              <a:rPr lang="en-US" sz="1080" dirty="0">
                <a:solidFill>
                  <a:srgbClr val="F4F7FD"/>
                </a:solidFill>
                <a:latin typeface="Montserrat" pitchFamily="34" charset="0"/>
                <a:ea typeface="Montserrat" pitchFamily="34" charset="-122"/>
                <a:cs typeface="Montserrat" pitchFamily="34" charset="-120"/>
              </a:rPr>
              <a:t> GraphSAGE з ознаками &gt; Popularity</a:t>
            </a:r>
            <a:endParaRPr lang="en-US" sz="1080" dirty="0">
              <a:latin typeface="Montserrat" charset="0"/>
              <a:ea typeface="Montserrat" charset="0"/>
              <a:cs typeface="Montserrat" charset="0"/>
            </a:endParaRPr>
          </a:p>
          <a:p>
            <a:pPr marL="0" indent="0" algn="l">
              <a:lnSpc>
                <a:spcPts val="1458"/>
              </a:lnSpc>
              <a:buNone/>
            </a:pPr>
            <a:r>
              <a:rPr lang="en-US" sz="1080" b="1" dirty="0">
                <a:solidFill>
                  <a:srgbClr val="F4F7FD"/>
                </a:solidFill>
                <a:latin typeface="Montserrat" pitchFamily="34" charset="0"/>
                <a:ea typeface="Montserrat" pitchFamily="34" charset="-122"/>
                <a:cs typeface="Montserrat" pitchFamily="34" charset="-120"/>
              </a:rPr>
              <a:t>H2:</a:t>
            </a:r>
            <a:r>
              <a:rPr lang="en-US" sz="1080" dirty="0">
                <a:solidFill>
                  <a:srgbClr val="F4F7FD"/>
                </a:solidFill>
                <a:latin typeface="Montserrat" pitchFamily="34" charset="0"/>
                <a:ea typeface="Montserrat" pitchFamily="34" charset="-122"/>
                <a:cs typeface="Montserrat" pitchFamily="34" charset="-120"/>
              </a:rPr>
              <a:t> GraphSAGE &gt; content-only</a:t>
            </a:r>
            <a:endParaRPr lang="en-US" sz="1080" dirty="0">
              <a:latin typeface="Montserrat" charset="0"/>
              <a:ea typeface="Montserrat" charset="0"/>
              <a:cs typeface="Montserrat" charset="0"/>
            </a:endParaRPr>
          </a:p>
        </p:txBody>
      </p:sp>
      <p:sp>
        <p:nvSpPr>
          <p:cNvPr id="15" name="Text 12"/>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Постановка </a:t>
            </a:r>
            <a:r>
              <a:rPr lang="en-US" sz="1200" dirty="0" err="1">
                <a:solidFill>
                  <a:srgbClr val="55688F"/>
                </a:solidFill>
                <a:latin typeface="Montserrat" pitchFamily="34" charset="0"/>
                <a:ea typeface="Montserrat" pitchFamily="34" charset="-122"/>
                <a:cs typeface="Montserrat" pitchFamily="34" charset="-120"/>
              </a:rPr>
              <a:t>проблеми</a:t>
            </a:r>
            <a:r>
              <a:rPr lang="en-US" sz="1200" dirty="0">
                <a:solidFill>
                  <a:srgbClr val="55688F"/>
                </a:solidFill>
                <a:latin typeface="Montserrat" pitchFamily="34" charset="0"/>
                <a:ea typeface="Montserrat" pitchFamily="34" charset="-122"/>
                <a:cs typeface="Montserrat" pitchFamily="34" charset="-120"/>
              </a:rPr>
              <a:t> ·</a:t>
            </a:r>
            <a:endParaRPr lang="en-US" sz="1200" dirty="0">
              <a:latin typeface="Montserrat" charset="0"/>
              <a:ea typeface="Montserrat" charset="0"/>
              <a:cs typeface="Montserrat" charset="0"/>
            </a:endParaRPr>
          </a:p>
        </p:txBody>
      </p:sp>
      <p:sp>
        <p:nvSpPr>
          <p:cNvPr id="16" name="Text 13"/>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4 / 17</a:t>
            </a:r>
            <a:endParaRPr lang="en-US" sz="1200" dirty="0">
              <a:latin typeface="Montserrat" charset="0"/>
              <a:ea typeface="Montserrat" charset="0"/>
              <a:cs typeface="Montserrat"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5</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39"/>
            <a:ext cx="9156700" cy="75184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ГЕТЕРОГЕННИЙ ГРАФ: НАВІЩО ВІН ПОТРІБЕН НОВОМУ ТОВАРУ</a:t>
            </a:r>
            <a:endParaRPr lang="en-US" sz="2600" dirty="0">
              <a:latin typeface="Montserrat" charset="0"/>
              <a:ea typeface="Montserrat" charset="0"/>
              <a:cs typeface="Montserrat" charset="0"/>
            </a:endParaRPr>
          </a:p>
        </p:txBody>
      </p:sp>
      <p:sp>
        <p:nvSpPr>
          <p:cNvPr id="6" name="Text 4"/>
          <p:cNvSpPr/>
          <p:nvPr/>
        </p:nvSpPr>
        <p:spPr>
          <a:xfrm>
            <a:off x="812800" y="1808482"/>
            <a:ext cx="62788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387E"/>
                </a:solidFill>
                <a:latin typeface="Montserrat" pitchFamily="34" charset="0"/>
                <a:ea typeface="Montserrat" pitchFamily="34" charset="-122"/>
                <a:cs typeface="Montserrat" pitchFamily="34" charset="-120"/>
              </a:rPr>
              <a:t>1) Холодний старт товару</a:t>
            </a:r>
            <a:endParaRPr lang="en-US" sz="1500" dirty="0">
              <a:latin typeface="Montserrat" charset="0"/>
              <a:ea typeface="Montserrat" charset="0"/>
              <a:cs typeface="Montserrat" charset="0"/>
            </a:endParaRPr>
          </a:p>
        </p:txBody>
      </p:sp>
      <p:sp>
        <p:nvSpPr>
          <p:cNvPr id="7" name="Text 5"/>
          <p:cNvSpPr/>
          <p:nvPr/>
        </p:nvSpPr>
        <p:spPr>
          <a:xfrm>
            <a:off x="812800" y="2075182"/>
            <a:ext cx="627888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F3563"/>
                </a:solidFill>
                <a:latin typeface="Montserrat" pitchFamily="34" charset="0"/>
                <a:ea typeface="Montserrat" pitchFamily="34" charset="-122"/>
                <a:cs typeface="Montserrat" pitchFamily="34" charset="-120"/>
              </a:rPr>
              <a:t>Телефон уже є в каталозі, але його ніхто не купив. Звичайні рекомендації дивляться на минулі покупки, тому показати його нікому.</a:t>
            </a:r>
            <a:endParaRPr lang="en-US" sz="1250" dirty="0">
              <a:latin typeface="Montserrat" charset="0"/>
              <a:ea typeface="Montserrat" charset="0"/>
              <a:cs typeface="Montserrat" charset="0"/>
            </a:endParaRPr>
          </a:p>
        </p:txBody>
      </p:sp>
      <p:sp>
        <p:nvSpPr>
          <p:cNvPr id="8" name="Text 6"/>
          <p:cNvSpPr/>
          <p:nvPr/>
        </p:nvSpPr>
        <p:spPr>
          <a:xfrm>
            <a:off x="812800" y="2659382"/>
            <a:ext cx="62788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387E"/>
                </a:solidFill>
                <a:latin typeface="Montserrat" pitchFamily="34" charset="0"/>
                <a:ea typeface="Montserrat" pitchFamily="34" charset="-122"/>
                <a:cs typeface="Montserrat" pitchFamily="34" charset="-120"/>
              </a:rPr>
              <a:t>2) Схема «людина — товар» для нього порожня</a:t>
            </a:r>
            <a:endParaRPr lang="en-US" sz="1500" dirty="0">
              <a:latin typeface="Montserrat" charset="0"/>
              <a:ea typeface="Montserrat" charset="0"/>
              <a:cs typeface="Montserrat" charset="0"/>
            </a:endParaRPr>
          </a:p>
        </p:txBody>
      </p:sp>
      <p:sp>
        <p:nvSpPr>
          <p:cNvPr id="9" name="Text 7"/>
          <p:cNvSpPr/>
          <p:nvPr/>
        </p:nvSpPr>
        <p:spPr>
          <a:xfrm>
            <a:off x="812800" y="2926082"/>
            <a:ext cx="6278880"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F3563"/>
                </a:solidFill>
                <a:latin typeface="Montserrat" pitchFamily="34" charset="0"/>
                <a:ea typeface="Montserrat" pitchFamily="34" charset="-122"/>
                <a:cs typeface="Montserrat" pitchFamily="34" charset="-120"/>
              </a:rPr>
              <a:t>Немає лінії до людей, отже немає сусідів і немає звідки взяти опис.</a:t>
            </a:r>
            <a:endParaRPr lang="en-US" sz="1250" dirty="0">
              <a:latin typeface="Montserrat" charset="0"/>
              <a:ea typeface="Montserrat" charset="0"/>
              <a:cs typeface="Montserrat" charset="0"/>
            </a:endParaRPr>
          </a:p>
        </p:txBody>
      </p:sp>
      <p:sp>
        <p:nvSpPr>
          <p:cNvPr id="10" name="Text 8"/>
          <p:cNvSpPr/>
          <p:nvPr/>
        </p:nvSpPr>
        <p:spPr>
          <a:xfrm>
            <a:off x="812800" y="3288032"/>
            <a:ext cx="62788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387E"/>
                </a:solidFill>
                <a:latin typeface="Montserrat" pitchFamily="34" charset="0"/>
                <a:ea typeface="Montserrat" pitchFamily="34" charset="-122"/>
                <a:cs typeface="Montserrat" pitchFamily="34" charset="-120"/>
              </a:rPr>
              <a:t>3) Додають бренд, категорію і мітку</a:t>
            </a:r>
            <a:endParaRPr lang="en-US" sz="1500" dirty="0">
              <a:latin typeface="Montserrat" charset="0"/>
              <a:ea typeface="Montserrat" charset="0"/>
              <a:cs typeface="Montserrat" charset="0"/>
            </a:endParaRPr>
          </a:p>
        </p:txBody>
      </p:sp>
      <p:sp>
        <p:nvSpPr>
          <p:cNvPr id="11" name="Text 9"/>
          <p:cNvSpPr/>
          <p:nvPr/>
        </p:nvSpPr>
        <p:spPr>
          <a:xfrm>
            <a:off x="812800" y="3554732"/>
            <a:ext cx="627888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F3563"/>
                </a:solidFill>
                <a:latin typeface="Montserrat" pitchFamily="34" charset="0"/>
                <a:ea typeface="Montserrat" pitchFamily="34" charset="-122"/>
                <a:cs typeface="Montserrat" pitchFamily="34" charset="-120"/>
              </a:rPr>
              <a:t>Старий і новий телефон обидва з’єднані з Samsung, категорією «смартфони» і міткою «камера». Напряму вони не з’єднані: шлях іде через Samsung.</a:t>
            </a:r>
            <a:endParaRPr lang="en-US" sz="1250" dirty="0">
              <a:latin typeface="Montserrat" charset="0"/>
              <a:ea typeface="Montserrat" charset="0"/>
              <a:cs typeface="Montserrat" charset="0"/>
            </a:endParaRPr>
          </a:p>
        </p:txBody>
      </p:sp>
      <p:sp>
        <p:nvSpPr>
          <p:cNvPr id="12" name="Text 10"/>
          <p:cNvSpPr/>
          <p:nvPr/>
        </p:nvSpPr>
        <p:spPr>
          <a:xfrm>
            <a:off x="812800" y="4361182"/>
            <a:ext cx="62788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387E"/>
                </a:solidFill>
                <a:latin typeface="Montserrat" pitchFamily="34" charset="0"/>
                <a:ea typeface="Montserrat" pitchFamily="34" charset="-122"/>
                <a:cs typeface="Montserrat" pitchFamily="34" charset="-120"/>
              </a:rPr>
              <a:t>4) Лінія потрібна в обидва боки</a:t>
            </a:r>
            <a:endParaRPr lang="en-US" sz="1500" dirty="0">
              <a:latin typeface="Montserrat" charset="0"/>
              <a:ea typeface="Montserrat" charset="0"/>
              <a:cs typeface="Montserrat" charset="0"/>
            </a:endParaRPr>
          </a:p>
        </p:txBody>
      </p:sp>
      <p:sp>
        <p:nvSpPr>
          <p:cNvPr id="13" name="Text 11"/>
          <p:cNvSpPr/>
          <p:nvPr/>
        </p:nvSpPr>
        <p:spPr>
          <a:xfrm>
            <a:off x="812800" y="4627882"/>
            <a:ext cx="627888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F3563"/>
                </a:solidFill>
                <a:latin typeface="Montserrat" pitchFamily="34" charset="0"/>
                <a:ea typeface="Montserrat" pitchFamily="34" charset="-122"/>
                <a:cs typeface="Montserrat" pitchFamily="34" charset="-120"/>
              </a:rPr>
              <a:t>«Телефон → Samsung»: бренд бачить телефони. Зворотна лінія «Samsung → телефон» потрібна, щоб новий телефон побачив бренд.</a:t>
            </a:r>
            <a:endParaRPr lang="en-US" sz="1250" dirty="0">
              <a:latin typeface="Montserrat" charset="0"/>
              <a:ea typeface="Montserrat" charset="0"/>
              <a:cs typeface="Montserrat" charset="0"/>
            </a:endParaRPr>
          </a:p>
        </p:txBody>
      </p:sp>
      <p:pic>
        <p:nvPicPr>
          <p:cNvPr id="14" name="Image 0" descr="Схема графа: старий і новий телефон з’єднані з брендом Samsung, категорією смартфони та міткою камера; покупець пов’язаний зі старим телефоном"/>
          <p:cNvPicPr>
            <a:picLocks noChangeAspect="1"/>
          </p:cNvPicPr>
          <p:nvPr/>
        </p:nvPicPr>
        <p:blipFill>
          <a:blip r:embed="rId3"/>
          <a:srcRect/>
          <a:stretch/>
        </p:blipFill>
        <p:spPr>
          <a:xfrm>
            <a:off x="7175500" y="1905000"/>
            <a:ext cx="4064000" cy="3175000"/>
          </a:xfrm>
          <a:prstGeom prst="rect">
            <a:avLst/>
          </a:prstGeom>
        </p:spPr>
      </p:pic>
      <p:sp>
        <p:nvSpPr>
          <p:cNvPr id="15" name="Text 12"/>
          <p:cNvSpPr/>
          <p:nvPr/>
        </p:nvSpPr>
        <p:spPr>
          <a:xfrm>
            <a:off x="8610600" y="2146300"/>
            <a:ext cx="1193800" cy="431800"/>
          </a:xfrm>
          <a:prstGeom prst="rect">
            <a:avLst/>
          </a:prstGeom>
          <a:noFill/>
          <a:ln/>
        </p:spPr>
        <p:txBody>
          <a:bodyPr wrap="square" lIns="0" tIns="0" rIns="0" bIns="0" rtlCol="0" anchor="t">
            <a:normAutofit/>
          </a:bodyPr>
          <a:lstStyle/>
          <a:p>
            <a:pPr marL="0" indent="0" algn="ctr">
              <a:lnSpc>
                <a:spcPts val="3204"/>
              </a:lnSpc>
              <a:buNone/>
            </a:pPr>
            <a:r>
              <a:rPr lang="en-US" sz="1200" b="1" dirty="0">
                <a:solidFill>
                  <a:srgbClr val="F4F7FD"/>
                </a:solidFill>
                <a:latin typeface="Montserrat" pitchFamily="34" charset="0"/>
                <a:ea typeface="Montserrat" pitchFamily="34" charset="-122"/>
                <a:cs typeface="Montserrat" pitchFamily="34" charset="-120"/>
              </a:rPr>
              <a:t>Samsung</a:t>
            </a:r>
            <a:endParaRPr lang="en-US" sz="1200" dirty="0">
              <a:latin typeface="Montserrat" charset="0"/>
              <a:ea typeface="Montserrat" charset="0"/>
              <a:cs typeface="Montserrat" charset="0"/>
            </a:endParaRPr>
          </a:p>
        </p:txBody>
      </p:sp>
      <p:sp>
        <p:nvSpPr>
          <p:cNvPr id="16" name="Text 13"/>
          <p:cNvSpPr/>
          <p:nvPr/>
        </p:nvSpPr>
        <p:spPr>
          <a:xfrm>
            <a:off x="7213600" y="2146300"/>
            <a:ext cx="1193800" cy="431800"/>
          </a:xfrm>
          <a:prstGeom prst="rect">
            <a:avLst/>
          </a:prstGeom>
          <a:noFill/>
          <a:ln/>
        </p:spPr>
        <p:txBody>
          <a:bodyPr wrap="square" lIns="0" tIns="0" rIns="0" bIns="0" rtlCol="0" anchor="t">
            <a:normAutofit/>
          </a:bodyPr>
          <a:lstStyle/>
          <a:p>
            <a:pPr marL="0" indent="0" algn="ctr">
              <a:lnSpc>
                <a:spcPts val="3204"/>
              </a:lnSpc>
              <a:buNone/>
            </a:pPr>
            <a:r>
              <a:rPr lang="en-US" sz="1200" b="1" dirty="0">
                <a:solidFill>
                  <a:srgbClr val="17387E"/>
                </a:solidFill>
                <a:latin typeface="Montserrat" pitchFamily="34" charset="0"/>
                <a:ea typeface="Montserrat" pitchFamily="34" charset="-122"/>
                <a:cs typeface="Montserrat" pitchFamily="34" charset="-120"/>
              </a:rPr>
              <a:t>смартфони</a:t>
            </a:r>
            <a:endParaRPr lang="en-US" sz="1200" dirty="0">
              <a:latin typeface="Montserrat" charset="0"/>
              <a:ea typeface="Montserrat" charset="0"/>
              <a:cs typeface="Montserrat" charset="0"/>
            </a:endParaRPr>
          </a:p>
        </p:txBody>
      </p:sp>
      <p:sp>
        <p:nvSpPr>
          <p:cNvPr id="17" name="Text 14"/>
          <p:cNvSpPr/>
          <p:nvPr/>
        </p:nvSpPr>
        <p:spPr>
          <a:xfrm>
            <a:off x="10007600" y="2146300"/>
            <a:ext cx="1193800" cy="431800"/>
          </a:xfrm>
          <a:prstGeom prst="rect">
            <a:avLst/>
          </a:prstGeom>
          <a:noFill/>
          <a:ln/>
        </p:spPr>
        <p:txBody>
          <a:bodyPr wrap="square" lIns="0" tIns="0" rIns="0" bIns="0" rtlCol="0" anchor="t">
            <a:normAutofit/>
          </a:bodyPr>
          <a:lstStyle/>
          <a:p>
            <a:pPr marL="0" indent="0" algn="ctr">
              <a:lnSpc>
                <a:spcPts val="3204"/>
              </a:lnSpc>
              <a:buNone/>
            </a:pPr>
            <a:r>
              <a:rPr lang="en-US" sz="1200" b="1" dirty="0">
                <a:solidFill>
                  <a:srgbClr val="17387E"/>
                </a:solidFill>
                <a:latin typeface="Montserrat" pitchFamily="34" charset="0"/>
                <a:ea typeface="Montserrat" pitchFamily="34" charset="-122"/>
                <a:cs typeface="Montserrat" pitchFamily="34" charset="-120"/>
              </a:rPr>
              <a:t>камера</a:t>
            </a:r>
            <a:endParaRPr lang="en-US" sz="1200" dirty="0">
              <a:latin typeface="Montserrat" charset="0"/>
              <a:ea typeface="Montserrat" charset="0"/>
              <a:cs typeface="Montserrat" charset="0"/>
            </a:endParaRPr>
          </a:p>
        </p:txBody>
      </p:sp>
      <p:sp>
        <p:nvSpPr>
          <p:cNvPr id="18" name="Text 15"/>
          <p:cNvSpPr/>
          <p:nvPr/>
        </p:nvSpPr>
        <p:spPr>
          <a:xfrm>
            <a:off x="7340600" y="3416300"/>
            <a:ext cx="1574800" cy="431800"/>
          </a:xfrm>
          <a:prstGeom prst="rect">
            <a:avLst/>
          </a:prstGeom>
          <a:noFill/>
          <a:ln/>
        </p:spPr>
        <p:txBody>
          <a:bodyPr wrap="square" lIns="0" tIns="0" rIns="0" bIns="0" rtlCol="0" anchor="t">
            <a:normAutofit/>
          </a:bodyPr>
          <a:lstStyle/>
          <a:p>
            <a:pPr marL="0" indent="0" algn="ctr">
              <a:lnSpc>
                <a:spcPts val="3204"/>
              </a:lnSpc>
              <a:buNone/>
            </a:pPr>
            <a:r>
              <a:rPr lang="en-US" sz="1200" b="1" dirty="0">
                <a:solidFill>
                  <a:srgbClr val="17387E"/>
                </a:solidFill>
                <a:latin typeface="Montserrat" pitchFamily="34" charset="0"/>
                <a:ea typeface="Montserrat" pitchFamily="34" charset="-122"/>
                <a:cs typeface="Montserrat" pitchFamily="34" charset="-120"/>
              </a:rPr>
              <a:t>Старий телефон</a:t>
            </a:r>
            <a:endParaRPr lang="en-US" sz="1200" dirty="0">
              <a:latin typeface="Montserrat" charset="0"/>
              <a:ea typeface="Montserrat" charset="0"/>
              <a:cs typeface="Montserrat" charset="0"/>
            </a:endParaRPr>
          </a:p>
        </p:txBody>
      </p:sp>
      <p:sp>
        <p:nvSpPr>
          <p:cNvPr id="19" name="Text 16"/>
          <p:cNvSpPr/>
          <p:nvPr/>
        </p:nvSpPr>
        <p:spPr>
          <a:xfrm>
            <a:off x="9499600" y="3416300"/>
            <a:ext cx="1574800" cy="431800"/>
          </a:xfrm>
          <a:prstGeom prst="rect">
            <a:avLst/>
          </a:prstGeom>
          <a:noFill/>
          <a:ln/>
        </p:spPr>
        <p:txBody>
          <a:bodyPr wrap="square" lIns="0" tIns="0" rIns="0" bIns="0" rtlCol="0" anchor="t">
            <a:normAutofit/>
          </a:bodyPr>
          <a:lstStyle/>
          <a:p>
            <a:pPr marL="0" indent="0" algn="ctr">
              <a:lnSpc>
                <a:spcPts val="3204"/>
              </a:lnSpc>
              <a:buNone/>
            </a:pPr>
            <a:r>
              <a:rPr lang="en-US" sz="1200" b="1" dirty="0">
                <a:solidFill>
                  <a:srgbClr val="3A1F00"/>
                </a:solidFill>
                <a:latin typeface="Montserrat" pitchFamily="34" charset="0"/>
                <a:ea typeface="Montserrat" pitchFamily="34" charset="-122"/>
                <a:cs typeface="Montserrat" pitchFamily="34" charset="-120"/>
              </a:rPr>
              <a:t>Новий телефон</a:t>
            </a:r>
            <a:endParaRPr lang="en-US" sz="1200" dirty="0">
              <a:latin typeface="Montserrat" charset="0"/>
              <a:ea typeface="Montserrat" charset="0"/>
              <a:cs typeface="Montserrat" charset="0"/>
            </a:endParaRPr>
          </a:p>
        </p:txBody>
      </p:sp>
      <p:sp>
        <p:nvSpPr>
          <p:cNvPr id="20" name="Text 17"/>
          <p:cNvSpPr/>
          <p:nvPr/>
        </p:nvSpPr>
        <p:spPr>
          <a:xfrm>
            <a:off x="7340600" y="4559300"/>
            <a:ext cx="1574800" cy="431800"/>
          </a:xfrm>
          <a:prstGeom prst="rect">
            <a:avLst/>
          </a:prstGeom>
          <a:noFill/>
          <a:ln/>
        </p:spPr>
        <p:txBody>
          <a:bodyPr wrap="square" lIns="0" tIns="0" rIns="0" bIns="0" rtlCol="0" anchor="t">
            <a:normAutofit/>
          </a:bodyPr>
          <a:lstStyle/>
          <a:p>
            <a:pPr marL="0" indent="0" algn="ctr">
              <a:lnSpc>
                <a:spcPts val="3204"/>
              </a:lnSpc>
              <a:buNone/>
            </a:pPr>
            <a:r>
              <a:rPr lang="en-US" sz="1200" b="1" dirty="0">
                <a:solidFill>
                  <a:srgbClr val="17387E"/>
                </a:solidFill>
                <a:latin typeface="Montserrat" pitchFamily="34" charset="0"/>
                <a:ea typeface="Montserrat" pitchFamily="34" charset="-122"/>
                <a:cs typeface="Montserrat" pitchFamily="34" charset="-120"/>
              </a:rPr>
              <a:t>Покупець</a:t>
            </a:r>
            <a:endParaRPr lang="en-US" sz="1200" dirty="0">
              <a:latin typeface="Montserrat" charset="0"/>
              <a:ea typeface="Montserrat" charset="0"/>
              <a:cs typeface="Montserrat" charset="0"/>
            </a:endParaRPr>
          </a:p>
        </p:txBody>
      </p:sp>
      <p:sp>
        <p:nvSpPr>
          <p:cNvPr id="21" name="Text 18"/>
          <p:cNvSpPr/>
          <p:nvPr/>
        </p:nvSpPr>
        <p:spPr>
          <a:xfrm>
            <a:off x="7175500" y="5194300"/>
            <a:ext cx="418592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Пунктир і помаранчевий — новий товар без жодних покупок</a:t>
            </a:r>
            <a:endParaRPr lang="en-US" sz="1200" dirty="0">
              <a:latin typeface="Montserrat" charset="0"/>
              <a:ea typeface="Montserrat" charset="0"/>
              <a:cs typeface="Montserrat" charset="0"/>
            </a:endParaRPr>
          </a:p>
        </p:txBody>
      </p:sp>
      <p:sp>
        <p:nvSpPr>
          <p:cNvPr id="22" name="Text 19"/>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Гетерогенний </a:t>
            </a:r>
            <a:r>
              <a:rPr lang="en-US" sz="1200" dirty="0" err="1">
                <a:solidFill>
                  <a:srgbClr val="55688F"/>
                </a:solidFill>
                <a:latin typeface="Montserrat" pitchFamily="34" charset="0"/>
                <a:ea typeface="Montserrat" pitchFamily="34" charset="-122"/>
                <a:cs typeface="Montserrat" pitchFamily="34" charset="-120"/>
              </a:rPr>
              <a:t>граф</a:t>
            </a:r>
            <a:r>
              <a:rPr lang="en-US" sz="1200" dirty="0">
                <a:solidFill>
                  <a:srgbClr val="55688F"/>
                </a:solidFill>
                <a:latin typeface="Montserrat" pitchFamily="34" charset="0"/>
                <a:ea typeface="Montserrat" pitchFamily="34" charset="-122"/>
                <a:cs typeface="Montserrat" pitchFamily="34" charset="-120"/>
              </a:rPr>
              <a:t> ·</a:t>
            </a:r>
            <a:endParaRPr lang="en-US" sz="1200" dirty="0">
              <a:latin typeface="Montserrat" charset="0"/>
              <a:ea typeface="Montserrat" charset="0"/>
              <a:cs typeface="Montserrat" charset="0"/>
            </a:endParaRPr>
          </a:p>
        </p:txBody>
      </p:sp>
      <p:sp>
        <p:nvSpPr>
          <p:cNvPr id="23" name="Text 20"/>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5 / 17</a:t>
            </a:r>
            <a:endParaRPr lang="en-US" sz="1200" dirty="0">
              <a:latin typeface="Montserrat" charset="0"/>
              <a:ea typeface="Montserrat" charset="0"/>
              <a:cs typeface="Montserrat"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6</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39"/>
            <a:ext cx="9156700"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ЯК ТОЧКА ЗБИРАЄ ОПИС ВІД СУСІДІВ</a:t>
            </a:r>
            <a:endParaRPr lang="en-US" sz="2600" dirty="0">
              <a:latin typeface="Montserrat" charset="0"/>
              <a:ea typeface="Montserrat" charset="0"/>
              <a:cs typeface="Montserrat" charset="0"/>
            </a:endParaRPr>
          </a:p>
        </p:txBody>
      </p:sp>
      <p:sp>
        <p:nvSpPr>
          <p:cNvPr id="6" name="Text 4"/>
          <p:cNvSpPr/>
          <p:nvPr/>
        </p:nvSpPr>
        <p:spPr>
          <a:xfrm>
            <a:off x="812800" y="1445261"/>
            <a:ext cx="614807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87E"/>
                </a:solidFill>
                <a:latin typeface="Montserrat" pitchFamily="34" charset="0"/>
                <a:ea typeface="Montserrat" pitchFamily="34" charset="-122"/>
                <a:cs typeface="Montserrat" pitchFamily="34" charset="-120"/>
              </a:rPr>
              <a:t>1) Крок проходять усі точки одразу</a:t>
            </a:r>
            <a:endParaRPr lang="en-US" sz="1400" dirty="0">
              <a:latin typeface="Montserrat" charset="0"/>
              <a:ea typeface="Montserrat" charset="0"/>
              <a:cs typeface="Montserrat" charset="0"/>
            </a:endParaRPr>
          </a:p>
        </p:txBody>
      </p:sp>
      <p:sp>
        <p:nvSpPr>
          <p:cNvPr id="7" name="Text 5"/>
          <p:cNvSpPr/>
          <p:nvPr/>
        </p:nvSpPr>
        <p:spPr>
          <a:xfrm>
            <a:off x="812800" y="1696721"/>
            <a:ext cx="61480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F3563"/>
                </a:solidFill>
                <a:latin typeface="Montserrat" pitchFamily="34" charset="0"/>
                <a:ea typeface="Montserrat" pitchFamily="34" charset="-122"/>
                <a:cs typeface="Montserrat" pitchFamily="34" charset="-120"/>
              </a:rPr>
              <a:t>Сусіди телефону N не змінюються: Samsung, «смартфони», «камера». Змінюються числа в їхніх списках.</a:t>
            </a:r>
            <a:endParaRPr lang="en-US" sz="1250" dirty="0">
              <a:latin typeface="Montserrat" charset="0"/>
              <a:ea typeface="Montserrat" charset="0"/>
              <a:cs typeface="Montserrat" charset="0"/>
            </a:endParaRPr>
          </a:p>
        </p:txBody>
      </p:sp>
      <p:sp>
        <p:nvSpPr>
          <p:cNvPr id="8" name="Text 6"/>
          <p:cNvSpPr/>
          <p:nvPr/>
        </p:nvSpPr>
        <p:spPr>
          <a:xfrm>
            <a:off x="812800" y="2280921"/>
            <a:ext cx="614807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87E"/>
                </a:solidFill>
                <a:latin typeface="Montserrat" pitchFamily="34" charset="0"/>
                <a:ea typeface="Montserrat" pitchFamily="34" charset="-122"/>
                <a:cs typeface="Montserrat" pitchFamily="34" charset="-120"/>
              </a:rPr>
              <a:t>2) За один крок новина проходить одну лінію</a:t>
            </a:r>
            <a:endParaRPr lang="en-US" sz="1400" dirty="0">
              <a:latin typeface="Montserrat" charset="0"/>
              <a:ea typeface="Montserrat" charset="0"/>
              <a:cs typeface="Montserrat" charset="0"/>
            </a:endParaRPr>
          </a:p>
        </p:txBody>
      </p:sp>
      <p:sp>
        <p:nvSpPr>
          <p:cNvPr id="9" name="Text 7"/>
          <p:cNvSpPr/>
          <p:nvPr/>
        </p:nvSpPr>
        <p:spPr>
          <a:xfrm>
            <a:off x="812800" y="2532382"/>
            <a:ext cx="61480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F3563"/>
                </a:solidFill>
                <a:latin typeface="Montserrat" pitchFamily="34" charset="0"/>
                <a:ea typeface="Montserrat" pitchFamily="34" charset="-122"/>
                <a:cs typeface="Montserrat" pitchFamily="34" charset="-120"/>
              </a:rPr>
              <a:t>N читає списки сусідів з попереднього кроку, а не ті, що вони рахують просто зараз.</a:t>
            </a:r>
            <a:endParaRPr lang="en-US" sz="1250" dirty="0">
              <a:latin typeface="Montserrat" charset="0"/>
              <a:ea typeface="Montserrat" charset="0"/>
              <a:cs typeface="Montserrat" charset="0"/>
            </a:endParaRPr>
          </a:p>
        </p:txBody>
      </p:sp>
      <p:sp>
        <p:nvSpPr>
          <p:cNvPr id="10" name="Text 8"/>
          <p:cNvSpPr/>
          <p:nvPr/>
        </p:nvSpPr>
        <p:spPr>
          <a:xfrm>
            <a:off x="812800" y="3116582"/>
            <a:ext cx="614807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87E"/>
                </a:solidFill>
                <a:latin typeface="Montserrat" pitchFamily="34" charset="0"/>
                <a:ea typeface="Montserrat" pitchFamily="34" charset="-122"/>
                <a:cs typeface="Montserrat" pitchFamily="34" charset="-120"/>
              </a:rPr>
              <a:t>3) До покупця три лінії, отже три кроки</a:t>
            </a:r>
            <a:endParaRPr lang="en-US" sz="1400" dirty="0">
              <a:latin typeface="Montserrat" charset="0"/>
              <a:ea typeface="Montserrat" charset="0"/>
              <a:cs typeface="Montserrat" charset="0"/>
            </a:endParaRPr>
          </a:p>
        </p:txBody>
      </p:sp>
      <p:sp>
        <p:nvSpPr>
          <p:cNvPr id="11" name="Text 9"/>
          <p:cNvSpPr/>
          <p:nvPr/>
        </p:nvSpPr>
        <p:spPr>
          <a:xfrm>
            <a:off x="812800" y="3368039"/>
            <a:ext cx="61480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F3563"/>
                </a:solidFill>
                <a:latin typeface="Montserrat" pitchFamily="34" charset="0"/>
                <a:ea typeface="Montserrat" pitchFamily="34" charset="-122"/>
                <a:cs typeface="Montserrat" pitchFamily="34" charset="-120"/>
              </a:rPr>
              <a:t>Покупець → старий телефон → Samsung → новий телефон. На третьому кроці N дізнається, хто купував інші телефони цього бренду.</a:t>
            </a:r>
            <a:endParaRPr lang="en-US" sz="1250" dirty="0">
              <a:latin typeface="Montserrat" charset="0"/>
              <a:ea typeface="Montserrat" charset="0"/>
              <a:cs typeface="Montserrat" charset="0"/>
            </a:endParaRPr>
          </a:p>
        </p:txBody>
      </p:sp>
      <p:sp>
        <p:nvSpPr>
          <p:cNvPr id="12" name="Text 10"/>
          <p:cNvSpPr/>
          <p:nvPr/>
        </p:nvSpPr>
        <p:spPr>
          <a:xfrm>
            <a:off x="812800" y="3952239"/>
            <a:ext cx="614807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87E"/>
                </a:solidFill>
                <a:latin typeface="Montserrat" pitchFamily="34" charset="0"/>
                <a:ea typeface="Montserrat" pitchFamily="34" charset="-122"/>
                <a:cs typeface="Montserrat" pitchFamily="34" charset="-120"/>
              </a:rPr>
              <a:t>4) Навчання змінює коефіцієнти, не числа з картки</a:t>
            </a:r>
            <a:endParaRPr lang="en-US" sz="1400" dirty="0">
              <a:latin typeface="Montserrat" charset="0"/>
              <a:ea typeface="Montserrat" charset="0"/>
              <a:cs typeface="Montserrat" charset="0"/>
            </a:endParaRPr>
          </a:p>
        </p:txBody>
      </p:sp>
      <p:sp>
        <p:nvSpPr>
          <p:cNvPr id="13" name="Text 11"/>
          <p:cNvSpPr/>
          <p:nvPr/>
        </p:nvSpPr>
        <p:spPr>
          <a:xfrm>
            <a:off x="812800" y="4203700"/>
            <a:ext cx="61480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F3563"/>
                </a:solidFill>
                <a:latin typeface="Montserrat" pitchFamily="34" charset="0"/>
                <a:ea typeface="Montserrat" pitchFamily="34" charset="-122"/>
                <a:cs typeface="Montserrat" pitchFamily="34" charset="-120"/>
              </a:rPr>
              <a:t>Новий телефон чіпляють до вже наявних точок і один раз проганяють ту саму формулу.</a:t>
            </a:r>
            <a:endParaRPr lang="en-US" sz="1250" dirty="0">
              <a:latin typeface="Montserrat" charset="0"/>
              <a:ea typeface="Montserrat" charset="0"/>
              <a:cs typeface="Montserrat" charset="0"/>
            </a:endParaRPr>
          </a:p>
        </p:txBody>
      </p:sp>
      <p:sp>
        <p:nvSpPr>
          <p:cNvPr id="14" name="Shape 12"/>
          <p:cNvSpPr/>
          <p:nvPr/>
        </p:nvSpPr>
        <p:spPr>
          <a:xfrm>
            <a:off x="7137400" y="1445261"/>
            <a:ext cx="4241800" cy="1115060"/>
          </a:xfrm>
          <a:prstGeom prst="roundRect">
            <a:avLst>
              <a:gd name="adj" fmla="val 11390"/>
            </a:avLst>
          </a:prstGeom>
          <a:solidFill>
            <a:srgbClr val="17387E"/>
          </a:solidFill>
          <a:ln/>
        </p:spPr>
      </p:sp>
      <p:sp>
        <p:nvSpPr>
          <p:cNvPr id="15" name="Text 13"/>
          <p:cNvSpPr/>
          <p:nvPr/>
        </p:nvSpPr>
        <p:spPr>
          <a:xfrm>
            <a:off x="7340600" y="1623061"/>
            <a:ext cx="3950462"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DBDEB"/>
                </a:solidFill>
                <a:latin typeface="Montserrat" pitchFamily="34" charset="0"/>
                <a:ea typeface="Montserrat" pitchFamily="34" charset="-122"/>
                <a:cs typeface="Montserrat" pitchFamily="34" charset="-120"/>
              </a:rPr>
              <a:t>ФОРМУЛА ОДНОГО КРОКУ</a:t>
            </a:r>
            <a:endParaRPr lang="en-US" sz="1200" dirty="0">
              <a:latin typeface="Montserrat" charset="0"/>
              <a:ea typeface="Montserrat" charset="0"/>
              <a:cs typeface="Montserrat" charset="0"/>
            </a:endParaRPr>
          </a:p>
        </p:txBody>
      </p:sp>
      <p:sp>
        <p:nvSpPr>
          <p:cNvPr id="16" name="Text 14"/>
          <p:cNvSpPr/>
          <p:nvPr/>
        </p:nvSpPr>
        <p:spPr>
          <a:xfrm>
            <a:off x="7340600" y="1887221"/>
            <a:ext cx="3950462"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4F7FD"/>
                </a:solidFill>
                <a:latin typeface="Montserrat" pitchFamily="34" charset="0"/>
                <a:ea typeface="Montserrat" pitchFamily="34" charset="-122"/>
                <a:cs typeface="Montserrat" pitchFamily="34" charset="-120"/>
              </a:rPr>
              <a:t>новий опис = (свій старий опис + середнє сусідів) / 2</a:t>
            </a:r>
            <a:endParaRPr lang="en-US" sz="1500" dirty="0">
              <a:latin typeface="Montserrat" charset="0"/>
              <a:ea typeface="Montserrat" charset="0"/>
              <a:cs typeface="Montserrat" charset="0"/>
            </a:endParaRPr>
          </a:p>
        </p:txBody>
      </p:sp>
      <p:sp>
        <p:nvSpPr>
          <p:cNvPr id="17" name="Shape 15"/>
          <p:cNvSpPr/>
          <p:nvPr/>
        </p:nvSpPr>
        <p:spPr>
          <a:xfrm>
            <a:off x="7143750" y="2719071"/>
            <a:ext cx="4229100" cy="3045460"/>
          </a:xfrm>
          <a:prstGeom prst="roundRect">
            <a:avLst>
              <a:gd name="adj" fmla="val 3962"/>
            </a:avLst>
          </a:prstGeom>
          <a:solidFill>
            <a:srgbClr val="FFFFFF"/>
          </a:solidFill>
          <a:ln w="12700">
            <a:solidFill>
              <a:srgbClr val="D5E0F3"/>
            </a:solidFill>
            <a:prstDash val="solid"/>
          </a:ln>
        </p:spPr>
      </p:sp>
      <p:sp>
        <p:nvSpPr>
          <p:cNvPr id="18" name="Text 16"/>
          <p:cNvSpPr/>
          <p:nvPr/>
        </p:nvSpPr>
        <p:spPr>
          <a:xfrm>
            <a:off x="7918902" y="2875282"/>
            <a:ext cx="2678716"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5688F"/>
                </a:solidFill>
                <a:latin typeface="Montserrat" pitchFamily="34" charset="0"/>
                <a:ea typeface="Montserrat" pitchFamily="34" charset="-122"/>
                <a:cs typeface="Montserrat" pitchFamily="34" charset="-120"/>
              </a:rPr>
              <a:t>Шлях новини за три кроки</a:t>
            </a:r>
            <a:endParaRPr lang="en-US" sz="1200" dirty="0">
              <a:latin typeface="Montserrat" charset="0"/>
              <a:ea typeface="Montserrat" charset="0"/>
              <a:cs typeface="Montserrat" charset="0"/>
            </a:endParaRPr>
          </a:p>
        </p:txBody>
      </p:sp>
      <p:sp>
        <p:nvSpPr>
          <p:cNvPr id="19" name="Text 17"/>
          <p:cNvSpPr/>
          <p:nvPr/>
        </p:nvSpPr>
        <p:spPr>
          <a:xfrm>
            <a:off x="8635921" y="3158489"/>
            <a:ext cx="1244759" cy="340360"/>
          </a:xfrm>
          <a:prstGeom prst="roundRect">
            <a:avLst>
              <a:gd name="adj" fmla="val 50000"/>
            </a:avLst>
          </a:prstGeom>
          <a:solidFill>
            <a:srgbClr val="FFFFFF"/>
          </a:solidFill>
          <a:ln w="12700">
            <a:solidFill>
              <a:srgbClr val="8DAFE0"/>
            </a:solidFill>
            <a:prstDash val="solid"/>
          </a:ln>
        </p:spPr>
        <p:txBody>
          <a:bodyPr wrap="none" lIns="0" tIns="0" rIns="0" bIns="0" rtlCol="0" anchor="ctr">
            <a:normAutofit/>
          </a:bodyPr>
          <a:lstStyle/>
          <a:p>
            <a:pPr marL="0" indent="0" algn="ctr">
              <a:lnSpc>
                <a:spcPts val="1820"/>
              </a:lnSpc>
              <a:buNone/>
            </a:pPr>
            <a:r>
              <a:rPr lang="en-US" sz="1300" b="1" dirty="0">
                <a:solidFill>
                  <a:srgbClr val="17387E"/>
                </a:solidFill>
                <a:latin typeface="Montserrat" pitchFamily="34" charset="0"/>
                <a:ea typeface="Montserrat" pitchFamily="34" charset="-122"/>
                <a:cs typeface="Montserrat" pitchFamily="34" charset="-120"/>
              </a:rPr>
              <a:t>Покупець</a:t>
            </a:r>
            <a:endParaRPr lang="en-US" sz="1300" dirty="0">
              <a:latin typeface="Montserrat" charset="0"/>
              <a:ea typeface="Montserrat" charset="0"/>
              <a:cs typeface="Montserrat" charset="0"/>
            </a:endParaRPr>
          </a:p>
        </p:txBody>
      </p:sp>
      <p:pic>
        <p:nvPicPr>
          <p:cNvPr id="20" name="Image 0" descr="arrow-down"/>
          <p:cNvPicPr>
            <a:picLocks noChangeAspect="1"/>
          </p:cNvPicPr>
          <p:nvPr/>
        </p:nvPicPr>
        <p:blipFill>
          <a:blip r:embed="rId3"/>
          <a:srcRect/>
          <a:stretch/>
        </p:blipFill>
        <p:spPr>
          <a:xfrm>
            <a:off x="9169400" y="3568700"/>
            <a:ext cx="177800" cy="241300"/>
          </a:xfrm>
          <a:prstGeom prst="rect">
            <a:avLst/>
          </a:prstGeom>
        </p:spPr>
      </p:pic>
      <p:sp>
        <p:nvSpPr>
          <p:cNvPr id="21" name="Text 18"/>
          <p:cNvSpPr/>
          <p:nvPr/>
        </p:nvSpPr>
        <p:spPr>
          <a:xfrm>
            <a:off x="8345408" y="3873500"/>
            <a:ext cx="1825784" cy="332740"/>
          </a:xfrm>
          <a:prstGeom prst="roundRect">
            <a:avLst>
              <a:gd name="adj" fmla="val 50000"/>
            </a:avLst>
          </a:prstGeom>
          <a:solidFill>
            <a:srgbClr val="9DBDEB"/>
          </a:solidFill>
          <a:ln/>
        </p:spPr>
        <p:txBody>
          <a:bodyPr wrap="none" lIns="0" tIns="0" rIns="0" bIns="0" rtlCol="0" anchor="ctr">
            <a:normAutofit/>
          </a:bodyPr>
          <a:lstStyle/>
          <a:p>
            <a:pPr marL="0" indent="0" algn="ctr">
              <a:lnSpc>
                <a:spcPts val="1820"/>
              </a:lnSpc>
              <a:buNone/>
            </a:pPr>
            <a:r>
              <a:rPr lang="en-US" sz="1300" b="1" dirty="0">
                <a:solidFill>
                  <a:srgbClr val="17387E"/>
                </a:solidFill>
                <a:latin typeface="Montserrat" pitchFamily="34" charset="0"/>
                <a:ea typeface="Montserrat" pitchFamily="34" charset="-122"/>
                <a:cs typeface="Montserrat" pitchFamily="34" charset="-120"/>
              </a:rPr>
              <a:t>Старий телефон</a:t>
            </a:r>
            <a:endParaRPr lang="en-US" sz="1300" dirty="0">
              <a:latin typeface="Montserrat" charset="0"/>
              <a:ea typeface="Montserrat" charset="0"/>
              <a:cs typeface="Montserrat" charset="0"/>
            </a:endParaRPr>
          </a:p>
        </p:txBody>
      </p:sp>
      <p:pic>
        <p:nvPicPr>
          <p:cNvPr id="22" name="Image 1" descr="arrow-down"/>
          <p:cNvPicPr>
            <a:picLocks noChangeAspect="1"/>
          </p:cNvPicPr>
          <p:nvPr/>
        </p:nvPicPr>
        <p:blipFill>
          <a:blip r:embed="rId3"/>
          <a:srcRect/>
          <a:stretch/>
        </p:blipFill>
        <p:spPr>
          <a:xfrm>
            <a:off x="9169400" y="4269739"/>
            <a:ext cx="177800" cy="241300"/>
          </a:xfrm>
          <a:prstGeom prst="rect">
            <a:avLst/>
          </a:prstGeom>
        </p:spPr>
      </p:pic>
      <p:sp>
        <p:nvSpPr>
          <p:cNvPr id="23" name="Text 19"/>
          <p:cNvSpPr/>
          <p:nvPr/>
        </p:nvSpPr>
        <p:spPr>
          <a:xfrm>
            <a:off x="8674577" y="4574539"/>
            <a:ext cx="1167448" cy="332740"/>
          </a:xfrm>
          <a:prstGeom prst="roundRect">
            <a:avLst>
              <a:gd name="adj" fmla="val 50000"/>
            </a:avLst>
          </a:prstGeom>
          <a:solidFill>
            <a:srgbClr val="17387E"/>
          </a:solidFill>
          <a:ln/>
        </p:spPr>
        <p:txBody>
          <a:bodyPr wrap="none" lIns="0" tIns="0" rIns="0" bIns="0" rtlCol="0" anchor="ctr">
            <a:normAutofit/>
          </a:bodyPr>
          <a:lstStyle/>
          <a:p>
            <a:pPr marL="0" indent="0" algn="ctr">
              <a:lnSpc>
                <a:spcPts val="1820"/>
              </a:lnSpc>
              <a:buNone/>
            </a:pPr>
            <a:r>
              <a:rPr lang="en-US" sz="1300" b="1" dirty="0">
                <a:solidFill>
                  <a:srgbClr val="F4F7FD"/>
                </a:solidFill>
                <a:latin typeface="Montserrat" pitchFamily="34" charset="0"/>
                <a:ea typeface="Montserrat" pitchFamily="34" charset="-122"/>
                <a:cs typeface="Montserrat" pitchFamily="34" charset="-120"/>
              </a:rPr>
              <a:t>Samsung</a:t>
            </a:r>
            <a:endParaRPr lang="en-US" sz="1300" dirty="0">
              <a:latin typeface="Montserrat" charset="0"/>
              <a:ea typeface="Montserrat" charset="0"/>
              <a:cs typeface="Montserrat" charset="0"/>
            </a:endParaRPr>
          </a:p>
        </p:txBody>
      </p:sp>
      <p:pic>
        <p:nvPicPr>
          <p:cNvPr id="24" name="Image 2" descr="arrow-down"/>
          <p:cNvPicPr>
            <a:picLocks noChangeAspect="1"/>
          </p:cNvPicPr>
          <p:nvPr/>
        </p:nvPicPr>
        <p:blipFill>
          <a:blip r:embed="rId4"/>
          <a:srcRect/>
          <a:stretch/>
        </p:blipFill>
        <p:spPr>
          <a:xfrm>
            <a:off x="9169400" y="4970782"/>
            <a:ext cx="177800" cy="241300"/>
          </a:xfrm>
          <a:prstGeom prst="rect">
            <a:avLst/>
          </a:prstGeom>
        </p:spPr>
      </p:pic>
      <p:sp>
        <p:nvSpPr>
          <p:cNvPr id="25" name="Text 20"/>
          <p:cNvSpPr/>
          <p:nvPr/>
        </p:nvSpPr>
        <p:spPr>
          <a:xfrm>
            <a:off x="8382635" y="5275582"/>
            <a:ext cx="1751251" cy="332740"/>
          </a:xfrm>
          <a:prstGeom prst="roundRect">
            <a:avLst>
              <a:gd name="adj" fmla="val 50000"/>
            </a:avLst>
          </a:prstGeom>
          <a:solidFill>
            <a:srgbClr val="F2A65A"/>
          </a:solidFill>
          <a:ln/>
        </p:spPr>
        <p:txBody>
          <a:bodyPr wrap="none" lIns="0" tIns="0" rIns="0" bIns="0" rtlCol="0" anchor="ctr">
            <a:normAutofit/>
          </a:bodyPr>
          <a:lstStyle/>
          <a:p>
            <a:pPr marL="0" indent="0" algn="ctr">
              <a:lnSpc>
                <a:spcPts val="1820"/>
              </a:lnSpc>
              <a:buNone/>
            </a:pPr>
            <a:r>
              <a:rPr lang="en-US" sz="1300" b="1" dirty="0">
                <a:solidFill>
                  <a:srgbClr val="3A1F00"/>
                </a:solidFill>
                <a:latin typeface="Montserrat" pitchFamily="34" charset="0"/>
                <a:ea typeface="Montserrat" pitchFamily="34" charset="-122"/>
                <a:cs typeface="Montserrat" pitchFamily="34" charset="-120"/>
              </a:rPr>
              <a:t>Новий телефон</a:t>
            </a:r>
            <a:endParaRPr lang="en-US" sz="1300" dirty="0">
              <a:latin typeface="Montserrat" charset="0"/>
              <a:ea typeface="Montserrat" charset="0"/>
              <a:cs typeface="Montserrat" charset="0"/>
            </a:endParaRPr>
          </a:p>
        </p:txBody>
      </p:sp>
      <p:sp>
        <p:nvSpPr>
          <p:cNvPr id="26" name="Text 21"/>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Message passing ·</a:t>
            </a:r>
            <a:endParaRPr lang="en-US" sz="1200" dirty="0">
              <a:latin typeface="Montserrat" charset="0"/>
              <a:ea typeface="Montserrat" charset="0"/>
              <a:cs typeface="Montserrat" charset="0"/>
            </a:endParaRPr>
          </a:p>
        </p:txBody>
      </p:sp>
      <p:sp>
        <p:nvSpPr>
          <p:cNvPr id="27" name="Text 22"/>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6 / 17</a:t>
            </a:r>
            <a:endParaRPr lang="en-US" sz="1200" dirty="0">
              <a:latin typeface="Montserrat" charset="0"/>
              <a:ea typeface="Montserrat" charset="0"/>
              <a:cs typeface="Montserrat"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7</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39"/>
            <a:ext cx="9156700" cy="75184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ПРИНЦИП РОБОТИ, СИЛЬНІ Й СЛАБКІ СТОРОНИ GNN-МОДЕЛЕЙ</a:t>
            </a:r>
            <a:endParaRPr lang="en-US" sz="2600" dirty="0">
              <a:latin typeface="Montserrat" charset="0"/>
              <a:ea typeface="Montserrat" charset="0"/>
              <a:cs typeface="Montserrat" charset="0"/>
            </a:endParaRPr>
          </a:p>
        </p:txBody>
      </p:sp>
      <p:sp>
        <p:nvSpPr>
          <p:cNvPr id="6" name="Shape 4"/>
          <p:cNvSpPr/>
          <p:nvPr/>
        </p:nvSpPr>
        <p:spPr>
          <a:xfrm>
            <a:off x="819150" y="1764032"/>
            <a:ext cx="3424714" cy="3787140"/>
          </a:xfrm>
          <a:prstGeom prst="roundRect">
            <a:avLst>
              <a:gd name="adj" fmla="val 3523"/>
            </a:avLst>
          </a:prstGeom>
          <a:solidFill>
            <a:srgbClr val="FFFFFF"/>
          </a:solidFill>
          <a:ln w="12700">
            <a:solidFill>
              <a:srgbClr val="D5E0F3"/>
            </a:solidFill>
            <a:prstDash val="solid"/>
          </a:ln>
        </p:spPr>
      </p:sp>
      <p:sp>
        <p:nvSpPr>
          <p:cNvPr id="7" name="Text 5"/>
          <p:cNvSpPr/>
          <p:nvPr/>
        </p:nvSpPr>
        <p:spPr>
          <a:xfrm>
            <a:off x="962660" y="1882139"/>
            <a:ext cx="3231825" cy="4521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87E"/>
                </a:solidFill>
                <a:latin typeface="Montserrat" pitchFamily="34" charset="0"/>
                <a:ea typeface="Montserrat" pitchFamily="34" charset="-122"/>
                <a:cs typeface="Montserrat" pitchFamily="34" charset="-120"/>
              </a:rPr>
              <a:t>1) GraphSAGE </a:t>
            </a:r>
            <a:r>
              <a:rPr lang="en-US" sz="1400" b="1" dirty="0">
                <a:solidFill>
                  <a:srgbClr val="3F6BC4"/>
                </a:solidFill>
                <a:latin typeface="Montserrat" pitchFamily="34" charset="0"/>
                <a:ea typeface="Montserrat" pitchFamily="34" charset="-122"/>
                <a:cs typeface="Montserrat" pitchFamily="34" charset="-120"/>
              </a:rPr>
              <a:t>(SAmple and aggreGAtion)</a:t>
            </a:r>
            <a:endParaRPr lang="en-US" sz="1400" dirty="0">
              <a:latin typeface="Montserrat" charset="0"/>
              <a:ea typeface="Montserrat" charset="0"/>
              <a:cs typeface="Montserrat" charset="0"/>
            </a:endParaRPr>
          </a:p>
        </p:txBody>
      </p:sp>
      <p:sp>
        <p:nvSpPr>
          <p:cNvPr id="8" name="Text 6"/>
          <p:cNvSpPr/>
          <p:nvPr/>
        </p:nvSpPr>
        <p:spPr>
          <a:xfrm>
            <a:off x="962660" y="2359661"/>
            <a:ext cx="3231825" cy="141224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7387E"/>
                </a:solidFill>
                <a:latin typeface="Montserrat" pitchFamily="34" charset="0"/>
                <a:ea typeface="Montserrat" pitchFamily="34" charset="-122"/>
                <a:cs typeface="Montserrat" pitchFamily="34" charset="-120"/>
              </a:rPr>
              <a:t>Принцип роботи:</a:t>
            </a:r>
            <a:r>
              <a:rPr lang="en-US" sz="1200" dirty="0">
                <a:solidFill>
                  <a:srgbClr val="1F3563"/>
                </a:solidFill>
                <a:latin typeface="Montserrat" pitchFamily="34" charset="0"/>
                <a:ea typeface="Montserrat" pitchFamily="34" charset="-122"/>
                <a:cs typeface="Montserrat" pitchFamily="34" charset="-120"/>
              </a:rPr>
              <a:t> Для кожного вузла випадковим чином семплюється фіксована кількість сусідів (1-го, 2-го порядку тощо), після чого їхні фічі агрегуються (через Mean, LSTM або Pooling). Навчає функції агрегації, а не самі ембеддинги.</a:t>
            </a:r>
            <a:endParaRPr lang="en-US" sz="1200" dirty="0">
              <a:latin typeface="Montserrat" charset="0"/>
              <a:ea typeface="Montserrat" charset="0"/>
              <a:cs typeface="Montserrat" charset="0"/>
            </a:endParaRPr>
          </a:p>
        </p:txBody>
      </p:sp>
      <p:sp>
        <p:nvSpPr>
          <p:cNvPr id="9" name="Text 7"/>
          <p:cNvSpPr/>
          <p:nvPr/>
        </p:nvSpPr>
        <p:spPr>
          <a:xfrm>
            <a:off x="962660" y="3797300"/>
            <a:ext cx="3231825" cy="81788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7387E"/>
                </a:solidFill>
                <a:latin typeface="Montserrat" pitchFamily="34" charset="0"/>
                <a:ea typeface="Montserrat" pitchFamily="34" charset="-122"/>
                <a:cs typeface="Montserrat" pitchFamily="34" charset="-120"/>
              </a:rPr>
              <a:t>Сильні сторони:</a:t>
            </a:r>
            <a:r>
              <a:rPr lang="en-US" sz="1200" dirty="0">
                <a:solidFill>
                  <a:srgbClr val="1F3563"/>
                </a:solidFill>
                <a:latin typeface="Montserrat" pitchFamily="34" charset="0"/>
                <a:ea typeface="Montserrat" pitchFamily="34" charset="-122"/>
                <a:cs typeface="Montserrat" pitchFamily="34" charset="-120"/>
              </a:rPr>
              <a:t> Висока масштабованість на великих графах; підтримує індуктивне навчання (легко обробляє нові вузли).</a:t>
            </a:r>
            <a:endParaRPr lang="en-US" sz="1200" dirty="0">
              <a:latin typeface="Montserrat" charset="0"/>
              <a:ea typeface="Montserrat" charset="0"/>
              <a:cs typeface="Montserrat" charset="0"/>
            </a:endParaRPr>
          </a:p>
        </p:txBody>
      </p:sp>
      <p:sp>
        <p:nvSpPr>
          <p:cNvPr id="10" name="Text 8"/>
          <p:cNvSpPr/>
          <p:nvPr/>
        </p:nvSpPr>
        <p:spPr>
          <a:xfrm>
            <a:off x="962660" y="4640582"/>
            <a:ext cx="3231825" cy="81788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7387E"/>
                </a:solidFill>
                <a:latin typeface="Montserrat" pitchFamily="34" charset="0"/>
                <a:ea typeface="Montserrat" pitchFamily="34" charset="-122"/>
                <a:cs typeface="Montserrat" pitchFamily="34" charset="-120"/>
              </a:rPr>
              <a:t>Слабкі сторони:</a:t>
            </a:r>
            <a:r>
              <a:rPr lang="en-US" sz="1200" dirty="0">
                <a:solidFill>
                  <a:srgbClr val="1F3563"/>
                </a:solidFill>
                <a:latin typeface="Montserrat" pitchFamily="34" charset="0"/>
                <a:ea typeface="Montserrat" pitchFamily="34" charset="-122"/>
                <a:cs typeface="Montserrat" pitchFamily="34" charset="-120"/>
              </a:rPr>
              <a:t> Можлива втрата контексту через випадковий вибір сусідів замість урахування всього оточення.</a:t>
            </a:r>
            <a:endParaRPr lang="en-US" sz="1200" dirty="0">
              <a:latin typeface="Montserrat" charset="0"/>
              <a:ea typeface="Montserrat" charset="0"/>
              <a:cs typeface="Montserrat" charset="0"/>
            </a:endParaRPr>
          </a:p>
        </p:txBody>
      </p:sp>
      <p:sp>
        <p:nvSpPr>
          <p:cNvPr id="11" name="Shape 9"/>
          <p:cNvSpPr/>
          <p:nvPr/>
        </p:nvSpPr>
        <p:spPr>
          <a:xfrm>
            <a:off x="4383564" y="1764032"/>
            <a:ext cx="3424793" cy="3787140"/>
          </a:xfrm>
          <a:prstGeom prst="roundRect">
            <a:avLst>
              <a:gd name="adj" fmla="val 3523"/>
            </a:avLst>
          </a:prstGeom>
          <a:solidFill>
            <a:srgbClr val="FFFFFF"/>
          </a:solidFill>
          <a:ln w="12700">
            <a:solidFill>
              <a:srgbClr val="D5E0F3"/>
            </a:solidFill>
            <a:prstDash val="solid"/>
          </a:ln>
        </p:spPr>
      </p:sp>
      <p:sp>
        <p:nvSpPr>
          <p:cNvPr id="12" name="Text 10"/>
          <p:cNvSpPr/>
          <p:nvPr/>
        </p:nvSpPr>
        <p:spPr>
          <a:xfrm>
            <a:off x="4527074" y="1882139"/>
            <a:ext cx="3231906" cy="4521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87E"/>
                </a:solidFill>
                <a:latin typeface="Montserrat" pitchFamily="34" charset="0"/>
                <a:ea typeface="Montserrat" pitchFamily="34" charset="-122"/>
                <a:cs typeface="Montserrat" pitchFamily="34" charset="-120"/>
              </a:rPr>
              <a:t>2) GAT </a:t>
            </a:r>
            <a:r>
              <a:rPr lang="en-US" sz="1400" b="1" dirty="0">
                <a:solidFill>
                  <a:srgbClr val="3F6BC4"/>
                </a:solidFill>
                <a:latin typeface="Montserrat" pitchFamily="34" charset="0"/>
                <a:ea typeface="Montserrat" pitchFamily="34" charset="-122"/>
                <a:cs typeface="Montserrat" pitchFamily="34" charset="-120"/>
              </a:rPr>
              <a:t>(Graph Attention Network)</a:t>
            </a:r>
            <a:endParaRPr lang="en-US" sz="1400" dirty="0">
              <a:latin typeface="Montserrat" charset="0"/>
              <a:ea typeface="Montserrat" charset="0"/>
              <a:cs typeface="Montserrat" charset="0"/>
            </a:endParaRPr>
          </a:p>
        </p:txBody>
      </p:sp>
      <p:sp>
        <p:nvSpPr>
          <p:cNvPr id="13" name="Text 11"/>
          <p:cNvSpPr/>
          <p:nvPr/>
        </p:nvSpPr>
        <p:spPr>
          <a:xfrm>
            <a:off x="4527074" y="2359661"/>
            <a:ext cx="3231906" cy="121412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7387E"/>
                </a:solidFill>
                <a:latin typeface="Montserrat" pitchFamily="34" charset="0"/>
                <a:ea typeface="Montserrat" pitchFamily="34" charset="-122"/>
                <a:cs typeface="Montserrat" pitchFamily="34" charset="-120"/>
              </a:rPr>
              <a:t>Принцип роботи:</a:t>
            </a:r>
            <a:r>
              <a:rPr lang="en-US" sz="1200" dirty="0">
                <a:solidFill>
                  <a:srgbClr val="1F3563"/>
                </a:solidFill>
                <a:latin typeface="Montserrat" pitchFamily="34" charset="0"/>
                <a:ea typeface="Montserrat" pitchFamily="34" charset="-122"/>
                <a:cs typeface="Montserrat" pitchFamily="34" charset="-120"/>
              </a:rPr>
              <a:t> Використовує механізм Self-Attention для розрахунку динамічних ваг сусідів. Вплив кожного сусіда визначається тим, наскільки його атрибути важливі для поточного вузла.</a:t>
            </a:r>
            <a:endParaRPr lang="en-US" sz="1200" dirty="0">
              <a:latin typeface="Montserrat" charset="0"/>
              <a:ea typeface="Montserrat" charset="0"/>
              <a:cs typeface="Montserrat" charset="0"/>
            </a:endParaRPr>
          </a:p>
        </p:txBody>
      </p:sp>
      <p:sp>
        <p:nvSpPr>
          <p:cNvPr id="14" name="Text 12"/>
          <p:cNvSpPr/>
          <p:nvPr/>
        </p:nvSpPr>
        <p:spPr>
          <a:xfrm>
            <a:off x="4527074" y="3599182"/>
            <a:ext cx="3231906" cy="61976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7387E"/>
                </a:solidFill>
                <a:latin typeface="Montserrat" pitchFamily="34" charset="0"/>
                <a:ea typeface="Montserrat" pitchFamily="34" charset="-122"/>
                <a:cs typeface="Montserrat" pitchFamily="34" charset="-120"/>
              </a:rPr>
              <a:t>Сильні сторони:</a:t>
            </a:r>
            <a:r>
              <a:rPr lang="en-US" sz="1200" dirty="0">
                <a:solidFill>
                  <a:srgbClr val="1F3563"/>
                </a:solidFill>
                <a:latin typeface="Montserrat" pitchFamily="34" charset="0"/>
                <a:ea typeface="Montserrat" pitchFamily="34" charset="-122"/>
                <a:cs typeface="Montserrat" pitchFamily="34" charset="-120"/>
              </a:rPr>
              <a:t> Висока точність; адаптивність до важливості окремих зв’язків у графі.</a:t>
            </a:r>
            <a:endParaRPr lang="en-US" sz="1200" dirty="0">
              <a:latin typeface="Montserrat" charset="0"/>
              <a:ea typeface="Montserrat" charset="0"/>
              <a:cs typeface="Montserrat" charset="0"/>
            </a:endParaRPr>
          </a:p>
        </p:txBody>
      </p:sp>
      <p:sp>
        <p:nvSpPr>
          <p:cNvPr id="15" name="Text 13"/>
          <p:cNvSpPr/>
          <p:nvPr/>
        </p:nvSpPr>
        <p:spPr>
          <a:xfrm>
            <a:off x="4527074" y="4244339"/>
            <a:ext cx="3231906" cy="81788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7387E"/>
                </a:solidFill>
                <a:latin typeface="Montserrat" pitchFamily="34" charset="0"/>
                <a:ea typeface="Montserrat" pitchFamily="34" charset="-122"/>
                <a:cs typeface="Montserrat" pitchFamily="34" charset="-120"/>
              </a:rPr>
              <a:t>Слабкі сторони:</a:t>
            </a:r>
            <a:r>
              <a:rPr lang="en-US" sz="1200" dirty="0">
                <a:solidFill>
                  <a:srgbClr val="1F3563"/>
                </a:solidFill>
                <a:latin typeface="Montserrat" pitchFamily="34" charset="0"/>
                <a:ea typeface="Montserrat" pitchFamily="34" charset="-122"/>
                <a:cs typeface="Montserrat" pitchFamily="34" charset="-120"/>
              </a:rPr>
              <a:t> Високі обчислювальні витрати O(|V| + |E|) та високі вимоги до пам’яті через матриці уваги.</a:t>
            </a:r>
            <a:endParaRPr lang="en-US" sz="1200" dirty="0">
              <a:latin typeface="Montserrat" charset="0"/>
              <a:ea typeface="Montserrat" charset="0"/>
              <a:cs typeface="Montserrat" charset="0"/>
            </a:endParaRPr>
          </a:p>
        </p:txBody>
      </p:sp>
      <p:sp>
        <p:nvSpPr>
          <p:cNvPr id="16" name="Shape 14"/>
          <p:cNvSpPr/>
          <p:nvPr/>
        </p:nvSpPr>
        <p:spPr>
          <a:xfrm>
            <a:off x="7948057" y="1764032"/>
            <a:ext cx="3424793" cy="3787140"/>
          </a:xfrm>
          <a:prstGeom prst="roundRect">
            <a:avLst>
              <a:gd name="adj" fmla="val 3523"/>
            </a:avLst>
          </a:prstGeom>
          <a:solidFill>
            <a:srgbClr val="FFFFFF"/>
          </a:solidFill>
          <a:ln w="12700">
            <a:solidFill>
              <a:srgbClr val="D5E0F3"/>
            </a:solidFill>
            <a:prstDash val="solid"/>
          </a:ln>
        </p:spPr>
      </p:sp>
      <p:sp>
        <p:nvSpPr>
          <p:cNvPr id="17" name="Text 15"/>
          <p:cNvSpPr/>
          <p:nvPr/>
        </p:nvSpPr>
        <p:spPr>
          <a:xfrm>
            <a:off x="8091567" y="1882139"/>
            <a:ext cx="3231906" cy="4521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87E"/>
                </a:solidFill>
                <a:latin typeface="Montserrat" pitchFamily="34" charset="0"/>
                <a:ea typeface="Montserrat" pitchFamily="34" charset="-122"/>
                <a:cs typeface="Montserrat" pitchFamily="34" charset="-120"/>
              </a:rPr>
              <a:t>3) LightGCN </a:t>
            </a:r>
            <a:r>
              <a:rPr lang="en-US" sz="1400" b="1" dirty="0">
                <a:solidFill>
                  <a:srgbClr val="3F6BC4"/>
                </a:solidFill>
                <a:latin typeface="Montserrat" pitchFamily="34" charset="0"/>
                <a:ea typeface="Montserrat" pitchFamily="34" charset="-122"/>
                <a:cs typeface="Montserrat" pitchFamily="34" charset="-120"/>
              </a:rPr>
              <a:t>(Light Graph Convolutional Network)</a:t>
            </a:r>
            <a:endParaRPr lang="en-US" sz="1400" dirty="0">
              <a:latin typeface="Montserrat" charset="0"/>
              <a:ea typeface="Montserrat" charset="0"/>
              <a:cs typeface="Montserrat" charset="0"/>
            </a:endParaRPr>
          </a:p>
        </p:txBody>
      </p:sp>
      <p:sp>
        <p:nvSpPr>
          <p:cNvPr id="18" name="Text 16"/>
          <p:cNvSpPr/>
          <p:nvPr/>
        </p:nvSpPr>
        <p:spPr>
          <a:xfrm>
            <a:off x="8091567" y="2359661"/>
            <a:ext cx="3231906" cy="121412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7387E"/>
                </a:solidFill>
                <a:latin typeface="Montserrat" pitchFamily="34" charset="0"/>
                <a:ea typeface="Montserrat" pitchFamily="34" charset="-122"/>
                <a:cs typeface="Montserrat" pitchFamily="34" charset="-120"/>
              </a:rPr>
              <a:t>Принцип роботи:</a:t>
            </a:r>
            <a:r>
              <a:rPr lang="en-US" sz="1200" dirty="0">
                <a:solidFill>
                  <a:srgbClr val="1F3563"/>
                </a:solidFill>
                <a:latin typeface="Montserrat" pitchFamily="34" charset="0"/>
                <a:ea typeface="Montserrat" pitchFamily="34" charset="-122"/>
                <a:cs typeface="Montserrat" pitchFamily="34" charset="-120"/>
              </a:rPr>
              <a:t> Спрощена модель для рекомендаційних систем. Вилучено нелінійні активації та вагові матриці W. Ембеддинги формуються як зважена сума векторів сусідів на різних шарах.</a:t>
            </a:r>
            <a:endParaRPr lang="en-US" sz="1200" dirty="0">
              <a:latin typeface="Montserrat" charset="0"/>
              <a:ea typeface="Montserrat" charset="0"/>
              <a:cs typeface="Montserrat" charset="0"/>
            </a:endParaRPr>
          </a:p>
        </p:txBody>
      </p:sp>
      <p:sp>
        <p:nvSpPr>
          <p:cNvPr id="19" name="Text 17"/>
          <p:cNvSpPr/>
          <p:nvPr/>
        </p:nvSpPr>
        <p:spPr>
          <a:xfrm>
            <a:off x="8091567" y="3599182"/>
            <a:ext cx="3231906" cy="81788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7387E"/>
                </a:solidFill>
                <a:latin typeface="Montserrat" pitchFamily="34" charset="0"/>
                <a:ea typeface="Montserrat" pitchFamily="34" charset="-122"/>
                <a:cs typeface="Montserrat" pitchFamily="34" charset="-120"/>
              </a:rPr>
              <a:t>Сильні сторони:</a:t>
            </a:r>
            <a:r>
              <a:rPr lang="en-US" sz="1200" dirty="0">
                <a:solidFill>
                  <a:srgbClr val="1F3563"/>
                </a:solidFill>
                <a:latin typeface="Montserrat" pitchFamily="34" charset="0"/>
                <a:ea typeface="Montserrat" pitchFamily="34" charset="-122"/>
                <a:cs typeface="Montserrat" pitchFamily="34" charset="-120"/>
              </a:rPr>
              <a:t> Дуже швидке навчання; висока точність у задачах коллаборативної фільтрації (User-Item graphs).</a:t>
            </a:r>
            <a:endParaRPr lang="en-US" sz="1200" dirty="0">
              <a:latin typeface="Montserrat" charset="0"/>
              <a:ea typeface="Montserrat" charset="0"/>
              <a:cs typeface="Montserrat" charset="0"/>
            </a:endParaRPr>
          </a:p>
        </p:txBody>
      </p:sp>
      <p:sp>
        <p:nvSpPr>
          <p:cNvPr id="20" name="Text 18"/>
          <p:cNvSpPr/>
          <p:nvPr/>
        </p:nvSpPr>
        <p:spPr>
          <a:xfrm>
            <a:off x="8091567" y="4442461"/>
            <a:ext cx="3231906" cy="61976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7387E"/>
                </a:solidFill>
                <a:latin typeface="Montserrat" pitchFamily="34" charset="0"/>
                <a:ea typeface="Montserrat" pitchFamily="34" charset="-122"/>
                <a:cs typeface="Montserrat" pitchFamily="34" charset="-120"/>
              </a:rPr>
              <a:t>Слабкі сторони:</a:t>
            </a:r>
            <a:r>
              <a:rPr lang="en-US" sz="1200" dirty="0">
                <a:solidFill>
                  <a:srgbClr val="1F3563"/>
                </a:solidFill>
                <a:latin typeface="Montserrat" pitchFamily="34" charset="0"/>
                <a:ea typeface="Montserrat" pitchFamily="34" charset="-122"/>
                <a:cs typeface="Montserrat" pitchFamily="34" charset="-120"/>
              </a:rPr>
              <a:t> Повністю залежить від ID вузлів і не використовує додаткові атрибути (Node Features).</a:t>
            </a:r>
            <a:endParaRPr lang="en-US" sz="1200" dirty="0">
              <a:latin typeface="Montserrat" charset="0"/>
              <a:ea typeface="Montserrat" charset="0"/>
              <a:cs typeface="Montserrat" charset="0"/>
            </a:endParaRPr>
          </a:p>
        </p:txBody>
      </p:sp>
      <p:sp>
        <p:nvSpPr>
          <p:cNvPr id="21" name="Text 19"/>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Моделі GNN ·</a:t>
            </a:r>
            <a:endParaRPr lang="en-US" sz="1200" dirty="0">
              <a:latin typeface="Montserrat" charset="0"/>
              <a:ea typeface="Montserrat" charset="0"/>
              <a:cs typeface="Montserrat" charset="0"/>
            </a:endParaRPr>
          </a:p>
        </p:txBody>
      </p:sp>
      <p:sp>
        <p:nvSpPr>
          <p:cNvPr id="22" name="Text 20"/>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7 / 17</a:t>
            </a:r>
            <a:endParaRPr lang="en-US" sz="1200" dirty="0">
              <a:latin typeface="Montserrat" charset="0"/>
              <a:ea typeface="Montserrat" charset="0"/>
              <a:cs typeface="Montserrat"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8</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39"/>
            <a:ext cx="9156700"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ДАТАСЕТИ ДАНИХ</a:t>
            </a:r>
            <a:endParaRPr lang="en-US" sz="2600" dirty="0">
              <a:latin typeface="Montserrat" charset="0"/>
              <a:ea typeface="Montserrat" charset="0"/>
              <a:cs typeface="Montserrat" charset="0"/>
            </a:endParaRPr>
          </a:p>
        </p:txBody>
      </p:sp>
      <p:sp>
        <p:nvSpPr>
          <p:cNvPr id="6" name="Shape 4"/>
          <p:cNvSpPr/>
          <p:nvPr/>
        </p:nvSpPr>
        <p:spPr>
          <a:xfrm>
            <a:off x="819150" y="1502411"/>
            <a:ext cx="3397647" cy="2479040"/>
          </a:xfrm>
          <a:prstGeom prst="roundRect">
            <a:avLst>
              <a:gd name="adj" fmla="val 5891"/>
            </a:avLst>
          </a:prstGeom>
          <a:solidFill>
            <a:srgbClr val="FFFFFF"/>
          </a:solidFill>
          <a:ln w="12700">
            <a:solidFill>
              <a:srgbClr val="D5E0F3"/>
            </a:solidFill>
            <a:prstDash val="solid"/>
          </a:ln>
        </p:spPr>
      </p:sp>
      <p:pic>
        <p:nvPicPr>
          <p:cNvPr id="7" name="Image 0" descr="Database"/>
          <p:cNvPicPr>
            <a:picLocks noChangeAspect="1"/>
          </p:cNvPicPr>
          <p:nvPr/>
        </p:nvPicPr>
        <p:blipFill>
          <a:blip r:embed="rId3"/>
          <a:srcRect/>
          <a:stretch/>
        </p:blipFill>
        <p:spPr>
          <a:xfrm>
            <a:off x="1038860" y="1734821"/>
            <a:ext cx="406400" cy="406400"/>
          </a:xfrm>
          <a:prstGeom prst="rect">
            <a:avLst/>
          </a:prstGeom>
        </p:spPr>
      </p:pic>
      <p:sp>
        <p:nvSpPr>
          <p:cNvPr id="8" name="Text 5"/>
          <p:cNvSpPr/>
          <p:nvPr/>
        </p:nvSpPr>
        <p:spPr>
          <a:xfrm>
            <a:off x="1038860" y="2255521"/>
            <a:ext cx="3046974" cy="127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563"/>
                </a:solidFill>
                <a:latin typeface="Montserrat" pitchFamily="34" charset="0"/>
                <a:ea typeface="Montserrat" pitchFamily="34" charset="-122"/>
                <a:cs typeface="Montserrat" pitchFamily="34" charset="-120"/>
              </a:rPr>
              <a:t>Для дослідження обрано реальний датасет телефонної продукції від Amazon. Він містить і поведінкову історію, і характеристики пристроїв</a:t>
            </a:r>
            <a:endParaRPr lang="en-US" sz="1400" dirty="0">
              <a:latin typeface="Montserrat" charset="0"/>
              <a:ea typeface="Montserrat" charset="0"/>
              <a:cs typeface="Montserrat" charset="0"/>
            </a:endParaRPr>
          </a:p>
        </p:txBody>
      </p:sp>
      <p:sp>
        <p:nvSpPr>
          <p:cNvPr id="9" name="Shape 6"/>
          <p:cNvSpPr/>
          <p:nvPr/>
        </p:nvSpPr>
        <p:spPr>
          <a:xfrm>
            <a:off x="4400947" y="1496061"/>
            <a:ext cx="3390106" cy="2491740"/>
          </a:xfrm>
          <a:prstGeom prst="roundRect">
            <a:avLst>
              <a:gd name="adj" fmla="val 6116"/>
            </a:avLst>
          </a:prstGeom>
          <a:solidFill>
            <a:srgbClr val="17387E"/>
          </a:solidFill>
          <a:ln/>
        </p:spPr>
      </p:sp>
      <p:pic>
        <p:nvPicPr>
          <p:cNvPr id="10" name="Image 1" descr="Link"/>
          <p:cNvPicPr>
            <a:picLocks noChangeAspect="1"/>
          </p:cNvPicPr>
          <p:nvPr/>
        </p:nvPicPr>
        <p:blipFill>
          <a:blip r:embed="rId4"/>
          <a:srcRect/>
          <a:stretch/>
        </p:blipFill>
        <p:spPr>
          <a:xfrm>
            <a:off x="4616847" y="1724661"/>
            <a:ext cx="406400" cy="406400"/>
          </a:xfrm>
          <a:prstGeom prst="rect">
            <a:avLst/>
          </a:prstGeom>
        </p:spPr>
      </p:pic>
      <p:sp>
        <p:nvSpPr>
          <p:cNvPr id="11" name="Text 7"/>
          <p:cNvSpPr/>
          <p:nvPr/>
        </p:nvSpPr>
        <p:spPr>
          <a:xfrm>
            <a:off x="4616847" y="2245361"/>
            <a:ext cx="3047055" cy="15189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AF0FB"/>
                </a:solidFill>
                <a:latin typeface="Montserrat" pitchFamily="34" charset="0"/>
                <a:ea typeface="Montserrat" pitchFamily="34" charset="-122"/>
                <a:cs typeface="Montserrat" pitchFamily="34" charset="-120"/>
              </a:rPr>
              <a:t>Телефони з Amazon обрано саме тому, що вони мають характеристику “Бренд” та “Модель”, чого немає в інших датасетах, як в фільмах (MovieLens)</a:t>
            </a:r>
            <a:endParaRPr lang="en-US" sz="1400" dirty="0">
              <a:latin typeface="Montserrat" charset="0"/>
              <a:ea typeface="Montserrat" charset="0"/>
              <a:cs typeface="Montserrat" charset="0"/>
            </a:endParaRPr>
          </a:p>
        </p:txBody>
      </p:sp>
      <p:sp>
        <p:nvSpPr>
          <p:cNvPr id="12" name="Shape 8"/>
          <p:cNvSpPr/>
          <p:nvPr/>
        </p:nvSpPr>
        <p:spPr>
          <a:xfrm>
            <a:off x="7975203" y="1502411"/>
            <a:ext cx="3397647" cy="2479040"/>
          </a:xfrm>
          <a:prstGeom prst="roundRect">
            <a:avLst>
              <a:gd name="adj" fmla="val 5891"/>
            </a:avLst>
          </a:prstGeom>
          <a:solidFill>
            <a:srgbClr val="FFFFFF"/>
          </a:solidFill>
          <a:ln w="12700">
            <a:solidFill>
              <a:srgbClr val="D5E0F3"/>
            </a:solidFill>
            <a:prstDash val="solid"/>
          </a:ln>
        </p:spPr>
      </p:sp>
      <p:pic>
        <p:nvPicPr>
          <p:cNvPr id="13" name="Image 2" descr="ThumbsUp"/>
          <p:cNvPicPr>
            <a:picLocks noChangeAspect="1"/>
          </p:cNvPicPr>
          <p:nvPr/>
        </p:nvPicPr>
        <p:blipFill>
          <a:blip r:embed="rId5"/>
          <a:srcRect/>
          <a:stretch/>
        </p:blipFill>
        <p:spPr>
          <a:xfrm>
            <a:off x="8194913" y="1734821"/>
            <a:ext cx="406400" cy="406400"/>
          </a:xfrm>
          <a:prstGeom prst="rect">
            <a:avLst/>
          </a:prstGeom>
        </p:spPr>
      </p:pic>
      <p:sp>
        <p:nvSpPr>
          <p:cNvPr id="14" name="Text 9"/>
          <p:cNvSpPr/>
          <p:nvPr/>
        </p:nvSpPr>
        <p:spPr>
          <a:xfrm>
            <a:off x="8194913" y="2255521"/>
            <a:ext cx="3046974" cy="15189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563"/>
                </a:solidFill>
                <a:latin typeface="Montserrat" pitchFamily="34" charset="0"/>
                <a:ea typeface="Montserrat" pitchFamily="34" charset="-122"/>
                <a:cs typeface="Montserrat" pitchFamily="34" charset="-120"/>
              </a:rPr>
              <a:t>Для рекомендацій є важливий факт задоволеності покупкою: якщо рейтинг товару більше 4 зірок, їх переведено в активні зв’язки, а оцінки з 1, 2 або 3 зірками відкинуто</a:t>
            </a:r>
            <a:endParaRPr lang="en-US" sz="1400" dirty="0">
              <a:latin typeface="Montserrat" charset="0"/>
              <a:ea typeface="Montserrat" charset="0"/>
              <a:cs typeface="Montserrat" charset="0"/>
            </a:endParaRPr>
          </a:p>
        </p:txBody>
      </p:sp>
      <p:sp>
        <p:nvSpPr>
          <p:cNvPr id="15" name="Text 10"/>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Датасет і </a:t>
            </a:r>
            <a:r>
              <a:rPr lang="en-US" sz="1200" dirty="0" err="1">
                <a:solidFill>
                  <a:srgbClr val="55688F"/>
                </a:solidFill>
                <a:latin typeface="Montserrat" pitchFamily="34" charset="0"/>
                <a:ea typeface="Montserrat" pitchFamily="34" charset="-122"/>
                <a:cs typeface="Montserrat" pitchFamily="34" charset="-120"/>
              </a:rPr>
              <a:t>експеримент</a:t>
            </a:r>
            <a:r>
              <a:rPr lang="en-US" sz="1200" dirty="0">
                <a:solidFill>
                  <a:srgbClr val="55688F"/>
                </a:solidFill>
                <a:latin typeface="Montserrat" pitchFamily="34" charset="0"/>
                <a:ea typeface="Montserrat" pitchFamily="34" charset="-122"/>
                <a:cs typeface="Montserrat" pitchFamily="34" charset="-120"/>
              </a:rPr>
              <a:t> ·</a:t>
            </a:r>
            <a:endParaRPr lang="en-US" sz="1200" dirty="0">
              <a:latin typeface="Montserrat" charset="0"/>
              <a:ea typeface="Montserrat" charset="0"/>
              <a:cs typeface="Montserrat" charset="0"/>
            </a:endParaRPr>
          </a:p>
        </p:txBody>
      </p:sp>
      <p:sp>
        <p:nvSpPr>
          <p:cNvPr id="16" name="Text 1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8 / 17</a:t>
            </a:r>
            <a:endParaRPr lang="en-US" sz="1200" dirty="0">
              <a:latin typeface="Montserrat" charset="0"/>
              <a:ea typeface="Montserrat" charset="0"/>
              <a:cs typeface="Montserrat"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9</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42"/>
            <a:ext cx="9156700"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СИМУЛЯЦІЯ COLD START</a:t>
            </a:r>
            <a:endParaRPr lang="en-US" sz="2600" dirty="0">
              <a:latin typeface="Montserrat" charset="0"/>
              <a:ea typeface="Montserrat" charset="0"/>
              <a:cs typeface="Montserrat" charset="0"/>
            </a:endParaRPr>
          </a:p>
        </p:txBody>
      </p:sp>
      <p:sp>
        <p:nvSpPr>
          <p:cNvPr id="6" name="Text 4"/>
          <p:cNvSpPr/>
          <p:nvPr/>
        </p:nvSpPr>
        <p:spPr>
          <a:xfrm>
            <a:off x="812800" y="1445264"/>
            <a:ext cx="98107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563"/>
                </a:solidFill>
                <a:latin typeface="Montserrat" pitchFamily="34" charset="0"/>
                <a:ea typeface="Montserrat" pitchFamily="34" charset="-122"/>
                <a:cs typeface="Montserrat" pitchFamily="34" charset="-120"/>
              </a:rPr>
              <a:t>Із 4 моделей телефонів (Samsung, BlackBerry, HTM, Jethro) 3 моделі призначено “теплими” — на цих значеннях модель вчиться будувати зв’язки</a:t>
            </a:r>
            <a:endParaRPr lang="en-US" sz="1400" dirty="0">
              <a:latin typeface="Montserrat" charset="0"/>
              <a:ea typeface="Montserrat" charset="0"/>
              <a:cs typeface="Montserrat" charset="0"/>
            </a:endParaRPr>
          </a:p>
        </p:txBody>
      </p:sp>
      <p:sp>
        <p:nvSpPr>
          <p:cNvPr id="7" name="Shape 5"/>
          <p:cNvSpPr/>
          <p:nvPr/>
        </p:nvSpPr>
        <p:spPr>
          <a:xfrm>
            <a:off x="812800" y="2120900"/>
            <a:ext cx="2529205" cy="833120"/>
          </a:xfrm>
          <a:prstGeom prst="roundRect">
            <a:avLst>
              <a:gd name="adj" fmla="val 15244"/>
            </a:avLst>
          </a:prstGeom>
          <a:solidFill>
            <a:srgbClr val="17387E"/>
          </a:solidFill>
          <a:ln/>
        </p:spPr>
      </p:sp>
      <p:sp>
        <p:nvSpPr>
          <p:cNvPr id="8" name="Text 6"/>
          <p:cNvSpPr/>
          <p:nvPr/>
        </p:nvSpPr>
        <p:spPr>
          <a:xfrm>
            <a:off x="990600" y="2260600"/>
            <a:ext cx="2238813"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4F7FD"/>
                </a:solidFill>
                <a:latin typeface="Montserrat" pitchFamily="34" charset="0"/>
                <a:ea typeface="Montserrat" pitchFamily="34" charset="-122"/>
                <a:cs typeface="Montserrat" pitchFamily="34" charset="-120"/>
              </a:rPr>
              <a:t>Samsung</a:t>
            </a:r>
            <a:endParaRPr lang="en-US" sz="1700" dirty="0">
              <a:latin typeface="Montserrat" charset="0"/>
              <a:ea typeface="Montserrat" charset="0"/>
              <a:cs typeface="Montserrat" charset="0"/>
            </a:endParaRPr>
          </a:p>
        </p:txBody>
      </p:sp>
      <p:sp>
        <p:nvSpPr>
          <p:cNvPr id="9" name="Text 7"/>
          <p:cNvSpPr/>
          <p:nvPr/>
        </p:nvSpPr>
        <p:spPr>
          <a:xfrm>
            <a:off x="990600" y="2600964"/>
            <a:ext cx="223881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F2"/>
                </a:solidFill>
                <a:latin typeface="Montserrat" pitchFamily="34" charset="0"/>
                <a:ea typeface="Montserrat" pitchFamily="34" charset="-122"/>
                <a:cs typeface="Montserrat" pitchFamily="34" charset="-120"/>
              </a:rPr>
              <a:t>тепла: є історія</a:t>
            </a:r>
            <a:endParaRPr lang="en-US" sz="1200" dirty="0">
              <a:latin typeface="Montserrat" charset="0"/>
              <a:ea typeface="Montserrat" charset="0"/>
              <a:cs typeface="Montserrat" charset="0"/>
            </a:endParaRPr>
          </a:p>
        </p:txBody>
      </p:sp>
      <p:sp>
        <p:nvSpPr>
          <p:cNvPr id="10" name="Shape 8"/>
          <p:cNvSpPr/>
          <p:nvPr/>
        </p:nvSpPr>
        <p:spPr>
          <a:xfrm>
            <a:off x="3494405" y="2120900"/>
            <a:ext cx="2529205" cy="833120"/>
          </a:xfrm>
          <a:prstGeom prst="roundRect">
            <a:avLst>
              <a:gd name="adj" fmla="val 15244"/>
            </a:avLst>
          </a:prstGeom>
          <a:solidFill>
            <a:srgbClr val="17387E"/>
          </a:solidFill>
          <a:ln/>
        </p:spPr>
      </p:sp>
      <p:sp>
        <p:nvSpPr>
          <p:cNvPr id="11" name="Text 9"/>
          <p:cNvSpPr/>
          <p:nvPr/>
        </p:nvSpPr>
        <p:spPr>
          <a:xfrm>
            <a:off x="3672205" y="2260600"/>
            <a:ext cx="2238813"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4F7FD"/>
                </a:solidFill>
                <a:latin typeface="Montserrat" pitchFamily="34" charset="0"/>
                <a:ea typeface="Montserrat" pitchFamily="34" charset="-122"/>
                <a:cs typeface="Montserrat" pitchFamily="34" charset="-120"/>
              </a:rPr>
              <a:t>BlackBerry</a:t>
            </a:r>
            <a:endParaRPr lang="en-US" sz="1700" dirty="0">
              <a:latin typeface="Montserrat" charset="0"/>
              <a:ea typeface="Montserrat" charset="0"/>
              <a:cs typeface="Montserrat" charset="0"/>
            </a:endParaRPr>
          </a:p>
        </p:txBody>
      </p:sp>
      <p:sp>
        <p:nvSpPr>
          <p:cNvPr id="12" name="Text 10"/>
          <p:cNvSpPr/>
          <p:nvPr/>
        </p:nvSpPr>
        <p:spPr>
          <a:xfrm>
            <a:off x="3672205" y="2600964"/>
            <a:ext cx="223881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F2"/>
                </a:solidFill>
                <a:latin typeface="Montserrat" pitchFamily="34" charset="0"/>
                <a:ea typeface="Montserrat" pitchFamily="34" charset="-122"/>
                <a:cs typeface="Montserrat" pitchFamily="34" charset="-120"/>
              </a:rPr>
              <a:t>тепла: є історія</a:t>
            </a:r>
            <a:endParaRPr lang="en-US" sz="1200" dirty="0">
              <a:latin typeface="Montserrat" charset="0"/>
              <a:ea typeface="Montserrat" charset="0"/>
              <a:cs typeface="Montserrat" charset="0"/>
            </a:endParaRPr>
          </a:p>
        </p:txBody>
      </p:sp>
      <p:sp>
        <p:nvSpPr>
          <p:cNvPr id="13" name="Shape 11"/>
          <p:cNvSpPr/>
          <p:nvPr/>
        </p:nvSpPr>
        <p:spPr>
          <a:xfrm>
            <a:off x="6185535" y="2130425"/>
            <a:ext cx="2502535" cy="814070"/>
          </a:xfrm>
          <a:prstGeom prst="roundRect">
            <a:avLst>
              <a:gd name="adj" fmla="val 14431"/>
            </a:avLst>
          </a:prstGeom>
          <a:solidFill>
            <a:srgbClr val="F2A65A"/>
          </a:solidFill>
          <a:ln w="19050">
            <a:solidFill>
              <a:srgbClr val="3A1F00"/>
            </a:solidFill>
            <a:prstDash val="dash"/>
          </a:ln>
        </p:spPr>
      </p:sp>
      <p:sp>
        <p:nvSpPr>
          <p:cNvPr id="14" name="Text 12"/>
          <p:cNvSpPr/>
          <p:nvPr/>
        </p:nvSpPr>
        <p:spPr>
          <a:xfrm>
            <a:off x="6350000" y="2256792"/>
            <a:ext cx="2238813"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3A1F00"/>
                </a:solidFill>
                <a:latin typeface="Montserrat" pitchFamily="34" charset="0"/>
                <a:ea typeface="Montserrat" pitchFamily="34" charset="-122"/>
                <a:cs typeface="Montserrat" pitchFamily="34" charset="-120"/>
              </a:rPr>
              <a:t>HTM</a:t>
            </a:r>
            <a:endParaRPr lang="en-US" sz="1700" dirty="0">
              <a:latin typeface="Montserrat" charset="0"/>
              <a:ea typeface="Montserrat" charset="0"/>
              <a:cs typeface="Montserrat" charset="0"/>
            </a:endParaRPr>
          </a:p>
        </p:txBody>
      </p:sp>
      <p:sp>
        <p:nvSpPr>
          <p:cNvPr id="15" name="Text 13"/>
          <p:cNvSpPr/>
          <p:nvPr/>
        </p:nvSpPr>
        <p:spPr>
          <a:xfrm>
            <a:off x="6350000" y="2597150"/>
            <a:ext cx="223881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A1F00"/>
                </a:solidFill>
                <a:latin typeface="Montserrat" pitchFamily="34" charset="0"/>
                <a:ea typeface="Montserrat" pitchFamily="34" charset="-122"/>
                <a:cs typeface="Montserrat" pitchFamily="34" charset="-120"/>
              </a:rPr>
              <a:t>cold: ребра видалено</a:t>
            </a:r>
            <a:endParaRPr lang="en-US" sz="1200" dirty="0">
              <a:latin typeface="Montserrat" charset="0"/>
              <a:ea typeface="Montserrat" charset="0"/>
              <a:cs typeface="Montserrat" charset="0"/>
            </a:endParaRPr>
          </a:p>
        </p:txBody>
      </p:sp>
      <p:sp>
        <p:nvSpPr>
          <p:cNvPr id="16" name="Shape 14"/>
          <p:cNvSpPr/>
          <p:nvPr/>
        </p:nvSpPr>
        <p:spPr>
          <a:xfrm>
            <a:off x="8849995" y="2120900"/>
            <a:ext cx="2529205" cy="833120"/>
          </a:xfrm>
          <a:prstGeom prst="roundRect">
            <a:avLst>
              <a:gd name="adj" fmla="val 15244"/>
            </a:avLst>
          </a:prstGeom>
          <a:solidFill>
            <a:srgbClr val="17387E"/>
          </a:solidFill>
          <a:ln/>
        </p:spPr>
      </p:sp>
      <p:sp>
        <p:nvSpPr>
          <p:cNvPr id="17" name="Text 15"/>
          <p:cNvSpPr/>
          <p:nvPr/>
        </p:nvSpPr>
        <p:spPr>
          <a:xfrm>
            <a:off x="9027795" y="2260600"/>
            <a:ext cx="2238813"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4F7FD"/>
                </a:solidFill>
                <a:latin typeface="Montserrat" pitchFamily="34" charset="0"/>
                <a:ea typeface="Montserrat" pitchFamily="34" charset="-122"/>
                <a:cs typeface="Montserrat" pitchFamily="34" charset="-120"/>
              </a:rPr>
              <a:t>Jethro</a:t>
            </a:r>
            <a:endParaRPr lang="en-US" sz="1700" dirty="0">
              <a:latin typeface="Montserrat" charset="0"/>
              <a:ea typeface="Montserrat" charset="0"/>
              <a:cs typeface="Montserrat" charset="0"/>
            </a:endParaRPr>
          </a:p>
        </p:txBody>
      </p:sp>
      <p:sp>
        <p:nvSpPr>
          <p:cNvPr id="18" name="Text 16"/>
          <p:cNvSpPr/>
          <p:nvPr/>
        </p:nvSpPr>
        <p:spPr>
          <a:xfrm>
            <a:off x="9027795" y="2600964"/>
            <a:ext cx="223881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F2"/>
                </a:solidFill>
                <a:latin typeface="Montserrat" pitchFamily="34" charset="0"/>
                <a:ea typeface="Montserrat" pitchFamily="34" charset="-122"/>
                <a:cs typeface="Montserrat" pitchFamily="34" charset="-120"/>
              </a:rPr>
              <a:t>тепла: є історія</a:t>
            </a:r>
            <a:endParaRPr lang="en-US" sz="1200" dirty="0">
              <a:latin typeface="Montserrat" charset="0"/>
              <a:ea typeface="Montserrat" charset="0"/>
              <a:cs typeface="Montserrat" charset="0"/>
            </a:endParaRPr>
          </a:p>
        </p:txBody>
      </p:sp>
      <p:sp>
        <p:nvSpPr>
          <p:cNvPr id="19" name="Shape 17"/>
          <p:cNvSpPr/>
          <p:nvPr/>
        </p:nvSpPr>
        <p:spPr>
          <a:xfrm>
            <a:off x="819150" y="3138171"/>
            <a:ext cx="3407807" cy="2153920"/>
          </a:xfrm>
          <a:prstGeom prst="roundRect">
            <a:avLst>
              <a:gd name="adj" fmla="val 5601"/>
            </a:avLst>
          </a:prstGeom>
          <a:solidFill>
            <a:srgbClr val="FFFFFF"/>
          </a:solidFill>
          <a:ln w="12700">
            <a:solidFill>
              <a:srgbClr val="D5E0F3"/>
            </a:solidFill>
            <a:prstDash val="solid"/>
          </a:ln>
        </p:spPr>
      </p:sp>
      <p:sp>
        <p:nvSpPr>
          <p:cNvPr id="20" name="Text 18"/>
          <p:cNvSpPr/>
          <p:nvPr/>
        </p:nvSpPr>
        <p:spPr>
          <a:xfrm>
            <a:off x="1000760" y="3294379"/>
            <a:ext cx="313592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3F6BC4"/>
                </a:solidFill>
                <a:latin typeface="Montserrat" pitchFamily="34" charset="0"/>
                <a:ea typeface="Montserrat" pitchFamily="34" charset="-122"/>
                <a:cs typeface="Montserrat" pitchFamily="34" charset="-120"/>
              </a:rPr>
              <a:t>1</a:t>
            </a:r>
            <a:endParaRPr lang="en-US" sz="2200" dirty="0">
              <a:latin typeface="Montserrat" charset="0"/>
              <a:ea typeface="Montserrat" charset="0"/>
              <a:cs typeface="Montserrat" charset="0"/>
            </a:endParaRPr>
          </a:p>
        </p:txBody>
      </p:sp>
      <p:sp>
        <p:nvSpPr>
          <p:cNvPr id="21" name="Text 19"/>
          <p:cNvSpPr/>
          <p:nvPr/>
        </p:nvSpPr>
        <p:spPr>
          <a:xfrm>
            <a:off x="1000760" y="3749042"/>
            <a:ext cx="3135924"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3563"/>
                </a:solidFill>
                <a:latin typeface="Montserrat" pitchFamily="34" charset="0"/>
                <a:ea typeface="Montserrat" pitchFamily="34" charset="-122"/>
                <a:cs typeface="Montserrat" pitchFamily="34" charset="-120"/>
              </a:rPr>
              <a:t>З навчального графа спеціально видалено ребра з моделі HTM. Для моделі у цього товару немає історії продаж.</a:t>
            </a:r>
            <a:endParaRPr lang="en-US" sz="1300" dirty="0">
              <a:latin typeface="Montserrat" charset="0"/>
              <a:ea typeface="Montserrat" charset="0"/>
              <a:cs typeface="Montserrat" charset="0"/>
            </a:endParaRPr>
          </a:p>
        </p:txBody>
      </p:sp>
      <p:sp>
        <p:nvSpPr>
          <p:cNvPr id="22" name="Shape 20"/>
          <p:cNvSpPr/>
          <p:nvPr/>
        </p:nvSpPr>
        <p:spPr>
          <a:xfrm>
            <a:off x="4392057" y="3138171"/>
            <a:ext cx="3407886" cy="2153920"/>
          </a:xfrm>
          <a:prstGeom prst="roundRect">
            <a:avLst>
              <a:gd name="adj" fmla="val 5601"/>
            </a:avLst>
          </a:prstGeom>
          <a:solidFill>
            <a:srgbClr val="FFFFFF"/>
          </a:solidFill>
          <a:ln w="12700">
            <a:solidFill>
              <a:srgbClr val="D5E0F3"/>
            </a:solidFill>
            <a:prstDash val="solid"/>
          </a:ln>
        </p:spPr>
      </p:sp>
      <p:sp>
        <p:nvSpPr>
          <p:cNvPr id="23" name="Text 21"/>
          <p:cNvSpPr/>
          <p:nvPr/>
        </p:nvSpPr>
        <p:spPr>
          <a:xfrm>
            <a:off x="4573667" y="3294379"/>
            <a:ext cx="313600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3F6BC4"/>
                </a:solidFill>
                <a:latin typeface="Montserrat" pitchFamily="34" charset="0"/>
                <a:ea typeface="Montserrat" pitchFamily="34" charset="-122"/>
                <a:cs typeface="Montserrat" pitchFamily="34" charset="-120"/>
              </a:rPr>
              <a:t>2</a:t>
            </a:r>
            <a:endParaRPr lang="en-US" sz="2200" dirty="0">
              <a:latin typeface="Montserrat" charset="0"/>
              <a:ea typeface="Montserrat" charset="0"/>
              <a:cs typeface="Montserrat" charset="0"/>
            </a:endParaRPr>
          </a:p>
        </p:txBody>
      </p:sp>
      <p:sp>
        <p:nvSpPr>
          <p:cNvPr id="24" name="Text 22"/>
          <p:cNvSpPr/>
          <p:nvPr/>
        </p:nvSpPr>
        <p:spPr>
          <a:xfrm>
            <a:off x="4573667" y="3749042"/>
            <a:ext cx="3136006" cy="11811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3563"/>
                </a:solidFill>
                <a:latin typeface="Montserrat" pitchFamily="34" charset="0"/>
                <a:ea typeface="Montserrat" pitchFamily="34" charset="-122"/>
                <a:cs typeface="Montserrat" pitchFamily="34" charset="-120"/>
              </a:rPr>
              <a:t>У графі тільки залишено характеристики пристрою: його тип, ціна та бренд. Завдання GNN поєднати новий товар з потрібними покупцями.</a:t>
            </a:r>
            <a:endParaRPr lang="en-US" sz="1300" dirty="0">
              <a:latin typeface="Montserrat" charset="0"/>
              <a:ea typeface="Montserrat" charset="0"/>
              <a:cs typeface="Montserrat" charset="0"/>
            </a:endParaRPr>
          </a:p>
        </p:txBody>
      </p:sp>
      <p:sp>
        <p:nvSpPr>
          <p:cNvPr id="25" name="Shape 23"/>
          <p:cNvSpPr/>
          <p:nvPr/>
        </p:nvSpPr>
        <p:spPr>
          <a:xfrm>
            <a:off x="7965043" y="3138171"/>
            <a:ext cx="3407807" cy="2153920"/>
          </a:xfrm>
          <a:prstGeom prst="roundRect">
            <a:avLst>
              <a:gd name="adj" fmla="val 5601"/>
            </a:avLst>
          </a:prstGeom>
          <a:solidFill>
            <a:srgbClr val="FFFFFF"/>
          </a:solidFill>
          <a:ln w="12700">
            <a:solidFill>
              <a:srgbClr val="D5E0F3"/>
            </a:solidFill>
            <a:prstDash val="solid"/>
          </a:ln>
        </p:spPr>
      </p:sp>
      <p:sp>
        <p:nvSpPr>
          <p:cNvPr id="26" name="Text 24"/>
          <p:cNvSpPr/>
          <p:nvPr/>
        </p:nvSpPr>
        <p:spPr>
          <a:xfrm>
            <a:off x="8146653" y="3294379"/>
            <a:ext cx="313592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3F6BC4"/>
                </a:solidFill>
                <a:latin typeface="Montserrat" pitchFamily="34" charset="0"/>
                <a:ea typeface="Montserrat" pitchFamily="34" charset="-122"/>
                <a:cs typeface="Montserrat" pitchFamily="34" charset="-120"/>
              </a:rPr>
              <a:t>3</a:t>
            </a:r>
            <a:endParaRPr lang="en-US" sz="2200" dirty="0">
              <a:latin typeface="Montserrat" charset="0"/>
              <a:ea typeface="Montserrat" charset="0"/>
              <a:cs typeface="Montserrat" charset="0"/>
            </a:endParaRPr>
          </a:p>
        </p:txBody>
      </p:sp>
      <p:sp>
        <p:nvSpPr>
          <p:cNvPr id="27" name="Text 25"/>
          <p:cNvSpPr/>
          <p:nvPr/>
        </p:nvSpPr>
        <p:spPr>
          <a:xfrm>
            <a:off x="8146653" y="3749042"/>
            <a:ext cx="3135924" cy="14122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3563"/>
                </a:solidFill>
                <a:latin typeface="Montserrat" pitchFamily="34" charset="0"/>
                <a:ea typeface="Montserrat" pitchFamily="34" charset="-122"/>
                <a:cs typeface="Montserrat" pitchFamily="34" charset="-120"/>
              </a:rPr>
              <a:t>Усі справжні взаємодії користувачів з телефоном відведено в інший файл (true_results). Після навчання дані моделі звіряються з прихованими фактами.</a:t>
            </a:r>
            <a:endParaRPr lang="en-US" sz="1300" dirty="0">
              <a:latin typeface="Montserrat" charset="0"/>
              <a:ea typeface="Montserrat" charset="0"/>
              <a:cs typeface="Montserrat" charset="0"/>
            </a:endParaRPr>
          </a:p>
        </p:txBody>
      </p:sp>
      <p:sp>
        <p:nvSpPr>
          <p:cNvPr id="28" name="Text 26"/>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Датасет і </a:t>
            </a:r>
            <a:r>
              <a:rPr lang="en-US" sz="1200" dirty="0" err="1">
                <a:solidFill>
                  <a:srgbClr val="55688F"/>
                </a:solidFill>
                <a:latin typeface="Montserrat" pitchFamily="34" charset="0"/>
                <a:ea typeface="Montserrat" pitchFamily="34" charset="-122"/>
                <a:cs typeface="Montserrat" pitchFamily="34" charset="-120"/>
              </a:rPr>
              <a:t>експеримент</a:t>
            </a:r>
            <a:r>
              <a:rPr lang="en-US" sz="1200" dirty="0">
                <a:solidFill>
                  <a:srgbClr val="55688F"/>
                </a:solidFill>
                <a:latin typeface="Montserrat" pitchFamily="34" charset="0"/>
                <a:ea typeface="Montserrat" pitchFamily="34" charset="-122"/>
                <a:cs typeface="Montserrat" pitchFamily="34" charset="-120"/>
              </a:rPr>
              <a:t> ·</a:t>
            </a:r>
            <a:endParaRPr lang="en-US" sz="1200" dirty="0">
              <a:latin typeface="Montserrat" charset="0"/>
              <a:ea typeface="Montserrat" charset="0"/>
              <a:cs typeface="Montserrat" charset="0"/>
            </a:endParaRPr>
          </a:p>
        </p:txBody>
      </p:sp>
      <p:sp>
        <p:nvSpPr>
          <p:cNvPr id="29" name="Text 2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9 / 17</a:t>
            </a:r>
            <a:endParaRPr lang="en-US" sz="1200" dirty="0">
              <a:latin typeface="Montserrat" charset="0"/>
              <a:ea typeface="Montserrat" charset="0"/>
              <a:cs typeface="Montserrat"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10</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42"/>
            <a:ext cx="9156700" cy="75184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МЕТРИКИ РАНЖУВАННЯ ТА ВАЛІДАЦІЯ ОБЧИСЛЕНЬ.</a:t>
            </a:r>
            <a:endParaRPr lang="en-US" sz="2600" dirty="0">
              <a:latin typeface="Montserrat" charset="0"/>
              <a:ea typeface="Montserrat" charset="0"/>
              <a:cs typeface="Montserrat" charset="0"/>
            </a:endParaRPr>
          </a:p>
        </p:txBody>
      </p:sp>
      <p:sp>
        <p:nvSpPr>
          <p:cNvPr id="6" name="Shape 4"/>
          <p:cNvSpPr/>
          <p:nvPr/>
        </p:nvSpPr>
        <p:spPr>
          <a:xfrm>
            <a:off x="819150" y="1814829"/>
            <a:ext cx="3407807" cy="1684020"/>
          </a:xfrm>
          <a:prstGeom prst="roundRect">
            <a:avLst>
              <a:gd name="adj" fmla="val 7164"/>
            </a:avLst>
          </a:prstGeom>
          <a:solidFill>
            <a:srgbClr val="FFFFFF"/>
          </a:solidFill>
          <a:ln w="12700">
            <a:solidFill>
              <a:srgbClr val="D5E0F3"/>
            </a:solidFill>
            <a:prstDash val="solid"/>
          </a:ln>
        </p:spPr>
      </p:sp>
      <p:sp>
        <p:nvSpPr>
          <p:cNvPr id="7" name="Text 5"/>
          <p:cNvSpPr/>
          <p:nvPr/>
        </p:nvSpPr>
        <p:spPr>
          <a:xfrm>
            <a:off x="988060" y="1958342"/>
            <a:ext cx="316208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387E"/>
                </a:solidFill>
                <a:latin typeface="Montserrat" pitchFamily="34" charset="0"/>
                <a:ea typeface="Montserrat" pitchFamily="34" charset="-122"/>
                <a:cs typeface="Montserrat" pitchFamily="34" charset="-120"/>
              </a:rPr>
              <a:t>1) Recall@K</a:t>
            </a:r>
            <a:endParaRPr lang="en-US" sz="1600" dirty="0">
              <a:latin typeface="Montserrat" charset="0"/>
              <a:ea typeface="Montserrat" charset="0"/>
              <a:cs typeface="Montserrat" charset="0"/>
            </a:endParaRPr>
          </a:p>
        </p:txBody>
      </p:sp>
      <p:sp>
        <p:nvSpPr>
          <p:cNvPr id="8" name="Text 6"/>
          <p:cNvSpPr/>
          <p:nvPr/>
        </p:nvSpPr>
        <p:spPr>
          <a:xfrm>
            <a:off x="988060" y="2280921"/>
            <a:ext cx="316208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6BC4"/>
                </a:solidFill>
                <a:latin typeface="Montserrat" pitchFamily="34" charset="0"/>
                <a:ea typeface="Montserrat" pitchFamily="34" charset="-122"/>
                <a:cs typeface="Montserrat" pitchFamily="34" charset="-120"/>
              </a:rPr>
              <a:t>повнота серед топ-K</a:t>
            </a:r>
            <a:endParaRPr lang="en-US" sz="1200" dirty="0">
              <a:latin typeface="Montserrat" charset="0"/>
              <a:ea typeface="Montserrat" charset="0"/>
              <a:cs typeface="Montserrat" charset="0"/>
            </a:endParaRPr>
          </a:p>
        </p:txBody>
      </p:sp>
      <p:sp>
        <p:nvSpPr>
          <p:cNvPr id="9" name="Text 7"/>
          <p:cNvSpPr/>
          <p:nvPr/>
        </p:nvSpPr>
        <p:spPr>
          <a:xfrm>
            <a:off x="988060" y="2532379"/>
            <a:ext cx="3162086"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F3563"/>
                </a:solidFill>
                <a:latin typeface="Montserrat" pitchFamily="34" charset="0"/>
                <a:ea typeface="Montserrat" pitchFamily="34" charset="-122"/>
                <a:cs typeface="Montserrat" pitchFamily="34" charset="-120"/>
              </a:rPr>
              <a:t>Виражає частку знайдених релевантних об’єктів відносно всіх, які взагалі були потрібні користувачеві.</a:t>
            </a:r>
            <a:endParaRPr lang="en-US" sz="1200" dirty="0">
              <a:latin typeface="Montserrat" charset="0"/>
              <a:ea typeface="Montserrat" charset="0"/>
              <a:cs typeface="Montserrat" charset="0"/>
            </a:endParaRPr>
          </a:p>
        </p:txBody>
      </p:sp>
      <p:sp>
        <p:nvSpPr>
          <p:cNvPr id="10" name="Shape 8"/>
          <p:cNvSpPr/>
          <p:nvPr/>
        </p:nvSpPr>
        <p:spPr>
          <a:xfrm>
            <a:off x="4392057" y="1814829"/>
            <a:ext cx="3407886" cy="1684020"/>
          </a:xfrm>
          <a:prstGeom prst="roundRect">
            <a:avLst>
              <a:gd name="adj" fmla="val 7164"/>
            </a:avLst>
          </a:prstGeom>
          <a:solidFill>
            <a:srgbClr val="FFFFFF"/>
          </a:solidFill>
          <a:ln w="12700">
            <a:solidFill>
              <a:srgbClr val="D5E0F3"/>
            </a:solidFill>
            <a:prstDash val="solid"/>
          </a:ln>
        </p:spPr>
      </p:sp>
      <p:sp>
        <p:nvSpPr>
          <p:cNvPr id="11" name="Text 9"/>
          <p:cNvSpPr/>
          <p:nvPr/>
        </p:nvSpPr>
        <p:spPr>
          <a:xfrm>
            <a:off x="4560967" y="1958342"/>
            <a:ext cx="316216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387E"/>
                </a:solidFill>
                <a:latin typeface="Montserrat" pitchFamily="34" charset="0"/>
                <a:ea typeface="Montserrat" pitchFamily="34" charset="-122"/>
                <a:cs typeface="Montserrat" pitchFamily="34" charset="-120"/>
              </a:rPr>
              <a:t>2) Precision@K</a:t>
            </a:r>
            <a:endParaRPr lang="en-US" sz="1600" dirty="0">
              <a:latin typeface="Montserrat" charset="0"/>
              <a:ea typeface="Montserrat" charset="0"/>
              <a:cs typeface="Montserrat" charset="0"/>
            </a:endParaRPr>
          </a:p>
        </p:txBody>
      </p:sp>
      <p:sp>
        <p:nvSpPr>
          <p:cNvPr id="12" name="Text 10"/>
          <p:cNvSpPr/>
          <p:nvPr/>
        </p:nvSpPr>
        <p:spPr>
          <a:xfrm>
            <a:off x="4560967" y="2280921"/>
            <a:ext cx="316216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6BC4"/>
                </a:solidFill>
                <a:latin typeface="Montserrat" pitchFamily="34" charset="0"/>
                <a:ea typeface="Montserrat" pitchFamily="34" charset="-122"/>
                <a:cs typeface="Montserrat" pitchFamily="34" charset="-120"/>
              </a:rPr>
              <a:t>точність серед топ-K</a:t>
            </a:r>
            <a:endParaRPr lang="en-US" sz="1200" dirty="0">
              <a:latin typeface="Montserrat" charset="0"/>
              <a:ea typeface="Montserrat" charset="0"/>
              <a:cs typeface="Montserrat" charset="0"/>
            </a:endParaRPr>
          </a:p>
        </p:txBody>
      </p:sp>
      <p:sp>
        <p:nvSpPr>
          <p:cNvPr id="13" name="Text 11"/>
          <p:cNvSpPr/>
          <p:nvPr/>
        </p:nvSpPr>
        <p:spPr>
          <a:xfrm>
            <a:off x="4560967" y="2532379"/>
            <a:ext cx="3162168"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F3563"/>
                </a:solidFill>
                <a:latin typeface="Montserrat" pitchFamily="34" charset="0"/>
                <a:ea typeface="Montserrat" pitchFamily="34" charset="-122"/>
                <a:cs typeface="Montserrat" pitchFamily="34" charset="-120"/>
              </a:rPr>
              <a:t>Виражає частку корисних рекомендацій у виданому списку довжиною K.</a:t>
            </a:r>
            <a:endParaRPr lang="en-US" sz="1200" dirty="0">
              <a:latin typeface="Montserrat" charset="0"/>
              <a:ea typeface="Montserrat" charset="0"/>
              <a:cs typeface="Montserrat" charset="0"/>
            </a:endParaRPr>
          </a:p>
        </p:txBody>
      </p:sp>
      <p:sp>
        <p:nvSpPr>
          <p:cNvPr id="14" name="Shape 12"/>
          <p:cNvSpPr/>
          <p:nvPr/>
        </p:nvSpPr>
        <p:spPr>
          <a:xfrm>
            <a:off x="7965043" y="1814829"/>
            <a:ext cx="3407807" cy="1684020"/>
          </a:xfrm>
          <a:prstGeom prst="roundRect">
            <a:avLst>
              <a:gd name="adj" fmla="val 7164"/>
            </a:avLst>
          </a:prstGeom>
          <a:solidFill>
            <a:srgbClr val="FFFFFF"/>
          </a:solidFill>
          <a:ln w="12700">
            <a:solidFill>
              <a:srgbClr val="D5E0F3"/>
            </a:solidFill>
            <a:prstDash val="solid"/>
          </a:ln>
        </p:spPr>
      </p:sp>
      <p:sp>
        <p:nvSpPr>
          <p:cNvPr id="15" name="Text 13"/>
          <p:cNvSpPr/>
          <p:nvPr/>
        </p:nvSpPr>
        <p:spPr>
          <a:xfrm>
            <a:off x="8133953" y="1958342"/>
            <a:ext cx="316208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387E"/>
                </a:solidFill>
                <a:latin typeface="Montserrat" pitchFamily="34" charset="0"/>
                <a:ea typeface="Montserrat" pitchFamily="34" charset="-122"/>
                <a:cs typeface="Montserrat" pitchFamily="34" charset="-120"/>
              </a:rPr>
              <a:t>3) HitRate@K</a:t>
            </a:r>
            <a:endParaRPr lang="en-US" sz="1600" dirty="0">
              <a:latin typeface="Montserrat" charset="0"/>
              <a:ea typeface="Montserrat" charset="0"/>
              <a:cs typeface="Montserrat" charset="0"/>
            </a:endParaRPr>
          </a:p>
        </p:txBody>
      </p:sp>
      <p:sp>
        <p:nvSpPr>
          <p:cNvPr id="16" name="Text 14"/>
          <p:cNvSpPr/>
          <p:nvPr/>
        </p:nvSpPr>
        <p:spPr>
          <a:xfrm>
            <a:off x="8133953" y="2280921"/>
            <a:ext cx="316208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6BC4"/>
                </a:solidFill>
                <a:latin typeface="Montserrat" pitchFamily="34" charset="0"/>
                <a:ea typeface="Montserrat" pitchFamily="34" charset="-122"/>
                <a:cs typeface="Montserrat" pitchFamily="34" charset="-120"/>
              </a:rPr>
              <a:t>коефіцієнт влучання</a:t>
            </a:r>
            <a:endParaRPr lang="en-US" sz="1200" dirty="0">
              <a:latin typeface="Montserrat" charset="0"/>
              <a:ea typeface="Montserrat" charset="0"/>
              <a:cs typeface="Montserrat" charset="0"/>
            </a:endParaRPr>
          </a:p>
        </p:txBody>
      </p:sp>
      <p:sp>
        <p:nvSpPr>
          <p:cNvPr id="17" name="Text 15"/>
          <p:cNvSpPr/>
          <p:nvPr/>
        </p:nvSpPr>
        <p:spPr>
          <a:xfrm>
            <a:off x="8133953" y="2532379"/>
            <a:ext cx="3162086"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F3563"/>
                </a:solidFill>
                <a:latin typeface="Montserrat" pitchFamily="34" charset="0"/>
                <a:ea typeface="Montserrat" pitchFamily="34" charset="-122"/>
                <a:cs typeface="Montserrat" pitchFamily="34" charset="-120"/>
              </a:rPr>
              <a:t>Виражає факт успіху — чи зацікавила користувача хоча б одна позиція із виданого списку.</a:t>
            </a:r>
            <a:endParaRPr lang="en-US" sz="1200" dirty="0">
              <a:latin typeface="Montserrat" charset="0"/>
              <a:ea typeface="Montserrat" charset="0"/>
              <a:cs typeface="Montserrat" charset="0"/>
            </a:endParaRPr>
          </a:p>
        </p:txBody>
      </p:sp>
      <p:sp>
        <p:nvSpPr>
          <p:cNvPr id="18" name="Shape 16"/>
          <p:cNvSpPr/>
          <p:nvPr/>
        </p:nvSpPr>
        <p:spPr>
          <a:xfrm>
            <a:off x="819150" y="3689350"/>
            <a:ext cx="3414554" cy="1684020"/>
          </a:xfrm>
          <a:prstGeom prst="roundRect">
            <a:avLst>
              <a:gd name="adj" fmla="val 7164"/>
            </a:avLst>
          </a:prstGeom>
          <a:solidFill>
            <a:srgbClr val="FFFFFF"/>
          </a:solidFill>
          <a:ln w="12700">
            <a:solidFill>
              <a:srgbClr val="D5E0F3"/>
            </a:solidFill>
            <a:prstDash val="solid"/>
          </a:ln>
        </p:spPr>
      </p:sp>
      <p:sp>
        <p:nvSpPr>
          <p:cNvPr id="19" name="Text 17"/>
          <p:cNvSpPr/>
          <p:nvPr/>
        </p:nvSpPr>
        <p:spPr>
          <a:xfrm>
            <a:off x="988060" y="3832864"/>
            <a:ext cx="316903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387E"/>
                </a:solidFill>
                <a:latin typeface="Montserrat" pitchFamily="34" charset="0"/>
                <a:ea typeface="Montserrat" pitchFamily="34" charset="-122"/>
                <a:cs typeface="Montserrat" pitchFamily="34" charset="-120"/>
              </a:rPr>
              <a:t>4) DCG@K</a:t>
            </a:r>
            <a:endParaRPr lang="en-US" sz="1600" dirty="0">
              <a:latin typeface="Montserrat" charset="0"/>
              <a:ea typeface="Montserrat" charset="0"/>
              <a:cs typeface="Montserrat" charset="0"/>
            </a:endParaRPr>
          </a:p>
        </p:txBody>
      </p:sp>
      <p:sp>
        <p:nvSpPr>
          <p:cNvPr id="20" name="Text 18"/>
          <p:cNvSpPr/>
          <p:nvPr/>
        </p:nvSpPr>
        <p:spPr>
          <a:xfrm>
            <a:off x="988060" y="4155442"/>
            <a:ext cx="316903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6BC4"/>
                </a:solidFill>
                <a:latin typeface="Montserrat" pitchFamily="34" charset="0"/>
                <a:ea typeface="Montserrat" pitchFamily="34" charset="-122"/>
                <a:cs typeface="Montserrat" pitchFamily="34" charset="-120"/>
              </a:rPr>
              <a:t>сукупний приріст</a:t>
            </a:r>
            <a:endParaRPr lang="en-US" sz="1200" dirty="0">
              <a:latin typeface="Montserrat" charset="0"/>
              <a:ea typeface="Montserrat" charset="0"/>
              <a:cs typeface="Montserrat" charset="0"/>
            </a:endParaRPr>
          </a:p>
        </p:txBody>
      </p:sp>
      <p:sp>
        <p:nvSpPr>
          <p:cNvPr id="21" name="Text 19"/>
          <p:cNvSpPr/>
          <p:nvPr/>
        </p:nvSpPr>
        <p:spPr>
          <a:xfrm>
            <a:off x="988060" y="4406900"/>
            <a:ext cx="3169036"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F3563"/>
                </a:solidFill>
                <a:latin typeface="Montserrat" pitchFamily="34" charset="0"/>
                <a:ea typeface="Montserrat" pitchFamily="34" charset="-122"/>
                <a:cs typeface="Montserrat" pitchFamily="34" charset="-120"/>
              </a:rPr>
              <a:t>Виражає сумарну корисність списку з урахуванням позиційного дисконтування (штрафу за низьке положення).</a:t>
            </a:r>
            <a:endParaRPr lang="en-US" sz="1200" dirty="0">
              <a:latin typeface="Montserrat" charset="0"/>
              <a:ea typeface="Montserrat" charset="0"/>
              <a:cs typeface="Montserrat" charset="0"/>
            </a:endParaRPr>
          </a:p>
        </p:txBody>
      </p:sp>
      <p:sp>
        <p:nvSpPr>
          <p:cNvPr id="22" name="Shape 20"/>
          <p:cNvSpPr/>
          <p:nvPr/>
        </p:nvSpPr>
        <p:spPr>
          <a:xfrm>
            <a:off x="4398804" y="3689350"/>
            <a:ext cx="3414633" cy="1684020"/>
          </a:xfrm>
          <a:prstGeom prst="roundRect">
            <a:avLst>
              <a:gd name="adj" fmla="val 7164"/>
            </a:avLst>
          </a:prstGeom>
          <a:solidFill>
            <a:srgbClr val="FFFFFF"/>
          </a:solidFill>
          <a:ln w="12700">
            <a:solidFill>
              <a:srgbClr val="D5E0F3"/>
            </a:solidFill>
            <a:prstDash val="solid"/>
          </a:ln>
        </p:spPr>
      </p:sp>
      <p:sp>
        <p:nvSpPr>
          <p:cNvPr id="23" name="Text 21"/>
          <p:cNvSpPr/>
          <p:nvPr/>
        </p:nvSpPr>
        <p:spPr>
          <a:xfrm>
            <a:off x="4567714" y="3832864"/>
            <a:ext cx="316911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387E"/>
                </a:solidFill>
                <a:latin typeface="Montserrat" pitchFamily="34" charset="0"/>
                <a:ea typeface="Montserrat" pitchFamily="34" charset="-122"/>
                <a:cs typeface="Montserrat" pitchFamily="34" charset="-120"/>
              </a:rPr>
              <a:t>5) NDCG@K</a:t>
            </a:r>
            <a:endParaRPr lang="en-US" sz="1600" dirty="0">
              <a:latin typeface="Montserrat" charset="0"/>
              <a:ea typeface="Montserrat" charset="0"/>
              <a:cs typeface="Montserrat" charset="0"/>
            </a:endParaRPr>
          </a:p>
        </p:txBody>
      </p:sp>
      <p:sp>
        <p:nvSpPr>
          <p:cNvPr id="24" name="Text 22"/>
          <p:cNvSpPr/>
          <p:nvPr/>
        </p:nvSpPr>
        <p:spPr>
          <a:xfrm>
            <a:off x="4567714" y="4155442"/>
            <a:ext cx="316911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6BC4"/>
                </a:solidFill>
                <a:latin typeface="Montserrat" pitchFamily="34" charset="0"/>
                <a:ea typeface="Montserrat" pitchFamily="34" charset="-122"/>
                <a:cs typeface="Montserrat" pitchFamily="34" charset="-120"/>
              </a:rPr>
              <a:t>нормалізований сукупний приріст</a:t>
            </a:r>
            <a:endParaRPr lang="en-US" sz="1200" dirty="0">
              <a:latin typeface="Montserrat" charset="0"/>
              <a:ea typeface="Montserrat" charset="0"/>
              <a:cs typeface="Montserrat" charset="0"/>
            </a:endParaRPr>
          </a:p>
        </p:txBody>
      </p:sp>
      <p:sp>
        <p:nvSpPr>
          <p:cNvPr id="25" name="Text 23"/>
          <p:cNvSpPr/>
          <p:nvPr/>
        </p:nvSpPr>
        <p:spPr>
          <a:xfrm>
            <a:off x="4567714" y="4406900"/>
            <a:ext cx="3169118"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F3563"/>
                </a:solidFill>
                <a:latin typeface="Montserrat" pitchFamily="34" charset="0"/>
                <a:ea typeface="Montserrat" pitchFamily="34" charset="-122"/>
                <a:cs typeface="Montserrat" pitchFamily="34" charset="-120"/>
              </a:rPr>
              <a:t>Виражає міру близькості фактичного списку рекомендацій до ідеального можливого ранжування.</a:t>
            </a:r>
            <a:endParaRPr lang="en-US" sz="1200" dirty="0">
              <a:latin typeface="Montserrat" charset="0"/>
              <a:ea typeface="Montserrat" charset="0"/>
              <a:cs typeface="Montserrat" charset="0"/>
            </a:endParaRPr>
          </a:p>
        </p:txBody>
      </p:sp>
      <p:sp>
        <p:nvSpPr>
          <p:cNvPr id="26" name="Shape 24"/>
          <p:cNvSpPr/>
          <p:nvPr/>
        </p:nvSpPr>
        <p:spPr>
          <a:xfrm>
            <a:off x="7972187" y="3683000"/>
            <a:ext cx="3407013" cy="1696720"/>
          </a:xfrm>
          <a:prstGeom prst="roundRect">
            <a:avLst>
              <a:gd name="adj" fmla="val 7485"/>
            </a:avLst>
          </a:prstGeom>
          <a:solidFill>
            <a:srgbClr val="17387E"/>
          </a:solidFill>
          <a:ln/>
        </p:spPr>
      </p:sp>
      <p:sp>
        <p:nvSpPr>
          <p:cNvPr id="27" name="Text 25"/>
          <p:cNvSpPr/>
          <p:nvPr/>
        </p:nvSpPr>
        <p:spPr>
          <a:xfrm>
            <a:off x="8137287" y="3822700"/>
            <a:ext cx="316911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4F7FD"/>
                </a:solidFill>
                <a:latin typeface="Montserrat" pitchFamily="34" charset="0"/>
                <a:ea typeface="Montserrat" pitchFamily="34" charset="-122"/>
                <a:cs typeface="Montserrat" pitchFamily="34" charset="-120"/>
              </a:rPr>
              <a:t>6) MRR</a:t>
            </a:r>
            <a:endParaRPr lang="en-US" sz="1600" dirty="0">
              <a:latin typeface="Montserrat" charset="0"/>
              <a:ea typeface="Montserrat" charset="0"/>
              <a:cs typeface="Montserrat" charset="0"/>
            </a:endParaRPr>
          </a:p>
        </p:txBody>
      </p:sp>
      <p:sp>
        <p:nvSpPr>
          <p:cNvPr id="28" name="Text 26"/>
          <p:cNvSpPr/>
          <p:nvPr/>
        </p:nvSpPr>
        <p:spPr>
          <a:xfrm>
            <a:off x="8137287" y="4145279"/>
            <a:ext cx="316911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DBDEB"/>
                </a:solidFill>
                <a:latin typeface="Montserrat" pitchFamily="34" charset="0"/>
                <a:ea typeface="Montserrat" pitchFamily="34" charset="-122"/>
                <a:cs typeface="Montserrat" pitchFamily="34" charset="-120"/>
              </a:rPr>
              <a:t>середній обернений ранг</a:t>
            </a:r>
            <a:endParaRPr lang="en-US" sz="1200" dirty="0">
              <a:latin typeface="Montserrat" charset="0"/>
              <a:ea typeface="Montserrat" charset="0"/>
              <a:cs typeface="Montserrat" charset="0"/>
            </a:endParaRPr>
          </a:p>
        </p:txBody>
      </p:sp>
      <p:sp>
        <p:nvSpPr>
          <p:cNvPr id="29" name="Text 27"/>
          <p:cNvSpPr/>
          <p:nvPr/>
        </p:nvSpPr>
        <p:spPr>
          <a:xfrm>
            <a:off x="8137287" y="4396742"/>
            <a:ext cx="3169118"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AF0FB"/>
                </a:solidFill>
                <a:latin typeface="Montserrat" pitchFamily="34" charset="0"/>
                <a:ea typeface="Montserrat" pitchFamily="34" charset="-122"/>
                <a:cs typeface="Montserrat" pitchFamily="34" charset="-120"/>
              </a:rPr>
              <a:t>Виражає швидкість знаходження першого потрібного товару (наскільки довго користувачеві довелося скролити перед першим кліком)</a:t>
            </a:r>
            <a:endParaRPr lang="en-US" sz="1200" dirty="0">
              <a:latin typeface="Montserrat" charset="0"/>
              <a:ea typeface="Montserrat" charset="0"/>
              <a:cs typeface="Montserrat" charset="0"/>
            </a:endParaRPr>
          </a:p>
        </p:txBody>
      </p:sp>
      <p:sp>
        <p:nvSpPr>
          <p:cNvPr id="30" name="Text 2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Метрики та </a:t>
            </a:r>
            <a:r>
              <a:rPr lang="en-US" sz="1200" dirty="0" err="1">
                <a:solidFill>
                  <a:srgbClr val="55688F"/>
                </a:solidFill>
                <a:latin typeface="Montserrat" pitchFamily="34" charset="0"/>
                <a:ea typeface="Montserrat" pitchFamily="34" charset="-122"/>
                <a:cs typeface="Montserrat" pitchFamily="34" charset="-120"/>
              </a:rPr>
              <a:t>результати</a:t>
            </a:r>
            <a:r>
              <a:rPr lang="en-US" sz="1200" dirty="0">
                <a:solidFill>
                  <a:srgbClr val="55688F"/>
                </a:solidFill>
                <a:latin typeface="Montserrat" pitchFamily="34" charset="0"/>
                <a:ea typeface="Montserrat" pitchFamily="34" charset="-122"/>
                <a:cs typeface="Montserrat" pitchFamily="34" charset="-120"/>
              </a:rPr>
              <a:t> ·</a:t>
            </a:r>
            <a:endParaRPr lang="en-US" sz="1200" dirty="0">
              <a:latin typeface="Montserrat" charset="0"/>
              <a:ea typeface="Montserrat" charset="0"/>
              <a:cs typeface="Montserrat" charset="0"/>
            </a:endParaRPr>
          </a:p>
        </p:txBody>
      </p:sp>
      <p:sp>
        <p:nvSpPr>
          <p:cNvPr id="31" name="Text 2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10 / 17</a:t>
            </a:r>
            <a:endParaRPr lang="en-US" sz="1200" dirty="0">
              <a:latin typeface="Montserrat" charset="0"/>
              <a:ea typeface="Montserrat" charset="0"/>
              <a:cs typeface="Montserrat"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11</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42"/>
            <a:ext cx="9156700" cy="75184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РЕЗУЛЬТАТИ ДОСЛІДЖЕННЯ PINTEREST (KDD 2018)</a:t>
            </a:r>
            <a:endParaRPr lang="en-US" sz="2600" dirty="0">
              <a:latin typeface="Montserrat" charset="0"/>
              <a:ea typeface="Montserrat" charset="0"/>
              <a:cs typeface="Montserrat" charset="0"/>
            </a:endParaR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18639"/>
          <a:ext cx="4815840" cy="3451860"/>
        </p:xfrm>
        <a:graphic>
          <a:graphicData uri="http://schemas.openxmlformats.org/drawingml/2006/table">
            <a:tbl>
              <a:tblPr/>
              <a:tblGrid>
                <a:gridCol w="2407920">
                  <a:extLst>
                    <a:ext uri="{9D8B030D-6E8A-4147-A177-3AD203B41FA5}">
                      <a16:colId xmlns:a16="http://schemas.microsoft.com/office/drawing/2014/main" val="20000"/>
                    </a:ext>
                  </a:extLst>
                </a:gridCol>
                <a:gridCol w="1203960">
                  <a:extLst>
                    <a:ext uri="{9D8B030D-6E8A-4147-A177-3AD203B41FA5}">
                      <a16:colId xmlns:a16="http://schemas.microsoft.com/office/drawing/2014/main" val="20001"/>
                    </a:ext>
                  </a:extLst>
                </a:gridCol>
                <a:gridCol w="1203960">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4F7FD"/>
                          </a:solidFill>
                          <a:latin typeface="Montserrat" pitchFamily="34" charset="0"/>
                          <a:ea typeface="Montserrat" pitchFamily="34" charset="-122"/>
                          <a:cs typeface="Montserrat" pitchFamily="34" charset="-120"/>
                        </a:rPr>
                        <a:t>Method</a:t>
                      </a:r>
                      <a:endParaRPr lang="en-US" sz="1400" dirty="0">
                        <a:latin typeface="Montserrat" charset="0"/>
                        <a:ea typeface="Montserrat" charset="0"/>
                        <a:cs typeface="Montserrat" charset="0"/>
                      </a:endParaRPr>
                    </a:p>
                  </a:txBody>
                  <a:tcPr marL="62230" marR="62230" marT="62230" marB="62230">
                    <a:lnL w="12700" cap="flat" cmpd="sng" algn="ctr">
                      <a:solidFill>
                        <a:srgbClr val="C1C4C8"/>
                      </a:solidFill>
                      <a:prstDash val="solid"/>
                      <a:round/>
                      <a:headEnd type="none" w="med" len="med"/>
                      <a:tailEnd type="none" w="med" len="med"/>
                    </a:lnL>
                    <a:lnR w="12700" cap="flat" cmpd="sng" algn="ctr">
                      <a:solidFill>
                        <a:srgbClr val="163066"/>
                      </a:solidFill>
                      <a:prstDash val="solid"/>
                      <a:round/>
                      <a:headEnd type="none" w="med" len="med"/>
                      <a:tailEnd type="none" w="med" len="med"/>
                    </a:lnR>
                    <a:lnT w="12700" cap="flat" cmpd="sng" algn="ctr">
                      <a:solidFill>
                        <a:srgbClr val="C1C4C8"/>
                      </a:solidFill>
                      <a:prstDash val="solid"/>
                      <a:round/>
                      <a:headEnd type="none" w="med" len="med"/>
                      <a:tailEnd type="none" w="med" len="med"/>
                    </a:lnT>
                    <a:lnB w="12700" cap="flat" cmpd="sng" algn="ctr">
                      <a:solidFill>
                        <a:srgbClr val="163066"/>
                      </a:solidFill>
                      <a:prstDash val="solid"/>
                      <a:round/>
                      <a:headEnd type="none" w="med" len="med"/>
                      <a:tailEnd type="none" w="med" len="med"/>
                    </a:lnB>
                    <a:solidFill>
                      <a:srgbClr val="17387E"/>
                    </a:solidFill>
                  </a:tcPr>
                </a:tc>
                <a:tc>
                  <a:txBody>
                    <a:bodyPr/>
                    <a:lstStyle/>
                    <a:p>
                      <a:pPr marL="0" indent="0" algn="r">
                        <a:lnSpc>
                          <a:spcPts val="1960"/>
                        </a:lnSpc>
                        <a:buNone/>
                      </a:pPr>
                      <a:r>
                        <a:rPr lang="en-US" sz="1400" b="1" dirty="0">
                          <a:solidFill>
                            <a:srgbClr val="F4F7FD"/>
                          </a:solidFill>
                          <a:latin typeface="Montserrat" pitchFamily="34" charset="0"/>
                          <a:ea typeface="Montserrat" pitchFamily="34" charset="-122"/>
                          <a:cs typeface="Montserrat" pitchFamily="34" charset="-120"/>
                        </a:rPr>
                        <a:t>Hit-rate</a:t>
                      </a:r>
                      <a:endParaRPr lang="en-US" sz="1400" dirty="0">
                        <a:latin typeface="Montserrat" charset="0"/>
                        <a:ea typeface="Montserrat" charset="0"/>
                        <a:cs typeface="Montserrat" charset="0"/>
                      </a:endParaRPr>
                    </a:p>
                  </a:txBody>
                  <a:tcPr marL="62230" marR="62230" marT="62230" marB="62230">
                    <a:lnL w="12700" cap="flat" cmpd="sng" algn="ctr">
                      <a:solidFill>
                        <a:srgbClr val="163066"/>
                      </a:solidFill>
                      <a:prstDash val="solid"/>
                      <a:round/>
                      <a:headEnd type="none" w="med" len="med"/>
                      <a:tailEnd type="none" w="med" len="med"/>
                    </a:lnL>
                    <a:lnR w="12700" cap="flat" cmpd="sng" algn="ctr">
                      <a:solidFill>
                        <a:srgbClr val="163066"/>
                      </a:solidFill>
                      <a:prstDash val="solid"/>
                      <a:round/>
                      <a:headEnd type="none" w="med" len="med"/>
                      <a:tailEnd type="none" w="med" len="med"/>
                    </a:lnR>
                    <a:lnT w="12700" cap="flat" cmpd="sng" algn="ctr">
                      <a:solidFill>
                        <a:srgbClr val="C1C4C8"/>
                      </a:solidFill>
                      <a:prstDash val="solid"/>
                      <a:round/>
                      <a:headEnd type="none" w="med" len="med"/>
                      <a:tailEnd type="none" w="med" len="med"/>
                    </a:lnT>
                    <a:lnB w="12700" cap="flat" cmpd="sng" algn="ctr">
                      <a:solidFill>
                        <a:srgbClr val="163066"/>
                      </a:solidFill>
                      <a:prstDash val="solid"/>
                      <a:round/>
                      <a:headEnd type="none" w="med" len="med"/>
                      <a:tailEnd type="none" w="med" len="med"/>
                    </a:lnB>
                    <a:solidFill>
                      <a:srgbClr val="17387E"/>
                    </a:solidFill>
                  </a:tcPr>
                </a:tc>
                <a:tc>
                  <a:txBody>
                    <a:bodyPr/>
                    <a:lstStyle/>
                    <a:p>
                      <a:pPr marL="0" indent="0" algn="r">
                        <a:lnSpc>
                          <a:spcPts val="1960"/>
                        </a:lnSpc>
                        <a:buNone/>
                      </a:pPr>
                      <a:r>
                        <a:rPr lang="en-US" sz="1400" b="1" dirty="0">
                          <a:solidFill>
                            <a:srgbClr val="F4F7FD"/>
                          </a:solidFill>
                          <a:latin typeface="Montserrat" pitchFamily="34" charset="0"/>
                          <a:ea typeface="Montserrat" pitchFamily="34" charset="-122"/>
                          <a:cs typeface="Montserrat" pitchFamily="34" charset="-120"/>
                        </a:rPr>
                        <a:t>MRR</a:t>
                      </a:r>
                      <a:endParaRPr lang="en-US" sz="1400" dirty="0">
                        <a:latin typeface="Montserrat" charset="0"/>
                        <a:ea typeface="Montserrat" charset="0"/>
                        <a:cs typeface="Montserrat" charset="0"/>
                      </a:endParaRPr>
                    </a:p>
                  </a:txBody>
                  <a:tcPr marL="62230" marR="62230" marT="62230" marB="62230">
                    <a:lnL w="12700" cap="flat" cmpd="sng" algn="ctr">
                      <a:solidFill>
                        <a:srgbClr val="163066"/>
                      </a:solidFill>
                      <a:prstDash val="solid"/>
                      <a:round/>
                      <a:headEnd type="none" w="med" len="med"/>
                      <a:tailEnd type="none" w="med" len="med"/>
                    </a:lnL>
                    <a:lnR w="12700" cap="flat" cmpd="sng" algn="ctr">
                      <a:solidFill>
                        <a:srgbClr val="163066"/>
                      </a:solidFill>
                      <a:prstDash val="solid"/>
                      <a:round/>
                      <a:headEnd type="none" w="med" len="med"/>
                      <a:tailEnd type="none" w="med" len="med"/>
                    </a:lnR>
                    <a:lnT w="12700" cap="flat" cmpd="sng" algn="ctr">
                      <a:solidFill>
                        <a:srgbClr val="C1C4C8"/>
                      </a:solidFill>
                      <a:prstDash val="solid"/>
                      <a:round/>
                      <a:headEnd type="none" w="med" len="med"/>
                      <a:tailEnd type="none" w="med" len="med"/>
                    </a:lnT>
                    <a:lnB w="12700" cap="flat" cmpd="sng" algn="ctr">
                      <a:solidFill>
                        <a:srgbClr val="163066"/>
                      </a:solidFill>
                      <a:prstDash val="solid"/>
                      <a:round/>
                      <a:headEnd type="none" w="med" len="med"/>
                      <a:tailEnd type="none" w="med" len="med"/>
                    </a:lnB>
                    <a:solidFill>
                      <a:srgbClr val="17387E"/>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F3563"/>
                          </a:solidFill>
                          <a:latin typeface="Montserrat" pitchFamily="34" charset="0"/>
                          <a:ea typeface="Montserrat" pitchFamily="34" charset="-122"/>
                          <a:cs typeface="Montserrat" pitchFamily="34" charset="-120"/>
                        </a:rPr>
                        <a:t>Visual</a:t>
                      </a:r>
                      <a:endParaRPr lang="en-US" sz="1400" dirty="0">
                        <a:latin typeface="Montserrat" charset="0"/>
                        <a:ea typeface="Montserrat" charset="0"/>
                        <a:cs typeface="Montserrat" charset="0"/>
                      </a:endParaRPr>
                    </a:p>
                  </a:txBody>
                  <a:tcPr marL="62230" marR="62230" marT="62230" marB="62230">
                    <a:lnL w="12700" cap="flat" cmpd="sng" algn="ctr">
                      <a:solidFill>
                        <a:srgbClr val="C1C4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306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17%</a:t>
                      </a:r>
                      <a:endParaRPr lang="en-US" sz="1400" dirty="0">
                        <a:latin typeface="Montserrat" charset="0"/>
                        <a:ea typeface="Montserrat" charset="0"/>
                        <a:cs typeface="Montserrat"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306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0.23</a:t>
                      </a:r>
                      <a:endParaRPr lang="en-US" sz="1400" dirty="0">
                        <a:latin typeface="Montserrat" charset="0"/>
                        <a:ea typeface="Montserrat" charset="0"/>
                        <a:cs typeface="Montserrat"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306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F3563"/>
                          </a:solidFill>
                          <a:latin typeface="Montserrat" pitchFamily="34" charset="0"/>
                          <a:ea typeface="Montserrat" pitchFamily="34" charset="-122"/>
                          <a:cs typeface="Montserrat" pitchFamily="34" charset="-120"/>
                        </a:rPr>
                        <a:t>Annotation</a:t>
                      </a:r>
                      <a:endParaRPr lang="en-US" sz="1400" dirty="0">
                        <a:latin typeface="Montserrat" charset="0"/>
                        <a:ea typeface="Montserrat" charset="0"/>
                        <a:cs typeface="Montserrat" charset="0"/>
                      </a:endParaRPr>
                    </a:p>
                  </a:txBody>
                  <a:tcPr marL="62230" marR="62230" marT="62230" marB="62230">
                    <a:lnL w="12700" cap="flat" cmpd="sng" algn="ctr">
                      <a:solidFill>
                        <a:srgbClr val="C1C4C8"/>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14%</a:t>
                      </a:r>
                      <a:endParaRPr lang="en-US" sz="1400" dirty="0">
                        <a:latin typeface="Montserrat" charset="0"/>
                        <a:ea typeface="Montserrat" charset="0"/>
                        <a:cs typeface="Montserrat" charset="0"/>
                      </a:endParaRPr>
                    </a:p>
                  </a:txBody>
                  <a:tcPr marL="62230" marR="62230" marT="62230" marB="62230">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0.19</a:t>
                      </a:r>
                      <a:endParaRPr lang="en-US" sz="1400" dirty="0">
                        <a:latin typeface="Montserrat" charset="0"/>
                        <a:ea typeface="Montserrat" charset="0"/>
                        <a:cs typeface="Montserrat" charset="0"/>
                      </a:endParaRPr>
                    </a:p>
                  </a:txBody>
                  <a:tcPr marL="62230" marR="62230" marT="62230" marB="62230">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F3563"/>
                          </a:solidFill>
                          <a:latin typeface="Montserrat" pitchFamily="34" charset="0"/>
                          <a:ea typeface="Montserrat" pitchFamily="34" charset="-122"/>
                          <a:cs typeface="Montserrat" pitchFamily="34" charset="-120"/>
                        </a:rPr>
                        <a:t>Combined</a:t>
                      </a:r>
                      <a:endParaRPr lang="en-US" sz="1400" dirty="0">
                        <a:latin typeface="Montserrat" charset="0"/>
                        <a:ea typeface="Montserrat" charset="0"/>
                        <a:cs typeface="Montserrat" charset="0"/>
                      </a:endParaRPr>
                    </a:p>
                  </a:txBody>
                  <a:tcPr marL="62230" marR="62230" marT="62230" marB="62230">
                    <a:lnL w="12700" cap="flat" cmpd="sng" algn="ctr">
                      <a:solidFill>
                        <a:srgbClr val="C1C4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27%</a:t>
                      </a:r>
                      <a:endParaRPr lang="en-US" sz="1400" dirty="0">
                        <a:latin typeface="Montserrat" charset="0"/>
                        <a:ea typeface="Montserrat" charset="0"/>
                        <a:cs typeface="Montserrat"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0.37</a:t>
                      </a:r>
                      <a:endParaRPr lang="en-US" sz="1400" dirty="0">
                        <a:latin typeface="Montserrat" charset="0"/>
                        <a:ea typeface="Montserrat" charset="0"/>
                        <a:cs typeface="Montserrat"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F3563"/>
                          </a:solidFill>
                          <a:latin typeface="Montserrat" pitchFamily="34" charset="0"/>
                          <a:ea typeface="Montserrat" pitchFamily="34" charset="-122"/>
                          <a:cs typeface="Montserrat" pitchFamily="34" charset="-120"/>
                        </a:rPr>
                        <a:t>max-pooling</a:t>
                      </a:r>
                      <a:endParaRPr lang="en-US" sz="1400" dirty="0">
                        <a:latin typeface="Montserrat" charset="0"/>
                        <a:ea typeface="Montserrat" charset="0"/>
                        <a:cs typeface="Montserrat" charset="0"/>
                      </a:endParaRPr>
                    </a:p>
                  </a:txBody>
                  <a:tcPr marL="62230" marR="62230" marT="62230" marB="62230">
                    <a:lnL w="12700" cap="flat" cmpd="sng" algn="ctr">
                      <a:solidFill>
                        <a:srgbClr val="C1C4C8"/>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39%</a:t>
                      </a:r>
                      <a:endParaRPr lang="en-US" sz="1400" dirty="0">
                        <a:latin typeface="Montserrat" charset="0"/>
                        <a:ea typeface="Montserrat" charset="0"/>
                        <a:cs typeface="Montserrat" charset="0"/>
                      </a:endParaRPr>
                    </a:p>
                  </a:txBody>
                  <a:tcPr marL="62230" marR="62230" marT="62230" marB="62230">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0.37</a:t>
                      </a:r>
                      <a:endParaRPr lang="en-US" sz="1400" dirty="0">
                        <a:latin typeface="Montserrat" charset="0"/>
                        <a:ea typeface="Montserrat" charset="0"/>
                        <a:cs typeface="Montserrat" charset="0"/>
                      </a:endParaRPr>
                    </a:p>
                  </a:txBody>
                  <a:tcPr marL="62230" marR="62230" marT="62230" marB="62230">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F3563"/>
                          </a:solidFill>
                          <a:latin typeface="Montserrat" pitchFamily="34" charset="0"/>
                          <a:ea typeface="Montserrat" pitchFamily="34" charset="-122"/>
                          <a:cs typeface="Montserrat" pitchFamily="34" charset="-120"/>
                        </a:rPr>
                        <a:t>mean-pooling</a:t>
                      </a:r>
                      <a:endParaRPr lang="en-US" sz="1400" dirty="0">
                        <a:latin typeface="Montserrat" charset="0"/>
                        <a:ea typeface="Montserrat" charset="0"/>
                        <a:cs typeface="Montserrat" charset="0"/>
                      </a:endParaRPr>
                    </a:p>
                  </a:txBody>
                  <a:tcPr marL="62230" marR="62230" marT="62230" marB="62230">
                    <a:lnL w="12700" cap="flat" cmpd="sng" algn="ctr">
                      <a:solidFill>
                        <a:srgbClr val="C1C4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41%</a:t>
                      </a:r>
                      <a:endParaRPr lang="en-US" sz="1400" dirty="0">
                        <a:latin typeface="Montserrat" charset="0"/>
                        <a:ea typeface="Montserrat" charset="0"/>
                        <a:cs typeface="Montserrat"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0.51</a:t>
                      </a:r>
                      <a:endParaRPr lang="en-US" sz="1400" dirty="0">
                        <a:latin typeface="Montserrat" charset="0"/>
                        <a:ea typeface="Montserrat" charset="0"/>
                        <a:cs typeface="Montserrat"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F3563"/>
                          </a:solidFill>
                          <a:latin typeface="Montserrat" pitchFamily="34" charset="0"/>
                          <a:ea typeface="Montserrat" pitchFamily="34" charset="-122"/>
                          <a:cs typeface="Montserrat" pitchFamily="34" charset="-120"/>
                        </a:rPr>
                        <a:t>mean-pooling-xent</a:t>
                      </a:r>
                      <a:endParaRPr lang="en-US" sz="1400" dirty="0">
                        <a:latin typeface="Montserrat" charset="0"/>
                        <a:ea typeface="Montserrat" charset="0"/>
                        <a:cs typeface="Montserrat" charset="0"/>
                      </a:endParaRPr>
                    </a:p>
                  </a:txBody>
                  <a:tcPr marL="62230" marR="62230" marT="62230" marB="62230">
                    <a:lnL w="12700" cap="flat" cmpd="sng" algn="ctr">
                      <a:solidFill>
                        <a:srgbClr val="C1C4C8"/>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29%</a:t>
                      </a:r>
                      <a:endParaRPr lang="en-US" sz="1400" dirty="0">
                        <a:latin typeface="Montserrat" charset="0"/>
                        <a:ea typeface="Montserrat" charset="0"/>
                        <a:cs typeface="Montserrat" charset="0"/>
                      </a:endParaRPr>
                    </a:p>
                  </a:txBody>
                  <a:tcPr marL="62230" marR="62230" marT="62230" marB="62230">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0.35</a:t>
                      </a:r>
                      <a:endParaRPr lang="en-US" sz="1400" dirty="0">
                        <a:latin typeface="Montserrat" charset="0"/>
                        <a:ea typeface="Montserrat" charset="0"/>
                        <a:cs typeface="Montserrat" charset="0"/>
                      </a:endParaRPr>
                    </a:p>
                  </a:txBody>
                  <a:tcPr marL="62230" marR="62230" marT="62230" marB="62230">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8"/>
                    </a:solidFill>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1F3563"/>
                          </a:solidFill>
                          <a:latin typeface="Montserrat" pitchFamily="34" charset="0"/>
                          <a:ea typeface="Montserrat" pitchFamily="34" charset="-122"/>
                          <a:cs typeface="Montserrat" pitchFamily="34" charset="-120"/>
                        </a:rPr>
                        <a:t>mean-pooling-hard</a:t>
                      </a:r>
                      <a:endParaRPr lang="en-US" sz="1400" dirty="0">
                        <a:latin typeface="Montserrat" charset="0"/>
                        <a:ea typeface="Montserrat" charset="0"/>
                        <a:cs typeface="Montserrat" charset="0"/>
                      </a:endParaRPr>
                    </a:p>
                  </a:txBody>
                  <a:tcPr marL="62230" marR="62230" marT="62230" marB="62230">
                    <a:lnL w="12700" cap="flat" cmpd="sng" algn="ctr">
                      <a:solidFill>
                        <a:srgbClr val="C1C4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46%</a:t>
                      </a:r>
                      <a:endParaRPr lang="en-US" sz="1400" dirty="0">
                        <a:latin typeface="Montserrat" charset="0"/>
                        <a:ea typeface="Montserrat" charset="0"/>
                        <a:cs typeface="Montserrat"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1960"/>
                        </a:lnSpc>
                        <a:buNone/>
                      </a:pPr>
                      <a:r>
                        <a:rPr lang="en-US" sz="1400" dirty="0">
                          <a:solidFill>
                            <a:srgbClr val="1F3563"/>
                          </a:solidFill>
                          <a:latin typeface="Montserrat" pitchFamily="34" charset="0"/>
                          <a:ea typeface="Montserrat" pitchFamily="34" charset="-122"/>
                          <a:cs typeface="Montserrat" pitchFamily="34" charset="-120"/>
                        </a:rPr>
                        <a:t>0.56</a:t>
                      </a:r>
                      <a:endParaRPr lang="en-US" sz="1400" dirty="0">
                        <a:latin typeface="Montserrat" charset="0"/>
                        <a:ea typeface="Montserrat" charset="0"/>
                        <a:cs typeface="Montserrat"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3540">
                <a:tc>
                  <a:txBody>
                    <a:bodyPr/>
                    <a:lstStyle/>
                    <a:p>
                      <a:pPr marL="0" indent="0">
                        <a:lnSpc>
                          <a:spcPts val="1960"/>
                        </a:lnSpc>
                        <a:buNone/>
                      </a:pPr>
                      <a:r>
                        <a:rPr lang="en-US" sz="1400" dirty="0">
                          <a:solidFill>
                            <a:srgbClr val="F4F7FD"/>
                          </a:solidFill>
                          <a:latin typeface="Montserrat" pitchFamily="34" charset="0"/>
                          <a:ea typeface="Montserrat" pitchFamily="34" charset="-122"/>
                          <a:cs typeface="Montserrat" pitchFamily="34" charset="-120"/>
                        </a:rPr>
                        <a:t>PinSage</a:t>
                      </a:r>
                      <a:endParaRPr lang="en-US" sz="1400" dirty="0">
                        <a:latin typeface="Montserrat" charset="0"/>
                        <a:ea typeface="Montserrat" charset="0"/>
                        <a:cs typeface="Montserrat" charset="0"/>
                      </a:endParaRPr>
                    </a:p>
                  </a:txBody>
                  <a:tcPr marL="62230" marR="62230" marT="62230" marB="62230">
                    <a:lnL w="12700" cap="flat" cmpd="sng" algn="ctr">
                      <a:solidFill>
                        <a:srgbClr val="C1C4C8"/>
                      </a:solidFill>
                      <a:prstDash val="solid"/>
                      <a:round/>
                      <a:headEnd type="none" w="med" len="med"/>
                      <a:tailEnd type="none" w="med" len="med"/>
                    </a:lnL>
                    <a:lnR w="12700" cap="flat" cmpd="sng" algn="ctr">
                      <a:solidFill>
                        <a:srgbClr val="16306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63066"/>
                      </a:solidFill>
                      <a:prstDash val="solid"/>
                      <a:round/>
                      <a:headEnd type="none" w="med" len="med"/>
                      <a:tailEnd type="none" w="med" len="med"/>
                    </a:lnB>
                    <a:solidFill>
                      <a:srgbClr val="17387E"/>
                    </a:solidFill>
                  </a:tcPr>
                </a:tc>
                <a:tc>
                  <a:txBody>
                    <a:bodyPr/>
                    <a:lstStyle/>
                    <a:p>
                      <a:pPr marL="0" indent="0" algn="r">
                        <a:lnSpc>
                          <a:spcPts val="1960"/>
                        </a:lnSpc>
                        <a:buNone/>
                      </a:pPr>
                      <a:r>
                        <a:rPr lang="en-US" sz="1400" dirty="0">
                          <a:solidFill>
                            <a:srgbClr val="F4F7FD"/>
                          </a:solidFill>
                          <a:latin typeface="Montserrat" pitchFamily="34" charset="0"/>
                          <a:ea typeface="Montserrat" pitchFamily="34" charset="-122"/>
                          <a:cs typeface="Montserrat" pitchFamily="34" charset="-120"/>
                        </a:rPr>
                        <a:t>67%</a:t>
                      </a:r>
                      <a:endParaRPr lang="en-US" sz="1400" dirty="0">
                        <a:latin typeface="Montserrat" charset="0"/>
                        <a:ea typeface="Montserrat" charset="0"/>
                        <a:cs typeface="Montserrat" charset="0"/>
                      </a:endParaRPr>
                    </a:p>
                  </a:txBody>
                  <a:tcPr marL="62230" marR="62230" marT="62230" marB="62230">
                    <a:lnL w="12700" cap="flat" cmpd="sng" algn="ctr">
                      <a:solidFill>
                        <a:srgbClr val="163066"/>
                      </a:solidFill>
                      <a:prstDash val="solid"/>
                      <a:round/>
                      <a:headEnd type="none" w="med" len="med"/>
                      <a:tailEnd type="none" w="med" len="med"/>
                    </a:lnL>
                    <a:lnR w="12700" cap="flat" cmpd="sng" algn="ctr">
                      <a:solidFill>
                        <a:srgbClr val="16306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63066"/>
                      </a:solidFill>
                      <a:prstDash val="solid"/>
                      <a:round/>
                      <a:headEnd type="none" w="med" len="med"/>
                      <a:tailEnd type="none" w="med" len="med"/>
                    </a:lnB>
                    <a:solidFill>
                      <a:srgbClr val="17387E"/>
                    </a:solidFill>
                  </a:tcPr>
                </a:tc>
                <a:tc>
                  <a:txBody>
                    <a:bodyPr/>
                    <a:lstStyle/>
                    <a:p>
                      <a:pPr marL="0" indent="0" algn="r">
                        <a:lnSpc>
                          <a:spcPts val="1960"/>
                        </a:lnSpc>
                        <a:buNone/>
                      </a:pPr>
                      <a:r>
                        <a:rPr lang="en-US" sz="1400" dirty="0">
                          <a:solidFill>
                            <a:srgbClr val="F4F7FD"/>
                          </a:solidFill>
                          <a:latin typeface="Montserrat" pitchFamily="34" charset="0"/>
                          <a:ea typeface="Montserrat" pitchFamily="34" charset="-122"/>
                          <a:cs typeface="Montserrat" pitchFamily="34" charset="-120"/>
                        </a:rPr>
                        <a:t>0.59</a:t>
                      </a:r>
                      <a:endParaRPr lang="en-US" sz="1400" dirty="0">
                        <a:latin typeface="Montserrat" charset="0"/>
                        <a:ea typeface="Montserrat" charset="0"/>
                        <a:cs typeface="Montserrat" charset="0"/>
                      </a:endParaRPr>
                    </a:p>
                  </a:txBody>
                  <a:tcPr marL="62230" marR="62230" marT="62230" marB="62230">
                    <a:lnL w="12700" cap="flat" cmpd="sng" algn="ctr">
                      <a:solidFill>
                        <a:srgbClr val="163066"/>
                      </a:solidFill>
                      <a:prstDash val="solid"/>
                      <a:round/>
                      <a:headEnd type="none" w="med" len="med"/>
                      <a:tailEnd type="none" w="med" len="med"/>
                    </a:lnL>
                    <a:lnR w="12700" cap="flat" cmpd="sng" algn="ctr">
                      <a:solidFill>
                        <a:srgbClr val="16306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63066"/>
                      </a:solidFill>
                      <a:prstDash val="solid"/>
                      <a:round/>
                      <a:headEnd type="none" w="med" len="med"/>
                      <a:tailEnd type="none" w="med" len="med"/>
                    </a:lnB>
                    <a:solidFill>
                      <a:srgbClr val="17387E"/>
                    </a:solidFill>
                  </a:tcPr>
                </a:tc>
                <a:extLst>
                  <a:ext uri="{0D108BD9-81ED-4DB2-BD59-A6C34878D82A}">
                    <a16:rowId xmlns:a16="http://schemas.microsoft.com/office/drawing/2014/main" val="10008"/>
                  </a:ext>
                </a:extLst>
              </a:tr>
            </a:tbl>
          </a:graphicData>
        </a:graphic>
      </p:graphicFrame>
      <p:sp>
        <p:nvSpPr>
          <p:cNvPr id="7" name="Text 4"/>
          <p:cNvSpPr/>
          <p:nvPr/>
        </p:nvSpPr>
        <p:spPr>
          <a:xfrm>
            <a:off x="5899150" y="1814829"/>
            <a:ext cx="5473700" cy="1567180"/>
          </a:xfrm>
          <a:prstGeom prst="roundRect">
            <a:avLst>
              <a:gd name="adj" fmla="val 7699"/>
            </a:avLst>
          </a:prstGeom>
          <a:solidFill>
            <a:srgbClr val="FFFFFF"/>
          </a:solidFill>
          <a:ln w="12700">
            <a:solidFill>
              <a:srgbClr val="D5E0F3"/>
            </a:solidFill>
            <a:prstDash val="solid"/>
          </a:ln>
        </p:spPr>
        <p:txBody>
          <a:bodyPr wrap="square" lIns="146273" tIns="108173" rIns="0" bIns="82773" rtlCol="0" anchor="t">
            <a:normAutofit/>
          </a:bodyPr>
          <a:lstStyle/>
          <a:p>
            <a:pPr marL="0" indent="0" algn="l">
              <a:lnSpc>
                <a:spcPts val="1680"/>
              </a:lnSpc>
              <a:buNone/>
            </a:pPr>
            <a:r>
              <a:rPr lang="en-US" sz="1200" dirty="0">
                <a:solidFill>
                  <a:srgbClr val="1F3563"/>
                </a:solidFill>
                <a:latin typeface="Montserrat" pitchFamily="34" charset="0"/>
                <a:ea typeface="Montserrat" pitchFamily="34" charset="-122"/>
                <a:cs typeface="Montserrat" pitchFamily="34" charset="-120"/>
              </a:rPr>
              <a:t>В таблиці представлено результати з дослідження Pinterest (KDD 2018). Зверніть увагу на перші три рядки. Якщо ми спираємося виключно на зображення (Visual) або лише на текст (Annotation), точність низька — Hit-rate складає всього 14–17%. Коли ми об’єднуємо обидва сигнали (Combined), Hit-rate зростає до 27%, а MRR — до 0,37.</a:t>
            </a:r>
            <a:endParaRPr lang="en-US" sz="1200" dirty="0">
              <a:latin typeface="Montserrat" charset="0"/>
              <a:ea typeface="Montserrat" charset="0"/>
              <a:cs typeface="Montserrat" charset="0"/>
            </a:endParaRPr>
          </a:p>
        </p:txBody>
      </p:sp>
      <p:sp>
        <p:nvSpPr>
          <p:cNvPr id="8" name="Text 5"/>
          <p:cNvSpPr/>
          <p:nvPr/>
        </p:nvSpPr>
        <p:spPr>
          <a:xfrm>
            <a:off x="5892800" y="3515364"/>
            <a:ext cx="5486400" cy="1346200"/>
          </a:xfrm>
          <a:prstGeom prst="roundRect">
            <a:avLst>
              <a:gd name="adj" fmla="val 9434"/>
            </a:avLst>
          </a:prstGeom>
          <a:solidFill>
            <a:srgbClr val="17387E"/>
          </a:solidFill>
          <a:ln/>
        </p:spPr>
        <p:txBody>
          <a:bodyPr wrap="square" lIns="140603" tIns="102503" rIns="0" bIns="77103" rtlCol="0" anchor="t">
            <a:normAutofit/>
          </a:bodyPr>
          <a:lstStyle/>
          <a:p>
            <a:pPr marL="0" indent="0" algn="l">
              <a:lnSpc>
                <a:spcPts val="1680"/>
              </a:lnSpc>
              <a:buNone/>
            </a:pPr>
            <a:r>
              <a:rPr lang="en-US" sz="1200" dirty="0">
                <a:solidFill>
                  <a:srgbClr val="F4F7FD"/>
                </a:solidFill>
                <a:latin typeface="Montserrat" pitchFamily="34" charset="0"/>
                <a:ea typeface="Montserrat" pitchFamily="34" charset="-122"/>
                <a:cs typeface="Montserrat" pitchFamily="34" charset="-120"/>
              </a:rPr>
              <a:t>Простий перехід до базової GNN (mean-pooling) одразу піднімає Hit-rate із 27% до 41%. Додавання адаптивного навчання на важких негативах (mean-pooling-hard) дає ще +5% до Hit-rate. Повна індуктивна архітектура PinSage досягає 67% Hit-rate. MRR піднімається до 0,59.</a:t>
            </a:r>
            <a:endParaRPr lang="en-US" sz="1200" dirty="0">
              <a:latin typeface="Montserrat" charset="0"/>
              <a:ea typeface="Montserrat" charset="0"/>
              <a:cs typeface="Montserrat" charset="0"/>
            </a:endParaRPr>
          </a:p>
        </p:txBody>
      </p:sp>
      <p:sp>
        <p:nvSpPr>
          <p:cNvPr id="9" name="Text 6"/>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Метрики та </a:t>
            </a:r>
            <a:r>
              <a:rPr lang="en-US" sz="1200" dirty="0" err="1">
                <a:solidFill>
                  <a:srgbClr val="55688F"/>
                </a:solidFill>
                <a:latin typeface="Montserrat" pitchFamily="34" charset="0"/>
                <a:ea typeface="Montserrat" pitchFamily="34" charset="-122"/>
                <a:cs typeface="Montserrat" pitchFamily="34" charset="-120"/>
              </a:rPr>
              <a:t>результати</a:t>
            </a:r>
            <a:r>
              <a:rPr lang="en-US" sz="1200" dirty="0">
                <a:solidFill>
                  <a:srgbClr val="55688F"/>
                </a:solidFill>
                <a:latin typeface="Montserrat" pitchFamily="34" charset="0"/>
                <a:ea typeface="Montserrat" pitchFamily="34" charset="-122"/>
                <a:cs typeface="Montserrat" pitchFamily="34" charset="-120"/>
              </a:rPr>
              <a:t> ·</a:t>
            </a:r>
            <a:endParaRPr lang="en-US" sz="1200" dirty="0">
              <a:latin typeface="Montserrat" charset="0"/>
              <a:ea typeface="Montserrat" charset="0"/>
              <a:cs typeface="Montserrat" charset="0"/>
            </a:endParaRPr>
          </a:p>
        </p:txBody>
      </p:sp>
      <p:sp>
        <p:nvSpPr>
          <p:cNvPr id="10" name="Text 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11 / 17</a:t>
            </a:r>
            <a:endParaRPr lang="en-US" sz="1200" dirty="0">
              <a:latin typeface="Montserrat" charset="0"/>
              <a:ea typeface="Montserrat" charset="0"/>
              <a:cs typeface="Montserrat"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39633"/>
          </a:xfrm>
          <a:prstGeom prst="rect">
            <a:avLst/>
          </a:prstGeom>
          <a:noFill/>
          <a:ln/>
        </p:spPr>
        <p:txBody>
          <a:bodyPr wrap="square" lIns="0" tIns="0" rIns="0" bIns="0" rtlCol="0" anchor="t">
            <a:normAutofit/>
          </a:bodyPr>
          <a:lstStyle/>
          <a:p>
            <a:pPr marL="0" indent="0" algn="l">
              <a:lnSpc>
                <a:spcPts val="1723"/>
              </a:lnSpc>
              <a:buNone/>
            </a:pPr>
            <a:r>
              <a:rPr lang="en-US" sz="1231" b="1" kern="0" spc="100" dirty="0">
                <a:solidFill>
                  <a:srgbClr val="3F6BC4"/>
                </a:solidFill>
                <a:latin typeface="Montserrat" pitchFamily="34" charset="0"/>
                <a:ea typeface="Montserrat" pitchFamily="34" charset="-122"/>
                <a:cs typeface="Montserrat" pitchFamily="34" charset="-120"/>
              </a:rPr>
              <a:t>СЛАЙД 12</a:t>
            </a:r>
            <a:endParaRPr lang="en-US" sz="1231" dirty="0">
              <a:latin typeface="Montserrat" charset="0"/>
              <a:ea typeface="Montserrat" charset="0"/>
              <a:cs typeface="Montserrat" charset="0"/>
            </a:endParaRPr>
          </a:p>
        </p:txBody>
      </p:sp>
      <p:sp>
        <p:nvSpPr>
          <p:cNvPr id="5" name="Text 3"/>
          <p:cNvSpPr>
            <a:spLocks noGrp="1"/>
          </p:cNvSpPr>
          <p:nvPr>
            <p:ph type="title"/>
          </p:nvPr>
        </p:nvSpPr>
        <p:spPr>
          <a:xfrm>
            <a:off x="812800" y="887332"/>
            <a:ext cx="9156700" cy="698738"/>
          </a:xfrm>
          <a:prstGeom prst="rect">
            <a:avLst/>
          </a:prstGeom>
          <a:noFill/>
          <a:ln/>
        </p:spPr>
        <p:txBody>
          <a:bodyPr wrap="square" lIns="0" tIns="0" rIns="0" bIns="0" rtlCol="0" anchor="t">
            <a:normAutofit/>
          </a:bodyPr>
          <a:lstStyle/>
          <a:p>
            <a:pPr marL="0" indent="0" algn="l">
              <a:lnSpc>
                <a:spcPts val="2654"/>
              </a:lnSpc>
              <a:buNone/>
            </a:pPr>
            <a:r>
              <a:rPr lang="en-US" sz="2413" b="1" i="0" dirty="0">
                <a:solidFill>
                  <a:srgbClr val="17387E"/>
                </a:solidFill>
                <a:latin typeface="Montserrat" pitchFamily="34" charset="0"/>
                <a:ea typeface="Montserrat" pitchFamily="34" charset="-122"/>
                <a:cs typeface="Montserrat" pitchFamily="34" charset="-120"/>
              </a:rPr>
              <a:t>ПОВЕДІНКА МОДЕЛЕЙ У СИТУАЦІЇ COLD START (ХОЛОДНИЙ СТАРТ)</a:t>
            </a:r>
            <a:endParaRPr lang="en-US" sz="2413" dirty="0">
              <a:latin typeface="Montserrat" charset="0"/>
              <a:ea typeface="Montserrat" charset="0"/>
              <a:cs typeface="Montserrat" charset="0"/>
            </a:endParaRPr>
          </a:p>
        </p:txBody>
      </p:sp>
      <p:sp>
        <p:nvSpPr>
          <p:cNvPr id="6" name="Text 4"/>
          <p:cNvSpPr/>
          <p:nvPr/>
        </p:nvSpPr>
        <p:spPr>
          <a:xfrm>
            <a:off x="812800" y="1713074"/>
            <a:ext cx="9810750" cy="455930"/>
          </a:xfrm>
          <a:prstGeom prst="rect">
            <a:avLst/>
          </a:prstGeom>
          <a:noFill/>
          <a:ln/>
        </p:spPr>
        <p:txBody>
          <a:bodyPr wrap="square" lIns="0" tIns="0" rIns="0" bIns="0" rtlCol="0" anchor="t">
            <a:normAutofit/>
          </a:bodyPr>
          <a:lstStyle/>
          <a:p>
            <a:pPr marL="0" indent="0" algn="l">
              <a:lnSpc>
                <a:spcPts val="1712"/>
              </a:lnSpc>
              <a:buNone/>
            </a:pPr>
            <a:r>
              <a:rPr lang="en-US" sz="1223" b="1" dirty="0">
                <a:solidFill>
                  <a:srgbClr val="17387E"/>
                </a:solidFill>
                <a:latin typeface="Montserrat" pitchFamily="34" charset="0"/>
                <a:ea typeface="Montserrat" pitchFamily="34" charset="-122"/>
                <a:cs typeface="Montserrat" pitchFamily="34" charset="-120"/>
              </a:rPr>
              <a:t>1) Суть проблеми Cold Start.</a:t>
            </a:r>
            <a:r>
              <a:rPr lang="en-US" sz="1223" dirty="0">
                <a:solidFill>
                  <a:srgbClr val="1F3563"/>
                </a:solidFill>
                <a:latin typeface="Montserrat" pitchFamily="34" charset="0"/>
                <a:ea typeface="Montserrat" pitchFamily="34" charset="-122"/>
                <a:cs typeface="Montserrat" pitchFamily="34" charset="-120"/>
              </a:rPr>
              <a:t> Поява нових користувачів або товарів у системі означає, що у графі взаємодій немає зв’язків (ребер) для цих нових вузлів.</a:t>
            </a:r>
            <a:endParaRPr lang="en-US" sz="1223" dirty="0">
              <a:latin typeface="Montserrat" charset="0"/>
              <a:ea typeface="Montserrat" charset="0"/>
              <a:cs typeface="Montserrat" charset="0"/>
            </a:endParaRPr>
          </a:p>
        </p:txBody>
      </p:sp>
      <p:sp>
        <p:nvSpPr>
          <p:cNvPr id="7" name="Text 5"/>
          <p:cNvSpPr/>
          <p:nvPr/>
        </p:nvSpPr>
        <p:spPr>
          <a:xfrm>
            <a:off x="812800" y="2296002"/>
            <a:ext cx="10883392" cy="240665"/>
          </a:xfrm>
          <a:prstGeom prst="rect">
            <a:avLst/>
          </a:prstGeom>
          <a:noFill/>
          <a:ln/>
        </p:spPr>
        <p:txBody>
          <a:bodyPr wrap="square" lIns="0" tIns="0" rIns="0" bIns="0" rtlCol="0" anchor="t">
            <a:normAutofit/>
          </a:bodyPr>
          <a:lstStyle/>
          <a:p>
            <a:pPr marL="0" indent="0" algn="l">
              <a:lnSpc>
                <a:spcPts val="1723"/>
              </a:lnSpc>
              <a:buNone/>
            </a:pPr>
            <a:r>
              <a:rPr lang="en-US" sz="1231" b="1" dirty="0">
                <a:solidFill>
                  <a:srgbClr val="17387E"/>
                </a:solidFill>
                <a:latin typeface="Montserrat" pitchFamily="34" charset="0"/>
                <a:ea typeface="Montserrat" pitchFamily="34" charset="-122"/>
                <a:cs typeface="Montserrat" pitchFamily="34" charset="-120"/>
              </a:rPr>
              <a:t>2) Поведінка моделей</a:t>
            </a:r>
            <a:endParaRPr lang="en-US" sz="1231" dirty="0">
              <a:latin typeface="Montserrat" charset="0"/>
              <a:ea typeface="Montserrat" charset="0"/>
              <a:cs typeface="Montserrat" charset="0"/>
            </a:endParaRPr>
          </a:p>
        </p:txBody>
      </p:sp>
      <p:sp>
        <p:nvSpPr>
          <p:cNvPr id="8" name="Shape 6"/>
          <p:cNvSpPr/>
          <p:nvPr/>
        </p:nvSpPr>
        <p:spPr>
          <a:xfrm>
            <a:off x="819150" y="2670020"/>
            <a:ext cx="3407807" cy="2085658"/>
          </a:xfrm>
          <a:prstGeom prst="roundRect">
            <a:avLst>
              <a:gd name="adj" fmla="val 5785"/>
            </a:avLst>
          </a:prstGeom>
          <a:solidFill>
            <a:srgbClr val="FFFFFF"/>
          </a:solidFill>
          <a:ln w="12700">
            <a:solidFill>
              <a:srgbClr val="D5E0F3"/>
            </a:solidFill>
            <a:prstDash val="solid"/>
          </a:ln>
        </p:spPr>
      </p:sp>
      <p:sp>
        <p:nvSpPr>
          <p:cNvPr id="9" name="Text 7"/>
          <p:cNvSpPr/>
          <p:nvPr/>
        </p:nvSpPr>
        <p:spPr>
          <a:xfrm>
            <a:off x="988060" y="2813527"/>
            <a:ext cx="3162086" cy="248047"/>
          </a:xfrm>
          <a:prstGeom prst="rect">
            <a:avLst/>
          </a:prstGeom>
          <a:noFill/>
          <a:ln/>
        </p:spPr>
        <p:txBody>
          <a:bodyPr wrap="square" lIns="0" tIns="0" rIns="0" bIns="0" rtlCol="0" anchor="t">
            <a:normAutofit/>
          </a:bodyPr>
          <a:lstStyle/>
          <a:p>
            <a:pPr marL="0" indent="0" algn="l">
              <a:lnSpc>
                <a:spcPts val="1770"/>
              </a:lnSpc>
              <a:buNone/>
            </a:pPr>
            <a:r>
              <a:rPr lang="en-US" sz="1475" b="1" dirty="0">
                <a:solidFill>
                  <a:srgbClr val="17387E"/>
                </a:solidFill>
                <a:latin typeface="Montserrat" pitchFamily="34" charset="0"/>
                <a:ea typeface="Montserrat" pitchFamily="34" charset="-122"/>
                <a:cs typeface="Montserrat" pitchFamily="34" charset="-120"/>
              </a:rPr>
              <a:t>GraphSAGE</a:t>
            </a:r>
            <a:endParaRPr lang="en-US" sz="1475" dirty="0">
              <a:latin typeface="Montserrat" charset="0"/>
              <a:ea typeface="Montserrat" charset="0"/>
              <a:cs typeface="Montserrat" charset="0"/>
            </a:endParaRPr>
          </a:p>
        </p:txBody>
      </p:sp>
      <p:sp>
        <p:nvSpPr>
          <p:cNvPr id="10" name="Shape 8"/>
          <p:cNvSpPr/>
          <p:nvPr/>
        </p:nvSpPr>
        <p:spPr>
          <a:xfrm>
            <a:off x="988060" y="3112374"/>
            <a:ext cx="3069987" cy="296386"/>
          </a:xfrm>
          <a:prstGeom prst="roundRect">
            <a:avLst>
              <a:gd name="adj" fmla="val 50000"/>
            </a:avLst>
          </a:prstGeom>
          <a:solidFill>
            <a:srgbClr val="17387E"/>
          </a:solidFill>
          <a:ln/>
        </p:spPr>
      </p:sp>
      <p:sp>
        <p:nvSpPr>
          <p:cNvPr id="11" name="Text 9"/>
          <p:cNvSpPr/>
          <p:nvPr/>
        </p:nvSpPr>
        <p:spPr>
          <a:xfrm>
            <a:off x="1115060" y="3163174"/>
            <a:ext cx="2900466" cy="220186"/>
          </a:xfrm>
          <a:prstGeom prst="rect">
            <a:avLst/>
          </a:prstGeom>
          <a:noFill/>
          <a:ln/>
        </p:spPr>
        <p:txBody>
          <a:bodyPr wrap="square" lIns="0" tIns="0" rIns="0" bIns="0" rtlCol="0" anchor="t">
            <a:normAutofit/>
          </a:bodyPr>
          <a:lstStyle/>
          <a:p>
            <a:pPr marL="0" indent="0" algn="l">
              <a:lnSpc>
                <a:spcPts val="1570"/>
              </a:lnSpc>
              <a:buNone/>
            </a:pPr>
            <a:r>
              <a:rPr lang="en-US" sz="1121" b="1" dirty="0">
                <a:solidFill>
                  <a:srgbClr val="F4F7FD"/>
                </a:solidFill>
                <a:latin typeface="Montserrat" pitchFamily="34" charset="0"/>
                <a:ea typeface="Montserrat" pitchFamily="34" charset="-122"/>
                <a:cs typeface="Montserrat" pitchFamily="34" charset="-120"/>
              </a:rPr>
              <a:t>Відмінно (High Performance)</a:t>
            </a:r>
            <a:endParaRPr lang="en-US" sz="1121" dirty="0">
              <a:latin typeface="Montserrat" charset="0"/>
              <a:ea typeface="Montserrat" charset="0"/>
              <a:cs typeface="Montserrat" charset="0"/>
            </a:endParaRPr>
          </a:p>
        </p:txBody>
      </p:sp>
      <p:sp>
        <p:nvSpPr>
          <p:cNvPr id="12" name="Text 10"/>
          <p:cNvSpPr/>
          <p:nvPr/>
        </p:nvSpPr>
        <p:spPr>
          <a:xfrm>
            <a:off x="988060" y="3484959"/>
            <a:ext cx="3162086" cy="1152604"/>
          </a:xfrm>
          <a:prstGeom prst="rect">
            <a:avLst/>
          </a:prstGeom>
          <a:noFill/>
          <a:ln/>
        </p:spPr>
        <p:txBody>
          <a:bodyPr wrap="square" lIns="0" tIns="0" rIns="0" bIns="0" rtlCol="0" anchor="t">
            <a:normAutofit/>
          </a:bodyPr>
          <a:lstStyle/>
          <a:p>
            <a:pPr marL="0" indent="0" algn="l">
              <a:lnSpc>
                <a:spcPts val="1610"/>
              </a:lnSpc>
              <a:buNone/>
            </a:pPr>
            <a:r>
              <a:rPr lang="en-US" sz="1193" dirty="0">
                <a:solidFill>
                  <a:srgbClr val="1F3563"/>
                </a:solidFill>
                <a:latin typeface="Montserrat" pitchFamily="34" charset="0"/>
                <a:ea typeface="Montserrat" pitchFamily="34" charset="-122"/>
                <a:cs typeface="Montserrat" pitchFamily="34" charset="-120"/>
              </a:rPr>
              <a:t>Генерує ембеддинги на основі атрибутів вузла (наприклад, текстовий опис товару, категорія, анкета користувача). Відсутність зв’язків у графі не блокує роботу агрегатора.</a:t>
            </a:r>
            <a:endParaRPr lang="en-US" sz="1193" dirty="0">
              <a:latin typeface="Montserrat" charset="0"/>
              <a:ea typeface="Montserrat" charset="0"/>
              <a:cs typeface="Montserrat" charset="0"/>
            </a:endParaRPr>
          </a:p>
        </p:txBody>
      </p:sp>
      <p:sp>
        <p:nvSpPr>
          <p:cNvPr id="13" name="Shape 11"/>
          <p:cNvSpPr/>
          <p:nvPr/>
        </p:nvSpPr>
        <p:spPr>
          <a:xfrm>
            <a:off x="4392057" y="2670020"/>
            <a:ext cx="3407886" cy="2085658"/>
          </a:xfrm>
          <a:prstGeom prst="roundRect">
            <a:avLst>
              <a:gd name="adj" fmla="val 5785"/>
            </a:avLst>
          </a:prstGeom>
          <a:solidFill>
            <a:srgbClr val="FFFFFF"/>
          </a:solidFill>
          <a:ln w="12700">
            <a:solidFill>
              <a:srgbClr val="D5E0F3"/>
            </a:solidFill>
            <a:prstDash val="solid"/>
          </a:ln>
        </p:spPr>
      </p:sp>
      <p:sp>
        <p:nvSpPr>
          <p:cNvPr id="14" name="Text 12"/>
          <p:cNvSpPr/>
          <p:nvPr/>
        </p:nvSpPr>
        <p:spPr>
          <a:xfrm>
            <a:off x="4560967" y="2813527"/>
            <a:ext cx="3162168" cy="247015"/>
          </a:xfrm>
          <a:prstGeom prst="rect">
            <a:avLst/>
          </a:prstGeom>
          <a:noFill/>
          <a:ln/>
        </p:spPr>
        <p:txBody>
          <a:bodyPr wrap="square" lIns="0" tIns="0" rIns="0" bIns="0" rtlCol="0" anchor="t">
            <a:normAutofit/>
          </a:bodyPr>
          <a:lstStyle/>
          <a:p>
            <a:pPr marL="0" indent="0" algn="l">
              <a:lnSpc>
                <a:spcPts val="1770"/>
              </a:lnSpc>
              <a:buNone/>
            </a:pPr>
            <a:r>
              <a:rPr lang="en-US" sz="1475" b="1" dirty="0">
                <a:solidFill>
                  <a:srgbClr val="17387E"/>
                </a:solidFill>
                <a:latin typeface="Montserrat" pitchFamily="34" charset="0"/>
                <a:ea typeface="Montserrat" pitchFamily="34" charset="-122"/>
                <a:cs typeface="Montserrat" pitchFamily="34" charset="-120"/>
              </a:rPr>
              <a:t>GAT</a:t>
            </a:r>
            <a:endParaRPr lang="en-US" sz="1475" dirty="0">
              <a:latin typeface="Montserrat" charset="0"/>
              <a:ea typeface="Montserrat" charset="0"/>
              <a:cs typeface="Montserrat" charset="0"/>
            </a:endParaRPr>
          </a:p>
        </p:txBody>
      </p:sp>
      <p:sp>
        <p:nvSpPr>
          <p:cNvPr id="15" name="Text 13"/>
          <p:cNvSpPr/>
          <p:nvPr/>
        </p:nvSpPr>
        <p:spPr>
          <a:xfrm>
            <a:off x="4560967" y="3111345"/>
            <a:ext cx="3070066" cy="489506"/>
          </a:xfrm>
          <a:custGeom>
            <a:avLst/>
            <a:gdLst/>
            <a:ahLst/>
            <a:cxnLst/>
            <a:rect l="l" t="t" r="r" b="b"/>
            <a:pathLst>
              <a:path w="3070066" h="489506">
                <a:moveTo>
                  <a:pt x="190500" y="0"/>
                </a:moveTo>
                <a:lnTo>
                  <a:pt x="2879566" y="0"/>
                </a:lnTo>
                <a:arcTo wR="190500" hR="190500" stAng="16200000" swAng="5400000"/>
                <a:lnTo>
                  <a:pt x="3070066" y="299006"/>
                </a:lnTo>
                <a:arcTo wR="190500" hR="190500" stAng="0" swAng="5400000"/>
                <a:lnTo>
                  <a:pt x="190500" y="489506"/>
                </a:lnTo>
                <a:arcTo wR="190500" hR="190500" stAng="5400000" swAng="5400000"/>
                <a:lnTo>
                  <a:pt x="0" y="190500"/>
                </a:lnTo>
                <a:arcTo wR="190500" hR="190500" stAng="10800000" swAng="5400000"/>
                <a:close/>
              </a:path>
            </a:pathLst>
          </a:custGeom>
          <a:solidFill>
            <a:srgbClr val="9DBDEB"/>
          </a:solidFill>
          <a:ln/>
        </p:spPr>
        <p:txBody>
          <a:bodyPr wrap="none" lIns="0" tIns="50800" rIns="0" bIns="25400" rtlCol="0" anchor="t">
            <a:normAutofit/>
          </a:bodyPr>
          <a:lstStyle/>
          <a:p>
            <a:pPr marL="0" indent="0" algn="ctr">
              <a:lnSpc>
                <a:spcPts val="1612"/>
              </a:lnSpc>
              <a:buNone/>
            </a:pPr>
            <a:r>
              <a:rPr lang="en-US" sz="1151" b="1" dirty="0">
                <a:solidFill>
                  <a:srgbClr val="17387E"/>
                </a:solidFill>
                <a:latin typeface="Montserrat" pitchFamily="34" charset="0"/>
                <a:ea typeface="Montserrat" pitchFamily="34" charset="-122"/>
                <a:cs typeface="Montserrat" pitchFamily="34" charset="-120"/>
              </a:rPr>
              <a:t>Задовільно (Moderate Performance)</a:t>
            </a:r>
            <a:endParaRPr lang="en-US" sz="1151" dirty="0">
              <a:latin typeface="Montserrat" charset="0"/>
              <a:ea typeface="Montserrat" charset="0"/>
              <a:cs typeface="Montserrat" charset="0"/>
            </a:endParaRPr>
          </a:p>
        </p:txBody>
      </p:sp>
      <p:sp>
        <p:nvSpPr>
          <p:cNvPr id="16" name="Text 14"/>
          <p:cNvSpPr/>
          <p:nvPr/>
        </p:nvSpPr>
        <p:spPr>
          <a:xfrm>
            <a:off x="4560967" y="3677047"/>
            <a:ext cx="3162168" cy="960517"/>
          </a:xfrm>
          <a:prstGeom prst="rect">
            <a:avLst/>
          </a:prstGeom>
          <a:noFill/>
          <a:ln/>
        </p:spPr>
        <p:txBody>
          <a:bodyPr wrap="square" lIns="0" tIns="0" rIns="0" bIns="0" rtlCol="0" anchor="t">
            <a:normAutofit/>
          </a:bodyPr>
          <a:lstStyle/>
          <a:p>
            <a:pPr marL="0" indent="0" algn="l">
              <a:lnSpc>
                <a:spcPts val="1473"/>
              </a:lnSpc>
              <a:buNone/>
            </a:pPr>
            <a:r>
              <a:rPr lang="en-US" sz="1091" dirty="0">
                <a:solidFill>
                  <a:srgbClr val="1F3563"/>
                </a:solidFill>
                <a:latin typeface="Montserrat" pitchFamily="34" charset="0"/>
                <a:ea typeface="Montserrat" pitchFamily="34" charset="-122"/>
                <a:cs typeface="Montserrat" pitchFamily="34" charset="-120"/>
              </a:rPr>
              <a:t>Може використовувати початкові атрибути вузлів, але механізм Self-Attention не розкриває свій потенціал через відсутність сусідів для порівняння та зважування.</a:t>
            </a:r>
            <a:endParaRPr lang="en-US" sz="1091" dirty="0">
              <a:latin typeface="Montserrat" charset="0"/>
              <a:ea typeface="Montserrat" charset="0"/>
              <a:cs typeface="Montserrat" charset="0"/>
            </a:endParaRPr>
          </a:p>
        </p:txBody>
      </p:sp>
      <p:sp>
        <p:nvSpPr>
          <p:cNvPr id="17" name="Shape 15"/>
          <p:cNvSpPr/>
          <p:nvPr/>
        </p:nvSpPr>
        <p:spPr>
          <a:xfrm>
            <a:off x="7965043" y="2670020"/>
            <a:ext cx="3407807" cy="2085658"/>
          </a:xfrm>
          <a:prstGeom prst="roundRect">
            <a:avLst>
              <a:gd name="adj" fmla="val 5785"/>
            </a:avLst>
          </a:prstGeom>
          <a:solidFill>
            <a:srgbClr val="FFFFFF"/>
          </a:solidFill>
          <a:ln w="12700">
            <a:solidFill>
              <a:srgbClr val="D5E0F3"/>
            </a:solidFill>
            <a:prstDash val="solid"/>
          </a:ln>
        </p:spPr>
      </p:sp>
      <p:sp>
        <p:nvSpPr>
          <p:cNvPr id="18" name="Text 16"/>
          <p:cNvSpPr/>
          <p:nvPr/>
        </p:nvSpPr>
        <p:spPr>
          <a:xfrm>
            <a:off x="8133953" y="2813527"/>
            <a:ext cx="31620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87E"/>
                </a:solidFill>
                <a:latin typeface="Montserrat" pitchFamily="34" charset="0"/>
                <a:ea typeface="Montserrat" pitchFamily="34" charset="-122"/>
                <a:cs typeface="Montserrat" pitchFamily="34" charset="-120"/>
              </a:rPr>
              <a:t>LightGCN</a:t>
            </a:r>
            <a:endParaRPr lang="en-US" sz="1600" dirty="0">
              <a:latin typeface="Montserrat" charset="0"/>
              <a:ea typeface="Montserrat" charset="0"/>
              <a:cs typeface="Montserrat" charset="0"/>
            </a:endParaRPr>
          </a:p>
        </p:txBody>
      </p:sp>
      <p:sp>
        <p:nvSpPr>
          <p:cNvPr id="19" name="Text 17"/>
          <p:cNvSpPr/>
          <p:nvPr/>
        </p:nvSpPr>
        <p:spPr>
          <a:xfrm>
            <a:off x="8133953" y="3133570"/>
            <a:ext cx="3069987" cy="314960"/>
          </a:xfrm>
          <a:prstGeom prst="roundRect">
            <a:avLst>
              <a:gd name="adj" fmla="val 50000"/>
            </a:avLst>
          </a:prstGeom>
          <a:solidFill>
            <a:srgbClr val="F2A65A"/>
          </a:solidFill>
          <a:ln/>
        </p:spPr>
        <p:txBody>
          <a:bodyPr wrap="square" lIns="80876" tIns="4676" rIns="0" bIns="0" rtlCol="0" anchor="t">
            <a:normAutofit/>
          </a:bodyPr>
          <a:lstStyle/>
          <a:p>
            <a:pPr marL="0" indent="0" algn="l">
              <a:lnSpc>
                <a:spcPts val="1680"/>
              </a:lnSpc>
              <a:buNone/>
            </a:pPr>
            <a:r>
              <a:rPr lang="en-US" sz="1200" b="1" dirty="0">
                <a:solidFill>
                  <a:srgbClr val="3A1F00"/>
                </a:solidFill>
                <a:latin typeface="Montserrat" pitchFamily="34" charset="0"/>
                <a:ea typeface="Montserrat" pitchFamily="34" charset="-122"/>
                <a:cs typeface="Montserrat" pitchFamily="34" charset="-120"/>
              </a:rPr>
              <a:t>Критично / Не працює (Fails)</a:t>
            </a:r>
            <a:endParaRPr lang="en-US" sz="1200" dirty="0">
              <a:latin typeface="Montserrat" charset="0"/>
              <a:ea typeface="Montserrat" charset="0"/>
              <a:cs typeface="Montserrat" charset="0"/>
            </a:endParaRPr>
          </a:p>
        </p:txBody>
      </p:sp>
      <p:sp>
        <p:nvSpPr>
          <p:cNvPr id="20" name="Text 18"/>
          <p:cNvSpPr/>
          <p:nvPr/>
        </p:nvSpPr>
        <p:spPr>
          <a:xfrm>
            <a:off x="8133953" y="3524727"/>
            <a:ext cx="3162086" cy="105410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F3563"/>
                </a:solidFill>
                <a:latin typeface="Montserrat" pitchFamily="34" charset="0"/>
                <a:ea typeface="Montserrat" pitchFamily="34" charset="-122"/>
                <a:cs typeface="Montserrat" pitchFamily="34" charset="-120"/>
              </a:rPr>
              <a:t>Повністю опирається на топологію графа та ID-ембеддинги. Якщо у нового вузла немає ребер, його ембеддинг залишається випадково ініціалізованим вектором.</a:t>
            </a:r>
            <a:endParaRPr lang="en-US" sz="1200" dirty="0">
              <a:latin typeface="Montserrat" charset="0"/>
              <a:ea typeface="Montserrat" charset="0"/>
              <a:cs typeface="Montserrat" charset="0"/>
            </a:endParaRPr>
          </a:p>
        </p:txBody>
      </p:sp>
      <p:sp>
        <p:nvSpPr>
          <p:cNvPr id="21" name="Shape 19"/>
          <p:cNvSpPr/>
          <p:nvPr/>
        </p:nvSpPr>
        <p:spPr>
          <a:xfrm>
            <a:off x="812800" y="4914423"/>
            <a:ext cx="10566400" cy="927576"/>
          </a:xfrm>
          <a:prstGeom prst="roundRect">
            <a:avLst>
              <a:gd name="adj" fmla="val 13692"/>
            </a:avLst>
          </a:prstGeom>
          <a:solidFill>
            <a:srgbClr val="17387E"/>
          </a:solidFill>
          <a:ln/>
        </p:spPr>
      </p:sp>
      <p:sp>
        <p:nvSpPr>
          <p:cNvPr id="22" name="Text 20"/>
          <p:cNvSpPr/>
          <p:nvPr/>
        </p:nvSpPr>
        <p:spPr>
          <a:xfrm>
            <a:off x="1016000" y="5054123"/>
            <a:ext cx="10464800" cy="223282"/>
          </a:xfrm>
          <a:prstGeom prst="rect">
            <a:avLst/>
          </a:prstGeom>
          <a:noFill/>
          <a:ln/>
        </p:spPr>
        <p:txBody>
          <a:bodyPr wrap="square" lIns="0" tIns="0" rIns="0" bIns="0" rtlCol="0" anchor="t">
            <a:normAutofit/>
          </a:bodyPr>
          <a:lstStyle/>
          <a:p>
            <a:pPr marL="0" indent="0" algn="l">
              <a:lnSpc>
                <a:spcPts val="1570"/>
              </a:lnSpc>
              <a:buNone/>
            </a:pPr>
            <a:r>
              <a:rPr lang="en-US" sz="1121" b="1" kern="0" spc="50" dirty="0">
                <a:solidFill>
                  <a:srgbClr val="9DBDEB"/>
                </a:solidFill>
                <a:latin typeface="Montserrat" pitchFamily="34" charset="0"/>
                <a:ea typeface="Montserrat" pitchFamily="34" charset="-122"/>
                <a:cs typeface="Montserrat" pitchFamily="34" charset="-120"/>
              </a:rPr>
              <a:t>3) ПРАКТИЧНИЙ ВИСНОВОК</a:t>
            </a:r>
            <a:endParaRPr lang="en-US" sz="1121" dirty="0">
              <a:latin typeface="Montserrat" charset="0"/>
              <a:ea typeface="Montserrat" charset="0"/>
              <a:cs typeface="Montserrat" charset="0"/>
            </a:endParaRPr>
          </a:p>
        </p:txBody>
      </p:sp>
      <p:sp>
        <p:nvSpPr>
          <p:cNvPr id="23" name="Text 21"/>
          <p:cNvSpPr/>
          <p:nvPr/>
        </p:nvSpPr>
        <p:spPr>
          <a:xfrm>
            <a:off x="1016000" y="5290108"/>
            <a:ext cx="10464800" cy="437594"/>
          </a:xfrm>
          <a:prstGeom prst="rect">
            <a:avLst/>
          </a:prstGeom>
          <a:noFill/>
          <a:ln/>
        </p:spPr>
        <p:txBody>
          <a:bodyPr wrap="square" lIns="0" tIns="0" rIns="0" bIns="0" rtlCol="0" anchor="t">
            <a:normAutofit/>
          </a:bodyPr>
          <a:lstStyle/>
          <a:p>
            <a:pPr marL="0" indent="0" algn="l">
              <a:lnSpc>
                <a:spcPts val="1635"/>
              </a:lnSpc>
              <a:buNone/>
            </a:pPr>
            <a:r>
              <a:rPr lang="en-US" sz="1168" dirty="0">
                <a:solidFill>
                  <a:srgbClr val="F4F7FD"/>
                </a:solidFill>
                <a:latin typeface="Montserrat" pitchFamily="34" charset="0"/>
                <a:ea typeface="Montserrat" pitchFamily="34" charset="-122"/>
                <a:cs typeface="Montserrat" pitchFamily="34" charset="-120"/>
              </a:rPr>
              <a:t>Для рекомендаційних систем із частим Cold Start використовують гібридні підходи (наприклад, поєднання GraphSAGE для нових об’єктів та LightGCN для активної частини графа).</a:t>
            </a:r>
            <a:endParaRPr lang="en-US" sz="1168" dirty="0">
              <a:latin typeface="Montserrat" charset="0"/>
              <a:ea typeface="Montserrat" charset="0"/>
              <a:cs typeface="Montserrat" charset="0"/>
            </a:endParaRPr>
          </a:p>
        </p:txBody>
      </p:sp>
      <p:sp>
        <p:nvSpPr>
          <p:cNvPr id="24" name="Text 22"/>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Моделі GNN ·</a:t>
            </a:r>
            <a:endParaRPr lang="en-US" sz="1200" dirty="0">
              <a:latin typeface="Montserrat" charset="0"/>
              <a:ea typeface="Montserrat" charset="0"/>
              <a:cs typeface="Montserrat" charset="0"/>
            </a:endParaRPr>
          </a:p>
        </p:txBody>
      </p:sp>
      <p:sp>
        <p:nvSpPr>
          <p:cNvPr id="25" name="Text 2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12 / 17</a:t>
            </a:r>
            <a:endParaRPr lang="en-US" sz="1200" dirty="0">
              <a:latin typeface="Montserrat" charset="0"/>
              <a:ea typeface="Montserrat" charset="0"/>
              <a:cs typeface="Montserrat"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13</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42"/>
            <a:ext cx="9156700" cy="111506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ОБМЕЖЕННЯ ТА ТЕХНІЧНІ РИЗИКИ ВПРОВАДЖЕННЯ GNN (ГРАФОВОЇ НЕЙРОННОЇ МЕРЕЖІ)</a:t>
            </a:r>
            <a:endParaRPr lang="en-US" sz="2600" dirty="0">
              <a:latin typeface="Montserrat" charset="0"/>
              <a:ea typeface="Montserrat" charset="0"/>
              <a:cs typeface="Montserrat" charset="0"/>
            </a:endParaRPr>
          </a:p>
        </p:txBody>
      </p:sp>
      <p:sp>
        <p:nvSpPr>
          <p:cNvPr id="6" name="Shape 4"/>
          <p:cNvSpPr/>
          <p:nvPr/>
        </p:nvSpPr>
        <p:spPr>
          <a:xfrm>
            <a:off x="819150" y="2228850"/>
            <a:ext cx="3397647" cy="3081020"/>
          </a:xfrm>
          <a:prstGeom prst="roundRect">
            <a:avLst>
              <a:gd name="adj" fmla="val 4740"/>
            </a:avLst>
          </a:prstGeom>
          <a:solidFill>
            <a:srgbClr val="FFFFFF"/>
          </a:solidFill>
          <a:ln w="12700">
            <a:solidFill>
              <a:srgbClr val="D5E0F3"/>
            </a:solidFill>
            <a:prstDash val="solid"/>
          </a:ln>
        </p:spPr>
      </p:sp>
      <p:pic>
        <p:nvPicPr>
          <p:cNvPr id="7" name="Image 0" descr="Lightning"/>
          <p:cNvPicPr>
            <a:picLocks noChangeAspect="1"/>
          </p:cNvPicPr>
          <p:nvPr/>
        </p:nvPicPr>
        <p:blipFill>
          <a:blip r:embed="rId3"/>
          <a:srcRect/>
          <a:stretch/>
        </p:blipFill>
        <p:spPr>
          <a:xfrm>
            <a:off x="1038860" y="2461264"/>
            <a:ext cx="406400" cy="406400"/>
          </a:xfrm>
          <a:prstGeom prst="rect">
            <a:avLst/>
          </a:prstGeom>
        </p:spPr>
      </p:pic>
      <p:sp>
        <p:nvSpPr>
          <p:cNvPr id="8" name="Text 5"/>
          <p:cNvSpPr/>
          <p:nvPr/>
        </p:nvSpPr>
        <p:spPr>
          <a:xfrm>
            <a:off x="1038860" y="2981964"/>
            <a:ext cx="3046974"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87E"/>
                </a:solidFill>
                <a:latin typeface="Montserrat" pitchFamily="34" charset="0"/>
                <a:ea typeface="Montserrat" pitchFamily="34" charset="-122"/>
                <a:cs typeface="Montserrat" pitchFamily="34" charset="-120"/>
              </a:rPr>
              <a:t>1) Обчислювальна вартість</a:t>
            </a:r>
            <a:endParaRPr lang="en-US" sz="1600" dirty="0">
              <a:latin typeface="Montserrat" charset="0"/>
              <a:ea typeface="Montserrat" charset="0"/>
              <a:cs typeface="Montserrat" charset="0"/>
            </a:endParaRPr>
          </a:p>
        </p:txBody>
      </p:sp>
      <p:sp>
        <p:nvSpPr>
          <p:cNvPr id="9" name="Text 6"/>
          <p:cNvSpPr/>
          <p:nvPr/>
        </p:nvSpPr>
        <p:spPr>
          <a:xfrm>
            <a:off x="1038860" y="3583942"/>
            <a:ext cx="3046974" cy="15189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3563"/>
                </a:solidFill>
                <a:latin typeface="Montserrat" pitchFamily="34" charset="0"/>
                <a:ea typeface="Montserrat" pitchFamily="34" charset="-122"/>
                <a:cs typeface="Montserrat" pitchFamily="34" charset="-120"/>
              </a:rPr>
              <a:t>Суть ризику:</a:t>
            </a:r>
            <a:r>
              <a:rPr lang="en-US" sz="1400" dirty="0">
                <a:solidFill>
                  <a:srgbClr val="1F3563"/>
                </a:solidFill>
                <a:latin typeface="Montserrat" pitchFamily="34" charset="0"/>
                <a:ea typeface="Montserrat" pitchFamily="34" charset="-122"/>
                <a:cs typeface="Montserrat" pitchFamily="34" charset="-120"/>
              </a:rPr>
              <a:t> Навчання на великих графах потребує значних обсягів відеопам’яті, використання сусідського семплювання та складного конвеєра обробки.</a:t>
            </a:r>
            <a:endParaRPr lang="en-US" sz="1400" dirty="0">
              <a:latin typeface="Montserrat" charset="0"/>
              <a:ea typeface="Montserrat" charset="0"/>
              <a:cs typeface="Montserrat" charset="0"/>
            </a:endParaRPr>
          </a:p>
        </p:txBody>
      </p:sp>
      <p:sp>
        <p:nvSpPr>
          <p:cNvPr id="10" name="Shape 7"/>
          <p:cNvSpPr/>
          <p:nvPr/>
        </p:nvSpPr>
        <p:spPr>
          <a:xfrm>
            <a:off x="4400947" y="2222500"/>
            <a:ext cx="3390106" cy="3093720"/>
          </a:xfrm>
          <a:prstGeom prst="roundRect">
            <a:avLst>
              <a:gd name="adj" fmla="val 4926"/>
            </a:avLst>
          </a:prstGeom>
          <a:solidFill>
            <a:srgbClr val="17387E"/>
          </a:solidFill>
          <a:ln/>
        </p:spPr>
      </p:sp>
      <p:pic>
        <p:nvPicPr>
          <p:cNvPr id="11" name="Image 1" descr="Lock"/>
          <p:cNvPicPr>
            <a:picLocks noChangeAspect="1"/>
          </p:cNvPicPr>
          <p:nvPr/>
        </p:nvPicPr>
        <p:blipFill>
          <a:blip r:embed="rId4"/>
          <a:srcRect/>
          <a:stretch/>
        </p:blipFill>
        <p:spPr>
          <a:xfrm>
            <a:off x="4616847" y="2451100"/>
            <a:ext cx="406400" cy="406400"/>
          </a:xfrm>
          <a:prstGeom prst="rect">
            <a:avLst/>
          </a:prstGeom>
        </p:spPr>
      </p:pic>
      <p:sp>
        <p:nvSpPr>
          <p:cNvPr id="12" name="Text 8"/>
          <p:cNvSpPr/>
          <p:nvPr/>
        </p:nvSpPr>
        <p:spPr>
          <a:xfrm>
            <a:off x="4616847" y="2971800"/>
            <a:ext cx="3047055" cy="10007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D"/>
                </a:solidFill>
                <a:latin typeface="Montserrat" pitchFamily="34" charset="0"/>
                <a:ea typeface="Montserrat" pitchFamily="34" charset="-122"/>
                <a:cs typeface="Montserrat" pitchFamily="34" charset="-120"/>
              </a:rPr>
              <a:t>2) Приватність: GDPR та Закон України «Про захист персональних даних»</a:t>
            </a:r>
            <a:endParaRPr lang="en-US" sz="1600" dirty="0">
              <a:latin typeface="Montserrat" charset="0"/>
              <a:ea typeface="Montserrat" charset="0"/>
              <a:cs typeface="Montserrat" charset="0"/>
            </a:endParaRPr>
          </a:p>
        </p:txBody>
      </p:sp>
      <p:sp>
        <p:nvSpPr>
          <p:cNvPr id="13" name="Text 9"/>
          <p:cNvSpPr/>
          <p:nvPr/>
        </p:nvSpPr>
        <p:spPr>
          <a:xfrm>
            <a:off x="4616847" y="4061464"/>
            <a:ext cx="304705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AF0FB"/>
                </a:solidFill>
                <a:latin typeface="Montserrat" pitchFamily="34" charset="0"/>
                <a:ea typeface="Montserrat" pitchFamily="34" charset="-122"/>
                <a:cs typeface="Montserrat" pitchFamily="34" charset="-120"/>
              </a:rPr>
              <a:t>Граф безпосередньо кодує історію дій, уподобання та соціальні зв’язки користувачів.</a:t>
            </a:r>
            <a:endParaRPr lang="en-US" sz="1400" dirty="0">
              <a:latin typeface="Montserrat" charset="0"/>
              <a:ea typeface="Montserrat" charset="0"/>
              <a:cs typeface="Montserrat" charset="0"/>
            </a:endParaRPr>
          </a:p>
        </p:txBody>
      </p:sp>
      <p:sp>
        <p:nvSpPr>
          <p:cNvPr id="14" name="Shape 10"/>
          <p:cNvSpPr/>
          <p:nvPr/>
        </p:nvSpPr>
        <p:spPr>
          <a:xfrm>
            <a:off x="7975203" y="2228850"/>
            <a:ext cx="3397647" cy="3081020"/>
          </a:xfrm>
          <a:prstGeom prst="roundRect">
            <a:avLst>
              <a:gd name="adj" fmla="val 4740"/>
            </a:avLst>
          </a:prstGeom>
          <a:solidFill>
            <a:srgbClr val="FFFFFF"/>
          </a:solidFill>
          <a:ln w="12700">
            <a:solidFill>
              <a:srgbClr val="D5E0F3"/>
            </a:solidFill>
            <a:prstDash val="solid"/>
          </a:ln>
        </p:spPr>
      </p:sp>
      <p:pic>
        <p:nvPicPr>
          <p:cNvPr id="15" name="Image 2" descr="Chart"/>
          <p:cNvPicPr>
            <a:picLocks noChangeAspect="1"/>
          </p:cNvPicPr>
          <p:nvPr/>
        </p:nvPicPr>
        <p:blipFill>
          <a:blip r:embed="rId5"/>
          <a:srcRect/>
          <a:stretch/>
        </p:blipFill>
        <p:spPr>
          <a:xfrm>
            <a:off x="8194913" y="2461264"/>
            <a:ext cx="406400" cy="406400"/>
          </a:xfrm>
          <a:prstGeom prst="rect">
            <a:avLst/>
          </a:prstGeom>
        </p:spPr>
      </p:pic>
      <p:sp>
        <p:nvSpPr>
          <p:cNvPr id="16" name="Text 11"/>
          <p:cNvSpPr/>
          <p:nvPr/>
        </p:nvSpPr>
        <p:spPr>
          <a:xfrm>
            <a:off x="8194913" y="2981964"/>
            <a:ext cx="3046974"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87E"/>
                </a:solidFill>
                <a:latin typeface="Montserrat" pitchFamily="34" charset="0"/>
                <a:ea typeface="Montserrat" pitchFamily="34" charset="-122"/>
                <a:cs typeface="Montserrat" pitchFamily="34" charset="-120"/>
              </a:rPr>
              <a:t>3) Обмеженість офлайн-оцінки</a:t>
            </a:r>
            <a:endParaRPr lang="en-US" sz="1600" dirty="0">
              <a:latin typeface="Montserrat" charset="0"/>
              <a:ea typeface="Montserrat" charset="0"/>
              <a:cs typeface="Montserrat" charset="0"/>
            </a:endParaRPr>
          </a:p>
        </p:txBody>
      </p:sp>
      <p:sp>
        <p:nvSpPr>
          <p:cNvPr id="17" name="Text 12"/>
          <p:cNvSpPr/>
          <p:nvPr/>
        </p:nvSpPr>
        <p:spPr>
          <a:xfrm>
            <a:off x="8194913" y="3583942"/>
            <a:ext cx="3046974" cy="127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563"/>
                </a:solidFill>
                <a:latin typeface="Montserrat" pitchFamily="34" charset="0"/>
                <a:ea typeface="Montserrat" pitchFamily="34" charset="-122"/>
                <a:cs typeface="Montserrat" pitchFamily="34" charset="-120"/>
              </a:rPr>
              <a:t>Оцінювання на статичному історичному датасеті не враховує динамічної поведінки користувача, зміни контексту та впливу інтерфейсу.</a:t>
            </a:r>
            <a:endParaRPr lang="en-US" sz="1400" dirty="0">
              <a:latin typeface="Montserrat" charset="0"/>
              <a:ea typeface="Montserrat" charset="0"/>
              <a:cs typeface="Montserrat" charset="0"/>
            </a:endParaRPr>
          </a:p>
        </p:txBody>
      </p:sp>
      <p:sp>
        <p:nvSpPr>
          <p:cNvPr id="18" name="Text 1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Метрики та </a:t>
            </a:r>
            <a:r>
              <a:rPr lang="en-US" sz="1200" dirty="0" err="1">
                <a:solidFill>
                  <a:srgbClr val="55688F"/>
                </a:solidFill>
                <a:latin typeface="Montserrat" pitchFamily="34" charset="0"/>
                <a:ea typeface="Montserrat" pitchFamily="34" charset="-122"/>
                <a:cs typeface="Montserrat" pitchFamily="34" charset="-120"/>
              </a:rPr>
              <a:t>результати</a:t>
            </a:r>
            <a:r>
              <a:rPr lang="en-US" sz="1200" dirty="0">
                <a:solidFill>
                  <a:srgbClr val="55688F"/>
                </a:solidFill>
                <a:latin typeface="Montserrat" pitchFamily="34" charset="0"/>
                <a:ea typeface="Montserrat" pitchFamily="34" charset="-122"/>
                <a:cs typeface="Montserrat" pitchFamily="34" charset="-120"/>
              </a:rPr>
              <a:t> ·</a:t>
            </a:r>
            <a:endParaRPr lang="en-US" sz="1200" dirty="0">
              <a:latin typeface="Montserrat" charset="0"/>
              <a:ea typeface="Montserrat" charset="0"/>
              <a:cs typeface="Montserrat" charset="0"/>
            </a:endParaRPr>
          </a:p>
        </p:txBody>
      </p:sp>
      <p:sp>
        <p:nvSpPr>
          <p:cNvPr id="19" name="Text 14"/>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13 / 17</a:t>
            </a:r>
            <a:endParaRPr lang="en-US" sz="1200" dirty="0">
              <a:latin typeface="Montserrat" charset="0"/>
              <a:ea typeface="Montserrat" charset="0"/>
              <a:cs typeface="Montserrat"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14</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42"/>
            <a:ext cx="9982200"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ІНЖЕНЕРНА ДОЦІЛЬНІСТЬ ТА ДОСВІД ІНДУСТРІЇ</a:t>
            </a:r>
            <a:endParaRPr lang="en-US" sz="2600" dirty="0">
              <a:latin typeface="Montserrat" charset="0"/>
              <a:ea typeface="Montserrat" charset="0"/>
              <a:cs typeface="Montserrat" charset="0"/>
            </a:endParaRPr>
          </a:p>
        </p:txBody>
      </p:sp>
      <p:sp>
        <p:nvSpPr>
          <p:cNvPr id="6" name="Text 4"/>
          <p:cNvSpPr/>
          <p:nvPr/>
        </p:nvSpPr>
        <p:spPr>
          <a:xfrm>
            <a:off x="812800" y="1445264"/>
            <a:ext cx="98107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563"/>
                </a:solidFill>
                <a:latin typeface="Montserrat" pitchFamily="34" charset="0"/>
                <a:ea typeface="Montserrat" pitchFamily="34" charset="-122"/>
                <a:cs typeface="Montserrat" pitchFamily="34" charset="-120"/>
              </a:rPr>
              <a:t>У дослідженні 2018 року команда Pinterest та Стенфорду вперше довела життєздатність GNN у масштабі веб-сервісу:</a:t>
            </a:r>
            <a:endParaRPr lang="en-US" sz="1400" dirty="0">
              <a:latin typeface="Montserrat" charset="0"/>
              <a:ea typeface="Montserrat" charset="0"/>
              <a:cs typeface="Montserrat" charset="0"/>
            </a:endParaRPr>
          </a:p>
        </p:txBody>
      </p:sp>
      <p:sp>
        <p:nvSpPr>
          <p:cNvPr id="7" name="Shape 5"/>
          <p:cNvSpPr/>
          <p:nvPr/>
        </p:nvSpPr>
        <p:spPr>
          <a:xfrm>
            <a:off x="812800" y="2120900"/>
            <a:ext cx="4064000" cy="1915160"/>
          </a:xfrm>
          <a:prstGeom prst="roundRect">
            <a:avLst>
              <a:gd name="adj" fmla="val 6631"/>
            </a:avLst>
          </a:prstGeom>
          <a:solidFill>
            <a:srgbClr val="17387E"/>
          </a:solidFill>
          <a:ln/>
        </p:spPr>
      </p:sp>
      <p:sp>
        <p:nvSpPr>
          <p:cNvPr id="8" name="Text 6"/>
          <p:cNvSpPr/>
          <p:nvPr/>
        </p:nvSpPr>
        <p:spPr>
          <a:xfrm>
            <a:off x="1003300" y="2286000"/>
            <a:ext cx="379349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DBDEB"/>
                </a:solidFill>
                <a:latin typeface="Montserrat" pitchFamily="34" charset="0"/>
                <a:ea typeface="Montserrat" pitchFamily="34" charset="-122"/>
                <a:cs typeface="Montserrat" pitchFamily="34" charset="-120"/>
              </a:rPr>
              <a:t>МАСШТАБ СИСТЕМИ</a:t>
            </a:r>
            <a:endParaRPr lang="en-US" sz="1200" dirty="0">
              <a:latin typeface="Montserrat" charset="0"/>
              <a:ea typeface="Montserrat" charset="0"/>
              <a:cs typeface="Montserrat" charset="0"/>
            </a:endParaRPr>
          </a:p>
        </p:txBody>
      </p:sp>
      <p:sp>
        <p:nvSpPr>
          <p:cNvPr id="9" name="Text 7"/>
          <p:cNvSpPr/>
          <p:nvPr/>
        </p:nvSpPr>
        <p:spPr>
          <a:xfrm>
            <a:off x="1003300" y="2575564"/>
            <a:ext cx="379349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7FD"/>
                </a:solidFill>
                <a:latin typeface="Montserrat" pitchFamily="34" charset="0"/>
                <a:ea typeface="Montserrat" pitchFamily="34" charset="-122"/>
                <a:cs typeface="Montserrat" pitchFamily="34" charset="-120"/>
              </a:rPr>
              <a:t>Граф із </a:t>
            </a:r>
            <a:r>
              <a:rPr lang="en-US" sz="1400" b="1" dirty="0">
                <a:solidFill>
                  <a:srgbClr val="F4F7FD"/>
                </a:solidFill>
                <a:latin typeface="Montserrat" pitchFamily="34" charset="0"/>
                <a:ea typeface="Montserrat" pitchFamily="34" charset="-122"/>
                <a:cs typeface="Montserrat" pitchFamily="34" charset="-120"/>
              </a:rPr>
              <a:t>3 мільярдів</a:t>
            </a:r>
            <a:r>
              <a:rPr lang="en-US" sz="1400" dirty="0">
                <a:solidFill>
                  <a:srgbClr val="F4F7FD"/>
                </a:solidFill>
                <a:latin typeface="Montserrat" pitchFamily="34" charset="0"/>
                <a:ea typeface="Montserrat" pitchFamily="34" charset="-122"/>
                <a:cs typeface="Montserrat" pitchFamily="34" charset="-120"/>
              </a:rPr>
              <a:t> вузлів і </a:t>
            </a:r>
            <a:r>
              <a:rPr lang="en-US" sz="1400" b="1" dirty="0">
                <a:solidFill>
                  <a:srgbClr val="F4F7FD"/>
                </a:solidFill>
                <a:latin typeface="Montserrat" pitchFamily="34" charset="0"/>
                <a:ea typeface="Montserrat" pitchFamily="34" charset="-122"/>
                <a:cs typeface="Montserrat" pitchFamily="34" charset="-120"/>
              </a:rPr>
              <a:t>18 мільярдів</a:t>
            </a:r>
            <a:r>
              <a:rPr lang="en-US" sz="1400" dirty="0">
                <a:solidFill>
                  <a:srgbClr val="F4F7FD"/>
                </a:solidFill>
                <a:latin typeface="Montserrat" pitchFamily="34" charset="0"/>
                <a:ea typeface="Montserrat" pitchFamily="34" charset="-122"/>
                <a:cs typeface="Montserrat" pitchFamily="34" charset="-120"/>
              </a:rPr>
              <a:t> ребер.</a:t>
            </a:r>
            <a:endParaRPr lang="en-US" sz="1400" dirty="0">
              <a:latin typeface="Montserrat" charset="0"/>
              <a:ea typeface="Montserrat" charset="0"/>
              <a:cs typeface="Montserrat" charset="0"/>
            </a:endParaRPr>
          </a:p>
        </p:txBody>
      </p:sp>
      <p:sp>
        <p:nvSpPr>
          <p:cNvPr id="10" name="Text 8"/>
          <p:cNvSpPr/>
          <p:nvPr/>
        </p:nvSpPr>
        <p:spPr>
          <a:xfrm>
            <a:off x="1003300" y="3149600"/>
            <a:ext cx="379349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7FD"/>
                </a:solidFill>
                <a:latin typeface="Montserrat" pitchFamily="34" charset="0"/>
                <a:ea typeface="Montserrat" pitchFamily="34" charset="-122"/>
                <a:cs typeface="Montserrat" pitchFamily="34" charset="-120"/>
              </a:rPr>
              <a:t>Навчання на вибірці з </a:t>
            </a:r>
            <a:r>
              <a:rPr lang="en-US" sz="1400" b="1" dirty="0">
                <a:solidFill>
                  <a:srgbClr val="F4F7FD"/>
                </a:solidFill>
                <a:latin typeface="Montserrat" pitchFamily="34" charset="0"/>
                <a:ea typeface="Montserrat" pitchFamily="34" charset="-122"/>
                <a:cs typeface="Montserrat" pitchFamily="34" charset="-120"/>
              </a:rPr>
              <a:t>7,5 млрд</a:t>
            </a:r>
            <a:r>
              <a:rPr lang="en-US" sz="1400" dirty="0">
                <a:solidFill>
                  <a:srgbClr val="F4F7FD"/>
                </a:solidFill>
                <a:latin typeface="Montserrat" pitchFamily="34" charset="0"/>
                <a:ea typeface="Montserrat" pitchFamily="34" charset="-122"/>
                <a:cs typeface="Montserrat" pitchFamily="34" charset="-120"/>
              </a:rPr>
              <a:t> тренувальних пар.</a:t>
            </a:r>
            <a:endParaRPr lang="en-US" sz="1400" dirty="0">
              <a:latin typeface="Montserrat" charset="0"/>
              <a:ea typeface="Montserrat" charset="0"/>
              <a:cs typeface="Montserrat" charset="0"/>
            </a:endParaRPr>
          </a:p>
        </p:txBody>
      </p:sp>
      <p:sp>
        <p:nvSpPr>
          <p:cNvPr id="11" name="Shape 9"/>
          <p:cNvSpPr/>
          <p:nvPr/>
        </p:nvSpPr>
        <p:spPr>
          <a:xfrm>
            <a:off x="5035550" y="2127250"/>
            <a:ext cx="6337300" cy="1902460"/>
          </a:xfrm>
          <a:prstGeom prst="roundRect">
            <a:avLst>
              <a:gd name="adj" fmla="val 6342"/>
            </a:avLst>
          </a:prstGeom>
          <a:solidFill>
            <a:srgbClr val="FFFFFF"/>
          </a:solidFill>
          <a:ln w="12700">
            <a:solidFill>
              <a:srgbClr val="D5E0F3"/>
            </a:solidFill>
            <a:prstDash val="solid"/>
          </a:ln>
        </p:spPr>
      </p:sp>
      <p:sp>
        <p:nvSpPr>
          <p:cNvPr id="12" name="Text 10"/>
          <p:cNvSpPr/>
          <p:nvPr/>
        </p:nvSpPr>
        <p:spPr>
          <a:xfrm>
            <a:off x="5229860" y="2296164"/>
            <a:ext cx="612714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3563"/>
                </a:solidFill>
                <a:latin typeface="Montserrat" pitchFamily="34" charset="0"/>
                <a:ea typeface="Montserrat" pitchFamily="34" charset="-122"/>
                <a:cs typeface="Montserrat" pitchFamily="34" charset="-120"/>
              </a:rPr>
              <a:t>Дослідження показало, що індуктивний граф із контентними ознаками вирішує проблему холодного старту значно краще за ізольований deep learning:</a:t>
            </a:r>
            <a:endParaRPr lang="en-US" sz="1300" dirty="0">
              <a:latin typeface="Montserrat" charset="0"/>
              <a:ea typeface="Montserrat" charset="0"/>
              <a:cs typeface="Montserrat" charset="0"/>
            </a:endParaRPr>
          </a:p>
        </p:txBody>
      </p:sp>
      <p:sp>
        <p:nvSpPr>
          <p:cNvPr id="13" name="Text 11"/>
          <p:cNvSpPr/>
          <p:nvPr/>
        </p:nvSpPr>
        <p:spPr>
          <a:xfrm>
            <a:off x="5229860" y="3078479"/>
            <a:ext cx="612714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3563"/>
                </a:solidFill>
                <a:latin typeface="Montserrat" pitchFamily="34" charset="0"/>
                <a:ea typeface="Montserrat" pitchFamily="34" charset="-122"/>
                <a:cs typeface="Montserrat" pitchFamily="34" charset="-120"/>
              </a:rPr>
              <a:t>PinSage досяг </a:t>
            </a:r>
            <a:r>
              <a:rPr lang="en-US" sz="1300" b="1" dirty="0">
                <a:solidFill>
                  <a:srgbClr val="1F3563"/>
                </a:solidFill>
                <a:latin typeface="Montserrat" pitchFamily="34" charset="0"/>
                <a:ea typeface="Montserrat" pitchFamily="34" charset="-122"/>
                <a:cs typeface="Montserrat" pitchFamily="34" charset="-120"/>
              </a:rPr>
              <a:t>67% проти 27%</a:t>
            </a:r>
            <a:r>
              <a:rPr lang="en-US" sz="1300" dirty="0">
                <a:solidFill>
                  <a:srgbClr val="1F3563"/>
                </a:solidFill>
                <a:latin typeface="Montserrat" pitchFamily="34" charset="0"/>
                <a:ea typeface="Montserrat" pitchFamily="34" charset="-122"/>
                <a:cs typeface="Montserrat" pitchFamily="34" charset="-120"/>
              </a:rPr>
              <a:t> у найкращої комбінованої мультимодальної моделі на зображеннях і текстах.</a:t>
            </a:r>
            <a:endParaRPr lang="en-US" sz="1300" dirty="0">
              <a:latin typeface="Montserrat" charset="0"/>
              <a:ea typeface="Montserrat" charset="0"/>
              <a:cs typeface="Montserrat" charset="0"/>
            </a:endParaRPr>
          </a:p>
        </p:txBody>
      </p:sp>
      <p:sp>
        <p:nvSpPr>
          <p:cNvPr id="14" name="Text 12"/>
          <p:cNvSpPr/>
          <p:nvPr/>
        </p:nvSpPr>
        <p:spPr>
          <a:xfrm>
            <a:off x="5229860" y="3629664"/>
            <a:ext cx="61271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3563"/>
                </a:solidFill>
                <a:latin typeface="Montserrat" pitchFamily="34" charset="0"/>
                <a:ea typeface="Montserrat" pitchFamily="34" charset="-122"/>
                <a:cs typeface="Montserrat" pitchFamily="34" charset="-120"/>
              </a:rPr>
              <a:t>MRR: зріс із </a:t>
            </a:r>
            <a:r>
              <a:rPr lang="en-US" sz="1300" b="1" dirty="0">
                <a:solidFill>
                  <a:srgbClr val="1F3563"/>
                </a:solidFill>
                <a:latin typeface="Montserrat" pitchFamily="34" charset="0"/>
                <a:ea typeface="Montserrat" pitchFamily="34" charset="-122"/>
                <a:cs typeface="Montserrat" pitchFamily="34" charset="-120"/>
              </a:rPr>
              <a:t>0,37</a:t>
            </a:r>
            <a:r>
              <a:rPr lang="en-US" sz="1300" dirty="0">
                <a:solidFill>
                  <a:srgbClr val="1F3563"/>
                </a:solidFill>
                <a:latin typeface="Montserrat" pitchFamily="34" charset="0"/>
                <a:ea typeface="Montserrat" pitchFamily="34" charset="-122"/>
                <a:cs typeface="Montserrat" pitchFamily="34" charset="-120"/>
              </a:rPr>
              <a:t> до </a:t>
            </a:r>
            <a:r>
              <a:rPr lang="en-US" sz="1300" b="1" dirty="0">
                <a:solidFill>
                  <a:srgbClr val="1F3563"/>
                </a:solidFill>
                <a:latin typeface="Montserrat" pitchFamily="34" charset="0"/>
                <a:ea typeface="Montserrat" pitchFamily="34" charset="-122"/>
                <a:cs typeface="Montserrat" pitchFamily="34" charset="-120"/>
              </a:rPr>
              <a:t>0,59</a:t>
            </a:r>
            <a:r>
              <a:rPr lang="en-US" sz="1300" dirty="0">
                <a:solidFill>
                  <a:srgbClr val="1F3563"/>
                </a:solidFill>
                <a:latin typeface="Montserrat" pitchFamily="34" charset="0"/>
                <a:ea typeface="Montserrat" pitchFamily="34" charset="-122"/>
                <a:cs typeface="Montserrat" pitchFamily="34" charset="-120"/>
              </a:rPr>
              <a:t>.</a:t>
            </a:r>
            <a:endParaRPr lang="en-US" sz="1300" dirty="0">
              <a:latin typeface="Montserrat" charset="0"/>
              <a:ea typeface="Montserrat" charset="0"/>
              <a:cs typeface="Montserrat" charset="0"/>
            </a:endParaRPr>
          </a:p>
        </p:txBody>
      </p:sp>
      <p:sp>
        <p:nvSpPr>
          <p:cNvPr id="15" name="Shape 13"/>
          <p:cNvSpPr/>
          <p:nvPr/>
        </p:nvSpPr>
        <p:spPr>
          <a:xfrm>
            <a:off x="812800" y="4213864"/>
            <a:ext cx="5207000" cy="828040"/>
          </a:xfrm>
          <a:prstGeom prst="roundRect">
            <a:avLst>
              <a:gd name="adj" fmla="val 15337"/>
            </a:avLst>
          </a:prstGeom>
          <a:solidFill>
            <a:srgbClr val="E6ECF8"/>
          </a:solidFill>
          <a:ln/>
        </p:spPr>
      </p:sp>
      <p:sp>
        <p:nvSpPr>
          <p:cNvPr id="16" name="Text 14"/>
          <p:cNvSpPr/>
          <p:nvPr/>
        </p:nvSpPr>
        <p:spPr>
          <a:xfrm>
            <a:off x="990600" y="4340864"/>
            <a:ext cx="499694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6BC4"/>
                </a:solidFill>
                <a:latin typeface="Montserrat" pitchFamily="34" charset="0"/>
                <a:ea typeface="Montserrat" pitchFamily="34" charset="-122"/>
                <a:cs typeface="Montserrat" pitchFamily="34" charset="-120"/>
              </a:rPr>
              <a:t>HIT-RATE</a:t>
            </a:r>
            <a:endParaRPr lang="en-US" sz="1200" dirty="0">
              <a:latin typeface="Montserrat" charset="0"/>
              <a:ea typeface="Montserrat" charset="0"/>
              <a:cs typeface="Montserrat" charset="0"/>
            </a:endParaRPr>
          </a:p>
        </p:txBody>
      </p:sp>
      <p:sp>
        <p:nvSpPr>
          <p:cNvPr id="17" name="Text 15"/>
          <p:cNvSpPr/>
          <p:nvPr/>
        </p:nvSpPr>
        <p:spPr>
          <a:xfrm>
            <a:off x="990600" y="4579621"/>
            <a:ext cx="4996942"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7387E"/>
                </a:solidFill>
                <a:latin typeface="Montserrat" pitchFamily="34" charset="0"/>
                <a:ea typeface="Montserrat" pitchFamily="34" charset="-122"/>
                <a:cs typeface="Montserrat" pitchFamily="34" charset="-120"/>
              </a:rPr>
              <a:t>27% → 67%</a:t>
            </a:r>
            <a:endParaRPr lang="en-US" sz="2400" dirty="0">
              <a:latin typeface="Montserrat" charset="0"/>
              <a:ea typeface="Montserrat" charset="0"/>
              <a:cs typeface="Montserrat" charset="0"/>
            </a:endParaRPr>
          </a:p>
        </p:txBody>
      </p:sp>
      <p:sp>
        <p:nvSpPr>
          <p:cNvPr id="18" name="Shape 16"/>
          <p:cNvSpPr/>
          <p:nvPr/>
        </p:nvSpPr>
        <p:spPr>
          <a:xfrm>
            <a:off x="6172200" y="4213864"/>
            <a:ext cx="5207000" cy="828040"/>
          </a:xfrm>
          <a:prstGeom prst="roundRect">
            <a:avLst>
              <a:gd name="adj" fmla="val 15337"/>
            </a:avLst>
          </a:prstGeom>
          <a:solidFill>
            <a:srgbClr val="E6ECF8"/>
          </a:solidFill>
          <a:ln/>
        </p:spPr>
      </p:sp>
      <p:sp>
        <p:nvSpPr>
          <p:cNvPr id="19" name="Text 17"/>
          <p:cNvSpPr/>
          <p:nvPr/>
        </p:nvSpPr>
        <p:spPr>
          <a:xfrm>
            <a:off x="6350000" y="4340864"/>
            <a:ext cx="499694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6BC4"/>
                </a:solidFill>
                <a:latin typeface="Montserrat" pitchFamily="34" charset="0"/>
                <a:ea typeface="Montserrat" pitchFamily="34" charset="-122"/>
                <a:cs typeface="Montserrat" pitchFamily="34" charset="-120"/>
              </a:rPr>
              <a:t>MRR</a:t>
            </a:r>
            <a:endParaRPr lang="en-US" sz="1200" dirty="0">
              <a:latin typeface="Montserrat" charset="0"/>
              <a:ea typeface="Montserrat" charset="0"/>
              <a:cs typeface="Montserrat" charset="0"/>
            </a:endParaRPr>
          </a:p>
        </p:txBody>
      </p:sp>
      <p:sp>
        <p:nvSpPr>
          <p:cNvPr id="20" name="Text 18"/>
          <p:cNvSpPr/>
          <p:nvPr/>
        </p:nvSpPr>
        <p:spPr>
          <a:xfrm>
            <a:off x="6350000" y="4579621"/>
            <a:ext cx="4996942"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7387E"/>
                </a:solidFill>
                <a:latin typeface="Montserrat" pitchFamily="34" charset="0"/>
                <a:ea typeface="Montserrat" pitchFamily="34" charset="-122"/>
                <a:cs typeface="Montserrat" pitchFamily="34" charset="-120"/>
              </a:rPr>
              <a:t>0,37 → 0,59</a:t>
            </a:r>
            <a:endParaRPr lang="en-US" sz="2400" dirty="0">
              <a:latin typeface="Montserrat" charset="0"/>
              <a:ea typeface="Montserrat" charset="0"/>
              <a:cs typeface="Montserrat" charset="0"/>
            </a:endParaRPr>
          </a:p>
        </p:txBody>
      </p:sp>
      <p:sp>
        <p:nvSpPr>
          <p:cNvPr id="21" name="Text 1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Метрики та </a:t>
            </a:r>
            <a:r>
              <a:rPr lang="en-US" sz="1200" dirty="0" err="1">
                <a:solidFill>
                  <a:srgbClr val="55688F"/>
                </a:solidFill>
                <a:latin typeface="Montserrat" pitchFamily="34" charset="0"/>
                <a:ea typeface="Montserrat" pitchFamily="34" charset="-122"/>
                <a:cs typeface="Montserrat" pitchFamily="34" charset="-120"/>
              </a:rPr>
              <a:t>результати</a:t>
            </a:r>
            <a:r>
              <a:rPr lang="en-US" sz="1200" dirty="0">
                <a:solidFill>
                  <a:srgbClr val="55688F"/>
                </a:solidFill>
                <a:latin typeface="Montserrat" pitchFamily="34" charset="0"/>
                <a:ea typeface="Montserrat" pitchFamily="34" charset="-122"/>
                <a:cs typeface="Montserrat" pitchFamily="34" charset="-120"/>
              </a:rPr>
              <a:t> ·</a:t>
            </a:r>
            <a:endParaRPr lang="en-US" sz="1200" dirty="0">
              <a:latin typeface="Montserrat" charset="0"/>
              <a:ea typeface="Montserrat" charset="0"/>
              <a:cs typeface="Montserrat" charset="0"/>
            </a:endParaRPr>
          </a:p>
        </p:txBody>
      </p:sp>
      <p:sp>
        <p:nvSpPr>
          <p:cNvPr id="22" name="Text 20"/>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14 / 17</a:t>
            </a:r>
            <a:endParaRPr lang="en-US" sz="1200" dirty="0">
              <a:latin typeface="Montserrat" charset="0"/>
              <a:ea typeface="Montserrat" charset="0"/>
              <a:cs typeface="Montserrat"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15</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42"/>
            <a:ext cx="9156700"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ДЖЕРЕЛА ТА РЕСУРСИ</a:t>
            </a:r>
            <a:endParaRPr lang="en-US" sz="2600" dirty="0">
              <a:latin typeface="Montserrat" charset="0"/>
              <a:ea typeface="Montserrat" charset="0"/>
              <a:cs typeface="Montserrat" charset="0"/>
            </a:endParaRPr>
          </a:p>
        </p:txBody>
      </p:sp>
      <p:sp>
        <p:nvSpPr>
          <p:cNvPr id="6" name="Shape 4"/>
          <p:cNvSpPr/>
          <p:nvPr/>
        </p:nvSpPr>
        <p:spPr>
          <a:xfrm>
            <a:off x="819150" y="1451614"/>
            <a:ext cx="6337300" cy="3332480"/>
          </a:xfrm>
          <a:prstGeom prst="roundRect">
            <a:avLst>
              <a:gd name="adj" fmla="val 3620"/>
            </a:avLst>
          </a:prstGeom>
          <a:solidFill>
            <a:srgbClr val="FFFFFF"/>
          </a:solidFill>
          <a:ln w="12700">
            <a:solidFill>
              <a:srgbClr val="D5E0F3"/>
            </a:solidFill>
            <a:prstDash val="solid"/>
          </a:ln>
        </p:spPr>
      </p:sp>
      <p:sp>
        <p:nvSpPr>
          <p:cNvPr id="7" name="Text 5"/>
          <p:cNvSpPr/>
          <p:nvPr/>
        </p:nvSpPr>
        <p:spPr>
          <a:xfrm>
            <a:off x="1013460" y="1620521"/>
            <a:ext cx="612714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387E"/>
                </a:solidFill>
                <a:latin typeface="Montserrat" pitchFamily="34" charset="0"/>
                <a:ea typeface="Montserrat" pitchFamily="34" charset="-122"/>
                <a:cs typeface="Montserrat" pitchFamily="34" charset="-120"/>
              </a:rPr>
              <a:t>Наукові статті</a:t>
            </a:r>
            <a:endParaRPr lang="en-US" sz="1300" dirty="0">
              <a:latin typeface="Montserrat" charset="0"/>
              <a:ea typeface="Montserrat" charset="0"/>
              <a:cs typeface="Montserrat" charset="0"/>
            </a:endParaRPr>
          </a:p>
        </p:txBody>
      </p:sp>
      <p:sp>
        <p:nvSpPr>
          <p:cNvPr id="8" name="Text 6"/>
          <p:cNvSpPr/>
          <p:nvPr/>
        </p:nvSpPr>
        <p:spPr>
          <a:xfrm>
            <a:off x="1118616" y="1940564"/>
            <a:ext cx="6014364" cy="2700020"/>
          </a:xfrm>
          <a:prstGeom prst="rect">
            <a:avLst/>
          </a:prstGeom>
          <a:noFill/>
          <a:ln/>
        </p:spPr>
        <p:txBody>
          <a:bodyPr wrap="square" lIns="0" tIns="0" rIns="0" bIns="0" rtlCol="0" anchor="t">
            <a:normAutofit/>
          </a:bodyPr>
          <a:lstStyle/>
          <a:p>
            <a:pPr marL="148844" indent="-148844" algn="l">
              <a:lnSpc>
                <a:spcPts val="1620"/>
              </a:lnSpc>
              <a:buSzPct val="100000"/>
              <a:buChar char="•"/>
            </a:pPr>
            <a:r>
              <a:rPr lang="en-US" sz="1200" dirty="0">
                <a:solidFill>
                  <a:srgbClr val="1F3563"/>
                </a:solidFill>
                <a:latin typeface="Montserrat" pitchFamily="34" charset="0"/>
                <a:ea typeface="Montserrat" pitchFamily="34" charset="-122"/>
                <a:cs typeface="Montserrat" pitchFamily="34" charset="-120"/>
              </a:rPr>
              <a:t>Ying R. et al. Graph Convolutional Neural Networks for Web-Scale Recommender Systems (PinSage). KDD, 2018</a:t>
            </a:r>
            <a:endParaRPr lang="en-US" sz="1200" dirty="0">
              <a:latin typeface="Montserrat" charset="0"/>
              <a:ea typeface="Montserrat" charset="0"/>
              <a:cs typeface="Montserrat" charset="0"/>
            </a:endParaRPr>
          </a:p>
          <a:p>
            <a:pPr marL="148844" indent="-148844" algn="l">
              <a:lnSpc>
                <a:spcPts val="1620"/>
              </a:lnSpc>
              <a:buSzPct val="100000"/>
              <a:buChar char="•"/>
            </a:pPr>
            <a:r>
              <a:rPr lang="en-US" sz="1200" dirty="0">
                <a:solidFill>
                  <a:srgbClr val="1F3563"/>
                </a:solidFill>
                <a:latin typeface="Montserrat" pitchFamily="34" charset="0"/>
                <a:ea typeface="Montserrat" pitchFamily="34" charset="-122"/>
                <a:cs typeface="Montserrat" pitchFamily="34" charset="-120"/>
              </a:rPr>
              <a:t>Hamilton W., Ying R., Leskovec J. Inductive Representation Learning on Large Graphs (GraphSAGE). NeurIPS, 2017</a:t>
            </a:r>
            <a:endParaRPr lang="en-US" sz="1200" dirty="0">
              <a:latin typeface="Montserrat" charset="0"/>
              <a:ea typeface="Montserrat" charset="0"/>
              <a:cs typeface="Montserrat" charset="0"/>
            </a:endParaRPr>
          </a:p>
          <a:p>
            <a:pPr marL="148844" indent="-148844" algn="l">
              <a:lnSpc>
                <a:spcPts val="1620"/>
              </a:lnSpc>
              <a:buSzPct val="100000"/>
              <a:buChar char="•"/>
            </a:pPr>
            <a:r>
              <a:rPr lang="en-US" sz="1200" dirty="0">
                <a:solidFill>
                  <a:srgbClr val="1F3563"/>
                </a:solidFill>
                <a:latin typeface="Montserrat" pitchFamily="34" charset="0"/>
                <a:ea typeface="Montserrat" pitchFamily="34" charset="-122"/>
                <a:cs typeface="Montserrat" pitchFamily="34" charset="-120"/>
              </a:rPr>
              <a:t>Veličković P. et al. Graph Attention Networks. ICLR, 2018</a:t>
            </a:r>
            <a:endParaRPr lang="en-US" sz="1200" dirty="0">
              <a:latin typeface="Montserrat" charset="0"/>
              <a:ea typeface="Montserrat" charset="0"/>
              <a:cs typeface="Montserrat" charset="0"/>
            </a:endParaRPr>
          </a:p>
          <a:p>
            <a:pPr marL="148844" indent="-148844" algn="l">
              <a:lnSpc>
                <a:spcPts val="1620"/>
              </a:lnSpc>
              <a:buSzPct val="100000"/>
              <a:buChar char="•"/>
            </a:pPr>
            <a:r>
              <a:rPr lang="en-US" sz="1200" dirty="0">
                <a:solidFill>
                  <a:srgbClr val="1F3563"/>
                </a:solidFill>
                <a:latin typeface="Montserrat" pitchFamily="34" charset="0"/>
                <a:ea typeface="Montserrat" pitchFamily="34" charset="-122"/>
                <a:cs typeface="Montserrat" pitchFamily="34" charset="-120"/>
              </a:rPr>
              <a:t>He X. et al. LightGCN: Simplifying and Powering Graph Convolution Network for Recommendation. SIGIR, 2020</a:t>
            </a:r>
            <a:endParaRPr lang="en-US" sz="1200" dirty="0">
              <a:latin typeface="Montserrat" charset="0"/>
              <a:ea typeface="Montserrat" charset="0"/>
              <a:cs typeface="Montserrat" charset="0"/>
            </a:endParaRPr>
          </a:p>
          <a:p>
            <a:pPr marL="148844" indent="-148844" algn="l">
              <a:lnSpc>
                <a:spcPts val="1620"/>
              </a:lnSpc>
              <a:buSzPct val="100000"/>
              <a:buChar char="•"/>
            </a:pPr>
            <a:r>
              <a:rPr lang="en-US" sz="1200" dirty="0">
                <a:solidFill>
                  <a:srgbClr val="1F3563"/>
                </a:solidFill>
                <a:latin typeface="Montserrat" pitchFamily="34" charset="0"/>
                <a:ea typeface="Montserrat" pitchFamily="34" charset="-122"/>
                <a:cs typeface="Montserrat" pitchFamily="34" charset="-120"/>
              </a:rPr>
              <a:t>Wu S. et al. Graph Neural Networks in Recommender Systems: A Survey. ACM Computing Surveys, 2022</a:t>
            </a:r>
            <a:endParaRPr lang="en-US" sz="1200" dirty="0">
              <a:latin typeface="Montserrat" charset="0"/>
              <a:ea typeface="Montserrat" charset="0"/>
              <a:cs typeface="Montserrat" charset="0"/>
            </a:endParaRPr>
          </a:p>
          <a:p>
            <a:pPr marL="148844" indent="-148844" algn="l">
              <a:lnSpc>
                <a:spcPts val="1620"/>
              </a:lnSpc>
              <a:buSzPct val="100000"/>
              <a:buChar char="•"/>
            </a:pPr>
            <a:r>
              <a:rPr lang="en-US" sz="1200" dirty="0">
                <a:solidFill>
                  <a:srgbClr val="1F3563"/>
                </a:solidFill>
                <a:latin typeface="Montserrat" pitchFamily="34" charset="0"/>
                <a:ea typeface="Montserrat" pitchFamily="34" charset="-122"/>
                <a:cs typeface="Montserrat" pitchFamily="34" charset="-120"/>
              </a:rPr>
              <a:t>Schein A. et al. Methods and Metrics for Cold-Start Recommendations. SIGIR, 2002</a:t>
            </a:r>
            <a:endParaRPr lang="en-US" sz="1200" dirty="0">
              <a:latin typeface="Montserrat" charset="0"/>
              <a:ea typeface="Montserrat" charset="0"/>
              <a:cs typeface="Montserrat" charset="0"/>
            </a:endParaRPr>
          </a:p>
          <a:p>
            <a:pPr marL="148844" indent="-148844" algn="l">
              <a:lnSpc>
                <a:spcPts val="1620"/>
              </a:lnSpc>
              <a:buSzPct val="100000"/>
              <a:buChar char="•"/>
            </a:pPr>
            <a:r>
              <a:rPr lang="en-US" sz="1200" dirty="0">
                <a:solidFill>
                  <a:srgbClr val="1F3563"/>
                </a:solidFill>
                <a:latin typeface="Montserrat" pitchFamily="34" charset="0"/>
                <a:ea typeface="Montserrat" pitchFamily="34" charset="-122"/>
                <a:cs typeface="Montserrat" pitchFamily="34" charset="-120"/>
              </a:rPr>
              <a:t>Lika B. et al. Facing the cold start problem in recommender systems. Expert Systems with Applications, 2014</a:t>
            </a:r>
            <a:endParaRPr lang="en-US" sz="1200" dirty="0">
              <a:latin typeface="Montserrat" charset="0"/>
              <a:ea typeface="Montserrat" charset="0"/>
              <a:cs typeface="Montserrat" charset="0"/>
            </a:endParaRPr>
          </a:p>
        </p:txBody>
      </p:sp>
      <p:sp>
        <p:nvSpPr>
          <p:cNvPr id="9" name="Shape 7"/>
          <p:cNvSpPr/>
          <p:nvPr/>
        </p:nvSpPr>
        <p:spPr>
          <a:xfrm>
            <a:off x="7372350" y="1451614"/>
            <a:ext cx="4000500" cy="2085340"/>
          </a:xfrm>
          <a:prstGeom prst="roundRect">
            <a:avLst>
              <a:gd name="adj" fmla="val 5786"/>
            </a:avLst>
          </a:prstGeom>
          <a:solidFill>
            <a:srgbClr val="FFFFFF"/>
          </a:solidFill>
          <a:ln w="12700">
            <a:solidFill>
              <a:srgbClr val="D5E0F3"/>
            </a:solidFill>
            <a:prstDash val="solid"/>
          </a:ln>
        </p:spPr>
      </p:sp>
      <p:sp>
        <p:nvSpPr>
          <p:cNvPr id="10" name="Text 8"/>
          <p:cNvSpPr/>
          <p:nvPr/>
        </p:nvSpPr>
        <p:spPr>
          <a:xfrm>
            <a:off x="7566660" y="1620521"/>
            <a:ext cx="372023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387E"/>
                </a:solidFill>
                <a:latin typeface="Montserrat" pitchFamily="34" charset="0"/>
                <a:ea typeface="Montserrat" pitchFamily="34" charset="-122"/>
                <a:cs typeface="Montserrat" pitchFamily="34" charset="-120"/>
              </a:rPr>
              <a:t>Дані та інструменти</a:t>
            </a:r>
            <a:endParaRPr lang="en-US" sz="1300" dirty="0">
              <a:latin typeface="Montserrat" charset="0"/>
              <a:ea typeface="Montserrat" charset="0"/>
              <a:cs typeface="Montserrat" charset="0"/>
            </a:endParaRPr>
          </a:p>
        </p:txBody>
      </p:sp>
      <p:sp>
        <p:nvSpPr>
          <p:cNvPr id="11" name="Text 9"/>
          <p:cNvSpPr/>
          <p:nvPr/>
        </p:nvSpPr>
        <p:spPr>
          <a:xfrm>
            <a:off x="7671816" y="1927864"/>
            <a:ext cx="3607460" cy="1465580"/>
          </a:xfrm>
          <a:prstGeom prst="rect">
            <a:avLst/>
          </a:prstGeom>
          <a:noFill/>
          <a:ln/>
        </p:spPr>
        <p:txBody>
          <a:bodyPr wrap="square" lIns="0" tIns="0" rIns="0" bIns="0" rtlCol="0" anchor="t">
            <a:normAutofit/>
          </a:bodyPr>
          <a:lstStyle/>
          <a:p>
            <a:pPr marL="148844" indent="-148844" algn="l">
              <a:lnSpc>
                <a:spcPts val="1620"/>
              </a:lnSpc>
              <a:buSzPct val="100000"/>
              <a:buChar char="•"/>
            </a:pPr>
            <a:r>
              <a:rPr lang="en-US" sz="1200" dirty="0">
                <a:solidFill>
                  <a:srgbClr val="1F3563"/>
                </a:solidFill>
                <a:latin typeface="Montserrat" pitchFamily="34" charset="0"/>
                <a:ea typeface="Montserrat" pitchFamily="34" charset="-122"/>
                <a:cs typeface="Montserrat" pitchFamily="34" charset="-120"/>
              </a:rPr>
              <a:t>Amazon: датасет відгуків на телефонну продукцію</a:t>
            </a:r>
            <a:endParaRPr lang="en-US" sz="1200" dirty="0">
              <a:latin typeface="Montserrat" charset="0"/>
              <a:ea typeface="Montserrat" charset="0"/>
              <a:cs typeface="Montserrat" charset="0"/>
            </a:endParaRPr>
          </a:p>
          <a:p>
            <a:pPr marL="148844" indent="-148844" algn="l">
              <a:lnSpc>
                <a:spcPts val="1620"/>
              </a:lnSpc>
              <a:buSzPct val="100000"/>
              <a:buChar char="•"/>
            </a:pPr>
            <a:r>
              <a:rPr lang="en-US" sz="1200" dirty="0">
                <a:solidFill>
                  <a:srgbClr val="1F3563"/>
                </a:solidFill>
                <a:latin typeface="Montserrat" pitchFamily="34" charset="0"/>
                <a:ea typeface="Montserrat" pitchFamily="34" charset="-122"/>
                <a:cs typeface="Montserrat" pitchFamily="34" charset="-120"/>
              </a:rPr>
              <a:t>PyTorch Geometric (бібліотека GNN)</a:t>
            </a:r>
            <a:endParaRPr lang="en-US" sz="1200" dirty="0">
              <a:latin typeface="Montserrat" charset="0"/>
              <a:ea typeface="Montserrat" charset="0"/>
              <a:cs typeface="Montserrat" charset="0"/>
            </a:endParaRPr>
          </a:p>
          <a:p>
            <a:pPr marL="148844" indent="-148844" algn="l">
              <a:lnSpc>
                <a:spcPts val="1620"/>
              </a:lnSpc>
              <a:buSzPct val="100000"/>
              <a:buChar char="•"/>
            </a:pPr>
            <a:r>
              <a:rPr lang="en-US" sz="1200" dirty="0">
                <a:solidFill>
                  <a:srgbClr val="1F3563"/>
                </a:solidFill>
                <a:latin typeface="Montserrat" pitchFamily="34" charset="0"/>
                <a:ea typeface="Montserrat" pitchFamily="34" charset="-122"/>
                <a:cs typeface="Montserrat" pitchFamily="34" charset="-120"/>
              </a:rPr>
              <a:t>Stanford CS224W: Machine Learning with Graphs</a:t>
            </a:r>
            <a:endParaRPr lang="en-US" sz="1200" dirty="0">
              <a:latin typeface="Montserrat" charset="0"/>
              <a:ea typeface="Montserrat" charset="0"/>
              <a:cs typeface="Montserrat" charset="0"/>
            </a:endParaRPr>
          </a:p>
          <a:p>
            <a:pPr marL="148844" indent="-148844" algn="l">
              <a:lnSpc>
                <a:spcPts val="1620"/>
              </a:lnSpc>
              <a:buSzPct val="100000"/>
              <a:buChar char="•"/>
            </a:pPr>
            <a:r>
              <a:rPr lang="en-US" sz="1200" dirty="0">
                <a:solidFill>
                  <a:srgbClr val="1F3563"/>
                </a:solidFill>
                <a:latin typeface="Montserrat" pitchFamily="34" charset="0"/>
                <a:ea typeface="Montserrat" pitchFamily="34" charset="-122"/>
                <a:cs typeface="Montserrat" pitchFamily="34" charset="-120"/>
              </a:rPr>
              <a:t>Дослідницький довідник команди з теми cold start</a:t>
            </a:r>
            <a:endParaRPr lang="en-US" sz="1200" dirty="0">
              <a:latin typeface="Montserrat" charset="0"/>
              <a:ea typeface="Montserrat" charset="0"/>
              <a:cs typeface="Montserrat" charset="0"/>
            </a:endParaRPr>
          </a:p>
        </p:txBody>
      </p:sp>
      <p:sp>
        <p:nvSpPr>
          <p:cNvPr id="12" name="Shape 10"/>
          <p:cNvSpPr/>
          <p:nvPr/>
        </p:nvSpPr>
        <p:spPr>
          <a:xfrm>
            <a:off x="7366000" y="3695700"/>
            <a:ext cx="4013200" cy="812800"/>
          </a:xfrm>
          <a:prstGeom prst="roundRect">
            <a:avLst>
              <a:gd name="adj" fmla="val 15625"/>
            </a:avLst>
          </a:prstGeom>
          <a:solidFill>
            <a:srgbClr val="17387E"/>
          </a:solidFill>
          <a:ln/>
        </p:spPr>
      </p:sp>
      <p:sp>
        <p:nvSpPr>
          <p:cNvPr id="13" name="Text 11"/>
          <p:cNvSpPr/>
          <p:nvPr/>
        </p:nvSpPr>
        <p:spPr>
          <a:xfrm>
            <a:off x="7556500" y="3860800"/>
            <a:ext cx="374116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DBDEB"/>
                </a:solidFill>
                <a:latin typeface="Montserrat" pitchFamily="34" charset="0"/>
                <a:ea typeface="Montserrat" pitchFamily="34" charset="-122"/>
                <a:cs typeface="Montserrat" pitchFamily="34" charset="-120"/>
              </a:rPr>
              <a:t>РЕПОЗИТОРІЙ ПРОЄКТУ</a:t>
            </a:r>
            <a:endParaRPr lang="en-US" sz="1200" dirty="0">
              <a:latin typeface="Montserrat" charset="0"/>
              <a:ea typeface="Montserrat" charset="0"/>
              <a:cs typeface="Montserrat" charset="0"/>
            </a:endParaRPr>
          </a:p>
        </p:txBody>
      </p:sp>
      <p:sp>
        <p:nvSpPr>
          <p:cNvPr id="14" name="Text 12"/>
          <p:cNvSpPr/>
          <p:nvPr/>
        </p:nvSpPr>
        <p:spPr>
          <a:xfrm>
            <a:off x="7556500" y="4137664"/>
            <a:ext cx="3741166" cy="231140"/>
          </a:xfrm>
          <a:prstGeom prst="rect">
            <a:avLst/>
          </a:prstGeom>
          <a:noFill/>
          <a:ln/>
        </p:spPr>
        <p:txBody>
          <a:bodyPr wrap="square" lIns="0" tIns="0" rIns="0" bIns="0" rtlCol="0" anchor="t">
            <a:normAutofit/>
          </a:bodyPr>
          <a:lstStyle/>
          <a:p>
            <a:pPr marL="0" indent="0" algn="l">
              <a:lnSpc>
                <a:spcPts val="1620"/>
              </a:lnSpc>
              <a:buNone/>
            </a:pPr>
            <a:r>
              <a:rPr lang="en-US" sz="1200" u="sng" dirty="0">
                <a:solidFill>
                  <a:srgbClr val="F4F7FD"/>
                </a:solidFill>
                <a:latin typeface="Montserrat" pitchFamily="34" charset="0"/>
                <a:ea typeface="Montserrat" pitchFamily="34" charset="-122"/>
                <a:cs typeface="Montserrat" pitchFamily="34" charset="-120"/>
                <a:hlinkClick r:id="rId3">
                  <a:extLst>
                    <a:ext uri="{A12FA001-AC4F-418D-AE19-62706E023703}">
                      <ahyp:hlinkClr xmlns:ahyp="http://schemas.microsoft.com/office/drawing/2018/hyperlinkcolor" val="tx"/>
                    </a:ext>
                  </a:extLst>
                </a:hlinkClick>
              </a:rPr>
              <a:t>github.com/MariaZanko/CS101-Project</a:t>
            </a:r>
            <a:endParaRPr lang="en-US" sz="1200" dirty="0">
              <a:latin typeface="Montserrat" charset="0"/>
              <a:ea typeface="Montserrat" charset="0"/>
              <a:cs typeface="Montserrat" charset="0"/>
            </a:endParaRPr>
          </a:p>
        </p:txBody>
      </p:sp>
      <p:sp>
        <p:nvSpPr>
          <p:cNvPr id="15" name="Text 1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Cold start · GNN у рекомендаційних системах</a:t>
            </a:r>
            <a:endParaRPr lang="en-US" sz="1200" dirty="0">
              <a:latin typeface="Montserrat" charset="0"/>
              <a:ea typeface="Montserrat" charset="0"/>
              <a:cs typeface="Montserrat" charset="0"/>
            </a:endParaRPr>
          </a:p>
        </p:txBody>
      </p:sp>
      <p:sp>
        <p:nvSpPr>
          <p:cNvPr id="16" name="Text 14"/>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15 / 17</a:t>
            </a:r>
            <a:endParaRPr lang="en-US" sz="1200" dirty="0">
              <a:latin typeface="Montserrat" charset="0"/>
              <a:ea typeface="Montserrat" charset="0"/>
              <a:cs typeface="Montserrat"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10795000" y="0"/>
            <a:ext cx="1397000" cy="1397000"/>
          </a:xfrm>
          <a:custGeom>
            <a:avLst/>
            <a:gdLst/>
            <a:ahLst/>
            <a:cxnLst/>
            <a:rect l="l" t="t" r="r" b="b"/>
            <a:pathLst>
              <a:path w="1397000" h="1397000">
                <a:moveTo>
                  <a:pt x="0" y="0"/>
                </a:moveTo>
                <a:lnTo>
                  <a:pt x="1397000" y="0"/>
                </a:lnTo>
                <a:lnTo>
                  <a:pt x="1397000" y="1397000"/>
                </a:lnTo>
                <a:lnTo>
                  <a:pt x="1397000" y="1397000"/>
                </a:lnTo>
                <a:arcTo wR="1397000" hR="1397000" stAng="5400000" swAng="5400000"/>
                <a:lnTo>
                  <a:pt x="0" y="0"/>
                </a:lnTo>
                <a:close/>
              </a:path>
            </a:pathLst>
          </a:custGeom>
          <a:gradFill rotWithShape="1">
            <a:gsLst>
              <a:gs pos="0">
                <a:srgbClr val="17387E"/>
              </a:gs>
              <a:gs pos="50000">
                <a:srgbClr val="17387E"/>
              </a:gs>
              <a:gs pos="50000">
                <a:srgbClr val="DCE6F7"/>
              </a:gs>
              <a:gs pos="100000">
                <a:srgbClr val="DCE6F7"/>
              </a:gs>
            </a:gsLst>
            <a:lin ang="2700000" scaled="0"/>
          </a:gradFill>
          <a:ln/>
        </p:spPr>
      </p:sp>
      <p:sp>
        <p:nvSpPr>
          <p:cNvPr id="3" name="Shape 1"/>
          <p:cNvSpPr/>
          <p:nvPr/>
        </p:nvSpPr>
        <p:spPr>
          <a:xfrm>
            <a:off x="11493500" y="0"/>
            <a:ext cx="698500" cy="698500"/>
          </a:xfrm>
          <a:custGeom>
            <a:avLst/>
            <a:gdLst/>
            <a:ahLst/>
            <a:cxnLst/>
            <a:rect l="l" t="t" r="r" b="b"/>
            <a:pathLst>
              <a:path w="698500" h="698500">
                <a:moveTo>
                  <a:pt x="0" y="0"/>
                </a:moveTo>
                <a:lnTo>
                  <a:pt x="698500" y="0"/>
                </a:lnTo>
                <a:lnTo>
                  <a:pt x="698500" y="698500"/>
                </a:lnTo>
                <a:lnTo>
                  <a:pt x="698500" y="698500"/>
                </a:lnTo>
                <a:arcTo wR="698500" hR="698500" stAng="5400000" swAng="5400000"/>
                <a:lnTo>
                  <a:pt x="0" y="0"/>
                </a:lnTo>
                <a:close/>
              </a:path>
            </a:pathLst>
          </a:custGeom>
          <a:solidFill>
            <a:srgbClr val="17387E"/>
          </a:solidFill>
          <a:ln/>
        </p:spPr>
      </p:sp>
      <p:sp>
        <p:nvSpPr>
          <p:cNvPr id="4" name="Text 2"/>
          <p:cNvSpPr/>
          <p:nvPr/>
        </p:nvSpPr>
        <p:spPr>
          <a:xfrm>
            <a:off x="812800" y="6096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3F6BC4"/>
                </a:solidFill>
                <a:latin typeface="Montserrat" pitchFamily="34" charset="0"/>
                <a:ea typeface="Montserrat" pitchFamily="34" charset="-122"/>
                <a:cs typeface="Montserrat" pitchFamily="34" charset="-120"/>
              </a:rPr>
              <a:t>СЛАЙД 16</a:t>
            </a:r>
            <a:endParaRPr lang="en-US" sz="1300" dirty="0">
              <a:latin typeface="Montserrat" charset="0"/>
              <a:ea typeface="Montserrat" charset="0"/>
              <a:cs typeface="Montserrat" charset="0"/>
            </a:endParaRPr>
          </a:p>
        </p:txBody>
      </p:sp>
      <p:sp>
        <p:nvSpPr>
          <p:cNvPr id="5" name="Text 3"/>
          <p:cNvSpPr>
            <a:spLocks noGrp="1"/>
          </p:cNvSpPr>
          <p:nvPr>
            <p:ph type="title"/>
          </p:nvPr>
        </p:nvSpPr>
        <p:spPr>
          <a:xfrm>
            <a:off x="812800" y="904242"/>
            <a:ext cx="9156700"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7387E"/>
                </a:solidFill>
                <a:latin typeface="Montserrat" pitchFamily="34" charset="0"/>
                <a:ea typeface="Montserrat" pitchFamily="34" charset="-122"/>
                <a:cs typeface="Montserrat" pitchFamily="34" charset="-120"/>
              </a:rPr>
              <a:t>ВИСНОВКИ</a:t>
            </a:r>
            <a:endParaRPr lang="en-US" sz="2600" dirty="0">
              <a:latin typeface="Montserrat" charset="0"/>
              <a:ea typeface="Montserrat" charset="0"/>
              <a:cs typeface="Montserrat" charset="0"/>
            </a:endParaRPr>
          </a:p>
        </p:txBody>
      </p:sp>
      <p:sp>
        <p:nvSpPr>
          <p:cNvPr id="6" name="Shape 4"/>
          <p:cNvSpPr/>
          <p:nvPr/>
        </p:nvSpPr>
        <p:spPr>
          <a:xfrm>
            <a:off x="819150" y="1451608"/>
            <a:ext cx="5194300" cy="1285240"/>
          </a:xfrm>
          <a:prstGeom prst="roundRect">
            <a:avLst>
              <a:gd name="adj" fmla="val 9387"/>
            </a:avLst>
          </a:prstGeom>
          <a:solidFill>
            <a:srgbClr val="FFFFFF"/>
          </a:solidFill>
          <a:ln w="12700">
            <a:solidFill>
              <a:srgbClr val="D5E0F3"/>
            </a:solidFill>
            <a:prstDash val="solid"/>
          </a:ln>
        </p:spPr>
      </p:sp>
      <p:sp>
        <p:nvSpPr>
          <p:cNvPr id="7" name="Text 5"/>
          <p:cNvSpPr/>
          <p:nvPr/>
        </p:nvSpPr>
        <p:spPr>
          <a:xfrm>
            <a:off x="1000760" y="1607827"/>
            <a:ext cx="497601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387E"/>
                </a:solidFill>
                <a:latin typeface="Montserrat" pitchFamily="34" charset="0"/>
                <a:ea typeface="Montserrat" pitchFamily="34" charset="-122"/>
                <a:cs typeface="Montserrat" pitchFamily="34" charset="-120"/>
              </a:rPr>
              <a:t>Проблема</a:t>
            </a:r>
            <a:endParaRPr lang="en-US" sz="1500" dirty="0">
              <a:latin typeface="Montserrat" charset="0"/>
              <a:ea typeface="Montserrat" charset="0"/>
              <a:cs typeface="Montserrat" charset="0"/>
            </a:endParaRPr>
          </a:p>
        </p:txBody>
      </p:sp>
      <p:sp>
        <p:nvSpPr>
          <p:cNvPr id="8" name="Text 6"/>
          <p:cNvSpPr/>
          <p:nvPr/>
        </p:nvSpPr>
        <p:spPr>
          <a:xfrm>
            <a:off x="1000760" y="1887227"/>
            <a:ext cx="497601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3563"/>
                </a:solidFill>
                <a:latin typeface="Montserrat" pitchFamily="34" charset="0"/>
                <a:ea typeface="Montserrat" pitchFamily="34" charset="-122"/>
                <a:cs typeface="Montserrat" pitchFamily="34" charset="-120"/>
              </a:rPr>
              <a:t>У нового товару немає взаємодій, тому CF і матрична факторизація не мають для нього навченого вектора.</a:t>
            </a:r>
            <a:endParaRPr lang="en-US" sz="1300" dirty="0">
              <a:latin typeface="Montserrat" charset="0"/>
              <a:ea typeface="Montserrat" charset="0"/>
              <a:cs typeface="Montserrat" charset="0"/>
            </a:endParaRPr>
          </a:p>
        </p:txBody>
      </p:sp>
      <p:sp>
        <p:nvSpPr>
          <p:cNvPr id="9" name="Shape 7"/>
          <p:cNvSpPr/>
          <p:nvPr/>
        </p:nvSpPr>
        <p:spPr>
          <a:xfrm>
            <a:off x="6178550" y="1451608"/>
            <a:ext cx="5194300" cy="1285240"/>
          </a:xfrm>
          <a:prstGeom prst="roundRect">
            <a:avLst>
              <a:gd name="adj" fmla="val 9387"/>
            </a:avLst>
          </a:prstGeom>
          <a:solidFill>
            <a:srgbClr val="FFFFFF"/>
          </a:solidFill>
          <a:ln w="12700">
            <a:solidFill>
              <a:srgbClr val="D5E0F3"/>
            </a:solidFill>
            <a:prstDash val="solid"/>
          </a:ln>
        </p:spPr>
      </p:sp>
      <p:sp>
        <p:nvSpPr>
          <p:cNvPr id="10" name="Text 8"/>
          <p:cNvSpPr/>
          <p:nvPr/>
        </p:nvSpPr>
        <p:spPr>
          <a:xfrm>
            <a:off x="6360160" y="1607827"/>
            <a:ext cx="497601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387E"/>
                </a:solidFill>
                <a:latin typeface="Montserrat" pitchFamily="34" charset="0"/>
                <a:ea typeface="Montserrat" pitchFamily="34" charset="-122"/>
                <a:cs typeface="Montserrat" pitchFamily="34" charset="-120"/>
              </a:rPr>
              <a:t>Рішення</a:t>
            </a:r>
            <a:endParaRPr lang="en-US" sz="1500" dirty="0">
              <a:latin typeface="Montserrat" charset="0"/>
              <a:ea typeface="Montserrat" charset="0"/>
              <a:cs typeface="Montserrat" charset="0"/>
            </a:endParaRPr>
          </a:p>
        </p:txBody>
      </p:sp>
      <p:sp>
        <p:nvSpPr>
          <p:cNvPr id="11" name="Text 9"/>
          <p:cNvSpPr/>
          <p:nvPr/>
        </p:nvSpPr>
        <p:spPr>
          <a:xfrm>
            <a:off x="6360160" y="1887227"/>
            <a:ext cx="4976012"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3563"/>
                </a:solidFill>
                <a:latin typeface="Montserrat" pitchFamily="34" charset="0"/>
                <a:ea typeface="Montserrat" pitchFamily="34" charset="-122"/>
                <a:cs typeface="Montserrat" pitchFamily="34" charset="-120"/>
              </a:rPr>
              <a:t>Гетерогенний граф (бренд, категорія, мітки) дає товару сусідів, а message passing — осмислений опис через них.</a:t>
            </a:r>
            <a:endParaRPr lang="en-US" sz="1300" dirty="0">
              <a:latin typeface="Montserrat" charset="0"/>
              <a:ea typeface="Montserrat" charset="0"/>
              <a:cs typeface="Montserrat" charset="0"/>
            </a:endParaRPr>
          </a:p>
        </p:txBody>
      </p:sp>
      <p:sp>
        <p:nvSpPr>
          <p:cNvPr id="12" name="Shape 10"/>
          <p:cNvSpPr/>
          <p:nvPr/>
        </p:nvSpPr>
        <p:spPr>
          <a:xfrm>
            <a:off x="819150" y="2927350"/>
            <a:ext cx="5194300" cy="1285240"/>
          </a:xfrm>
          <a:prstGeom prst="roundRect">
            <a:avLst>
              <a:gd name="adj" fmla="val 9387"/>
            </a:avLst>
          </a:prstGeom>
          <a:solidFill>
            <a:srgbClr val="FFFFFF"/>
          </a:solidFill>
          <a:ln w="12700">
            <a:solidFill>
              <a:srgbClr val="D5E0F3"/>
            </a:solidFill>
            <a:prstDash val="solid"/>
          </a:ln>
        </p:spPr>
      </p:sp>
      <p:sp>
        <p:nvSpPr>
          <p:cNvPr id="13" name="Text 11"/>
          <p:cNvSpPr/>
          <p:nvPr/>
        </p:nvSpPr>
        <p:spPr>
          <a:xfrm>
            <a:off x="1000760" y="3083558"/>
            <a:ext cx="497601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387E"/>
                </a:solidFill>
                <a:latin typeface="Montserrat" pitchFamily="34" charset="0"/>
                <a:ea typeface="Montserrat" pitchFamily="34" charset="-122"/>
                <a:cs typeface="Montserrat" pitchFamily="34" charset="-120"/>
              </a:rPr>
              <a:t>Моделі</a:t>
            </a:r>
            <a:endParaRPr lang="en-US" sz="1500" dirty="0">
              <a:latin typeface="Montserrat" charset="0"/>
              <a:ea typeface="Montserrat" charset="0"/>
              <a:cs typeface="Montserrat" charset="0"/>
            </a:endParaRPr>
          </a:p>
        </p:txBody>
      </p:sp>
      <p:sp>
        <p:nvSpPr>
          <p:cNvPr id="14" name="Text 12"/>
          <p:cNvSpPr/>
          <p:nvPr/>
        </p:nvSpPr>
        <p:spPr>
          <a:xfrm>
            <a:off x="1000760" y="3362958"/>
            <a:ext cx="4976012"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3563"/>
                </a:solidFill>
                <a:latin typeface="Montserrat" pitchFamily="34" charset="0"/>
                <a:ea typeface="Montserrat" pitchFamily="34" charset="-122"/>
                <a:cs typeface="Montserrat" pitchFamily="34" charset="-120"/>
              </a:rPr>
              <a:t>GraphSAGE працює відмінно, GAT — задовільно, LightGCN без ребер не працює. На практиці поєднують підходи.</a:t>
            </a:r>
            <a:endParaRPr lang="en-US" sz="1300" dirty="0">
              <a:latin typeface="Montserrat" charset="0"/>
              <a:ea typeface="Montserrat" charset="0"/>
              <a:cs typeface="Montserrat" charset="0"/>
            </a:endParaRPr>
          </a:p>
        </p:txBody>
      </p:sp>
      <p:sp>
        <p:nvSpPr>
          <p:cNvPr id="15" name="Shape 13"/>
          <p:cNvSpPr/>
          <p:nvPr/>
        </p:nvSpPr>
        <p:spPr>
          <a:xfrm>
            <a:off x="6178550" y="2927350"/>
            <a:ext cx="5194300" cy="1285240"/>
          </a:xfrm>
          <a:prstGeom prst="roundRect">
            <a:avLst>
              <a:gd name="adj" fmla="val 9387"/>
            </a:avLst>
          </a:prstGeom>
          <a:solidFill>
            <a:srgbClr val="FFFFFF"/>
          </a:solidFill>
          <a:ln w="12700">
            <a:solidFill>
              <a:srgbClr val="D5E0F3"/>
            </a:solidFill>
            <a:prstDash val="solid"/>
          </a:ln>
        </p:spPr>
      </p:sp>
      <p:sp>
        <p:nvSpPr>
          <p:cNvPr id="16" name="Text 14"/>
          <p:cNvSpPr/>
          <p:nvPr/>
        </p:nvSpPr>
        <p:spPr>
          <a:xfrm>
            <a:off x="6360160" y="3083558"/>
            <a:ext cx="497601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387E"/>
                </a:solidFill>
                <a:latin typeface="Montserrat" pitchFamily="34" charset="0"/>
                <a:ea typeface="Montserrat" pitchFamily="34" charset="-122"/>
                <a:cs typeface="Montserrat" pitchFamily="34" charset="-120"/>
              </a:rPr>
              <a:t>Індустрія</a:t>
            </a:r>
            <a:endParaRPr lang="en-US" sz="1500" dirty="0">
              <a:latin typeface="Montserrat" charset="0"/>
              <a:ea typeface="Montserrat" charset="0"/>
              <a:cs typeface="Montserrat" charset="0"/>
            </a:endParaRPr>
          </a:p>
        </p:txBody>
      </p:sp>
      <p:sp>
        <p:nvSpPr>
          <p:cNvPr id="17" name="Text 15"/>
          <p:cNvSpPr/>
          <p:nvPr/>
        </p:nvSpPr>
        <p:spPr>
          <a:xfrm>
            <a:off x="6360160" y="3362958"/>
            <a:ext cx="497601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3563"/>
                </a:solidFill>
                <a:latin typeface="Montserrat" pitchFamily="34" charset="0"/>
                <a:ea typeface="Montserrat" pitchFamily="34" charset="-122"/>
                <a:cs typeface="Montserrat" pitchFamily="34" charset="-120"/>
              </a:rPr>
              <a:t>PinSage у Pinterest: Hit-rate 67% проти 27% у найкращої мультимодальної моделі без графа.</a:t>
            </a:r>
            <a:endParaRPr lang="en-US" sz="1300" dirty="0">
              <a:latin typeface="Montserrat" charset="0"/>
              <a:ea typeface="Montserrat" charset="0"/>
              <a:cs typeface="Montserrat" charset="0"/>
            </a:endParaRPr>
          </a:p>
        </p:txBody>
      </p:sp>
      <p:sp>
        <p:nvSpPr>
          <p:cNvPr id="18" name="Shape 16"/>
          <p:cNvSpPr/>
          <p:nvPr/>
        </p:nvSpPr>
        <p:spPr>
          <a:xfrm>
            <a:off x="812800" y="4396742"/>
            <a:ext cx="10566400" cy="1079500"/>
          </a:xfrm>
          <a:prstGeom prst="roundRect">
            <a:avLst>
              <a:gd name="adj" fmla="val 11765"/>
            </a:avLst>
          </a:prstGeom>
          <a:solidFill>
            <a:srgbClr val="17387E"/>
          </a:solidFill>
          <a:ln/>
        </p:spPr>
      </p:sp>
      <p:sp>
        <p:nvSpPr>
          <p:cNvPr id="19" name="Text 17"/>
          <p:cNvSpPr/>
          <p:nvPr/>
        </p:nvSpPr>
        <p:spPr>
          <a:xfrm>
            <a:off x="1016000" y="4561842"/>
            <a:ext cx="1046480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DBDEB"/>
                </a:solidFill>
                <a:latin typeface="Montserrat" pitchFamily="34" charset="0"/>
                <a:ea typeface="Montserrat" pitchFamily="34" charset="-122"/>
                <a:cs typeface="Montserrat" pitchFamily="34" charset="-120"/>
              </a:rPr>
              <a:t>ГОЛОВНА ТЕЗА</a:t>
            </a:r>
            <a:endParaRPr lang="en-US" sz="1200" dirty="0">
              <a:latin typeface="Montserrat" charset="0"/>
              <a:ea typeface="Montserrat" charset="0"/>
              <a:cs typeface="Montserrat" charset="0"/>
            </a:endParaRPr>
          </a:p>
        </p:txBody>
      </p:sp>
      <p:sp>
        <p:nvSpPr>
          <p:cNvPr id="20" name="Text 18"/>
          <p:cNvSpPr/>
          <p:nvPr/>
        </p:nvSpPr>
        <p:spPr>
          <a:xfrm>
            <a:off x="1016000" y="4813300"/>
            <a:ext cx="104648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7FD"/>
                </a:solidFill>
                <a:latin typeface="Montserrat" pitchFamily="34" charset="0"/>
                <a:ea typeface="Montserrat" pitchFamily="34" charset="-122"/>
                <a:cs typeface="Montserrat" pitchFamily="34" charset="-120"/>
              </a:rPr>
              <a:t>GNN — не чарівна паличка: їй потрібні ознаки або зв’язки нового об’єкта. Також варто враховувати вартість, приватність і обмеженість офлайн-оцінки.</a:t>
            </a:r>
            <a:endParaRPr lang="en-US" sz="1400" dirty="0">
              <a:latin typeface="Montserrat" charset="0"/>
              <a:ea typeface="Montserrat" charset="0"/>
              <a:cs typeface="Montserrat" charset="0"/>
            </a:endParaRPr>
          </a:p>
        </p:txBody>
      </p:sp>
      <p:sp>
        <p:nvSpPr>
          <p:cNvPr id="21" name="Text 1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88F"/>
                </a:solidFill>
                <a:latin typeface="Montserrat" pitchFamily="34" charset="0"/>
                <a:ea typeface="Montserrat" pitchFamily="34" charset="-122"/>
                <a:cs typeface="Montserrat" pitchFamily="34" charset="-120"/>
              </a:rPr>
              <a:t>Cold start · GNN у рекомендаційних системах</a:t>
            </a:r>
            <a:endParaRPr lang="en-US" sz="1200" dirty="0">
              <a:latin typeface="Montserrat" charset="0"/>
              <a:ea typeface="Montserrat" charset="0"/>
              <a:cs typeface="Montserrat" charset="0"/>
            </a:endParaRPr>
          </a:p>
        </p:txBody>
      </p:sp>
      <p:sp>
        <p:nvSpPr>
          <p:cNvPr id="22" name="Text 20"/>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387E"/>
                </a:solidFill>
                <a:latin typeface="Montserrat" pitchFamily="34" charset="0"/>
                <a:ea typeface="Montserrat" pitchFamily="34" charset="-122"/>
                <a:cs typeface="Montserrat" pitchFamily="34" charset="-120"/>
              </a:rPr>
              <a:t>16 / 17</a:t>
            </a:r>
            <a:endParaRPr lang="en-US" sz="1200" dirty="0">
              <a:latin typeface="Montserrat" charset="0"/>
              <a:ea typeface="Montserrat" charset="0"/>
              <a:cs typeface="Montserrat"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387E"/>
        </a:solidFill>
        <a:effectLst/>
      </p:bgPr>
    </p:bg>
    <p:spTree>
      <p:nvGrpSpPr>
        <p:cNvPr id="1" name=""/>
        <p:cNvGrpSpPr/>
        <p:nvPr/>
      </p:nvGrpSpPr>
      <p:grpSpPr>
        <a:xfrm>
          <a:off x="0" y="0"/>
          <a:ext cx="0" cy="0"/>
          <a:chOff x="0" y="0"/>
          <a:chExt cx="0" cy="0"/>
        </a:xfrm>
      </p:grpSpPr>
      <p:sp>
        <p:nvSpPr>
          <p:cNvPr id="2" name="Shape 0"/>
          <p:cNvSpPr/>
          <p:nvPr/>
        </p:nvSpPr>
        <p:spPr>
          <a:xfrm>
            <a:off x="8890000" y="3556000"/>
            <a:ext cx="3302000" cy="3302000"/>
          </a:xfrm>
          <a:custGeom>
            <a:avLst/>
            <a:gdLst/>
            <a:ahLst/>
            <a:cxnLst/>
            <a:rect l="l" t="t" r="r" b="b"/>
            <a:pathLst>
              <a:path w="3302000" h="3302000">
                <a:moveTo>
                  <a:pt x="1625600" y="0"/>
                </a:moveTo>
                <a:lnTo>
                  <a:pt x="3302000" y="0"/>
                </a:lnTo>
                <a:lnTo>
                  <a:pt x="3302000" y="3302000"/>
                </a:lnTo>
                <a:lnTo>
                  <a:pt x="0" y="3302000"/>
                </a:lnTo>
                <a:lnTo>
                  <a:pt x="0" y="1625600"/>
                </a:lnTo>
                <a:arcTo wR="1625600" hR="1625600" stAng="10800000" swAng="5400000"/>
                <a:close/>
              </a:path>
            </a:pathLst>
          </a:custGeom>
          <a:gradFill rotWithShape="1">
            <a:gsLst>
              <a:gs pos="0">
                <a:srgbClr val="8DB3E6"/>
              </a:gs>
              <a:gs pos="50000">
                <a:srgbClr val="8DB3E6"/>
              </a:gs>
              <a:gs pos="50000">
                <a:srgbClr val="17387E"/>
              </a:gs>
              <a:gs pos="100000">
                <a:srgbClr val="17387E"/>
              </a:gs>
            </a:gsLst>
            <a:lin ang="2700000" scaled="0"/>
          </a:gradFill>
          <a:ln/>
        </p:spPr>
      </p:sp>
      <p:sp>
        <p:nvSpPr>
          <p:cNvPr id="3" name="Shape 1"/>
          <p:cNvSpPr/>
          <p:nvPr/>
        </p:nvSpPr>
        <p:spPr>
          <a:xfrm>
            <a:off x="10541000" y="5207000"/>
            <a:ext cx="1651000" cy="1651000"/>
          </a:xfrm>
          <a:custGeom>
            <a:avLst/>
            <a:gdLst/>
            <a:ahLst/>
            <a:cxnLst/>
            <a:rect l="l" t="t" r="r" b="b"/>
            <a:pathLst>
              <a:path w="1651000" h="1651000">
                <a:moveTo>
                  <a:pt x="1625600" y="0"/>
                </a:moveTo>
                <a:lnTo>
                  <a:pt x="1651000" y="0"/>
                </a:lnTo>
                <a:lnTo>
                  <a:pt x="1651000" y="1651000"/>
                </a:lnTo>
                <a:lnTo>
                  <a:pt x="0" y="1651000"/>
                </a:lnTo>
                <a:lnTo>
                  <a:pt x="0" y="1625600"/>
                </a:lnTo>
                <a:arcTo wR="1625600" hR="1625600" stAng="10800000" swAng="5400000"/>
                <a:close/>
              </a:path>
            </a:pathLst>
          </a:custGeom>
          <a:solidFill>
            <a:srgbClr val="EAF0FB"/>
          </a:solidFill>
          <a:ln/>
        </p:spPr>
      </p:sp>
      <p:pic>
        <p:nvPicPr>
          <p:cNvPr id="4" name="Image 0" descr="Декоративні точки"/>
          <p:cNvPicPr>
            <a:picLocks noChangeAspect="1"/>
          </p:cNvPicPr>
          <p:nvPr/>
        </p:nvPicPr>
        <p:blipFill>
          <a:blip r:embed="rId3"/>
          <a:srcRect/>
          <a:stretch/>
        </p:blipFill>
        <p:spPr>
          <a:xfrm>
            <a:off x="812800" y="609600"/>
            <a:ext cx="762000" cy="609600"/>
          </a:xfrm>
          <a:prstGeom prst="rect">
            <a:avLst/>
          </a:prstGeom>
        </p:spPr>
      </p:pic>
      <p:sp>
        <p:nvSpPr>
          <p:cNvPr id="5" name="Text 2"/>
          <p:cNvSpPr/>
          <p:nvPr/>
        </p:nvSpPr>
        <p:spPr>
          <a:xfrm>
            <a:off x="812800" y="2235200"/>
            <a:ext cx="1363790"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9DBDEB"/>
                </a:solidFill>
                <a:latin typeface="Montserrat" pitchFamily="34" charset="0"/>
                <a:ea typeface="Montserrat" pitchFamily="34" charset="-122"/>
                <a:cs typeface="Montserrat" pitchFamily="34" charset="-120"/>
              </a:rPr>
              <a:t>СЛАЙД 17</a:t>
            </a:r>
            <a:endParaRPr lang="en-US" sz="1400" dirty="0">
              <a:latin typeface="Montserrat" charset="0"/>
              <a:ea typeface="Montserrat" charset="0"/>
              <a:cs typeface="Montserrat" charset="0"/>
            </a:endParaRPr>
          </a:p>
        </p:txBody>
      </p:sp>
      <p:sp>
        <p:nvSpPr>
          <p:cNvPr id="6" name="Text 3"/>
          <p:cNvSpPr>
            <a:spLocks noGrp="1"/>
          </p:cNvSpPr>
          <p:nvPr>
            <p:ph type="title"/>
          </p:nvPr>
        </p:nvSpPr>
        <p:spPr>
          <a:xfrm>
            <a:off x="812800" y="2712727"/>
            <a:ext cx="8175625" cy="69596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4F7FD"/>
                </a:solidFill>
                <a:latin typeface="Montserrat" pitchFamily="34" charset="0"/>
                <a:ea typeface="Montserrat" pitchFamily="34" charset="-122"/>
                <a:cs typeface="Montserrat" pitchFamily="34" charset="-120"/>
              </a:rPr>
              <a:t>ДЯКУЄМО ЗА УВАГУ!</a:t>
            </a:r>
            <a:endParaRPr lang="en-US" sz="4800" dirty="0">
              <a:latin typeface="Montserrat" charset="0"/>
              <a:ea typeface="Montserrat" charset="0"/>
              <a:cs typeface="Montserrat" charset="0"/>
            </a:endParaRPr>
          </a:p>
        </p:txBody>
      </p:sp>
      <p:sp>
        <p:nvSpPr>
          <p:cNvPr id="7" name="Text 4"/>
          <p:cNvSpPr/>
          <p:nvPr/>
        </p:nvSpPr>
        <p:spPr>
          <a:xfrm>
            <a:off x="812800" y="3611885"/>
            <a:ext cx="752157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C9D8F2"/>
                </a:solidFill>
                <a:latin typeface="Montserrat" pitchFamily="34" charset="0"/>
                <a:ea typeface="Montserrat" pitchFamily="34" charset="-122"/>
                <a:cs typeface="Montserrat" pitchFamily="34" charset="-120"/>
              </a:rPr>
              <a:t>Будемо раді відповісти на ваші запитання</a:t>
            </a:r>
            <a:endParaRPr lang="en-US" sz="2000" dirty="0">
              <a:latin typeface="Montserrat" charset="0"/>
              <a:ea typeface="Montserrat" charset="0"/>
              <a:cs typeface="Montserrat" charset="0"/>
            </a:endParaRPr>
          </a:p>
        </p:txBody>
      </p:sp>
      <p:pic>
        <p:nvPicPr>
          <p:cNvPr id="1026" name="Picture 2">
            <a:extLst>
              <a:ext uri="{FF2B5EF4-FFF2-40B4-BE49-F238E27FC236}">
                <a16:creationId xmlns:a16="http://schemas.microsoft.com/office/drawing/2014/main" id="{22D34B71-6887-5380-5D0B-F9C978B3C5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2509" y="4196083"/>
            <a:ext cx="2090190" cy="20901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Cold start: GNN у рекомендаційних системах">
  <a:themeElements>
    <a:clrScheme name="Cold start: GNN у рекомендаційних системах">
      <a:dk1>
        <a:srgbClr val="17387E"/>
      </a:dk1>
      <a:lt1>
        <a:srgbClr val="F2F5FB"/>
      </a:lt1>
      <a:dk2>
        <a:srgbClr val="4E679D"/>
      </a:dk2>
      <a:lt2>
        <a:srgbClr val="DCE2EF"/>
      </a:lt2>
      <a:accent1>
        <a:srgbClr val="1F3563"/>
      </a:accent1>
      <a:accent2>
        <a:srgbClr val="3F6BC4"/>
      </a:accent2>
      <a:accent3>
        <a:srgbClr val="55688F"/>
      </a:accent3>
      <a:accent4>
        <a:srgbClr val="9DBDEB"/>
      </a:accent4>
      <a:accent5>
        <a:srgbClr val="C9D8F2"/>
      </a:accent5>
      <a:accent6>
        <a:srgbClr val="3A1F00"/>
      </a:accent6>
      <a:hlink>
        <a:srgbClr val="0563C1"/>
      </a:hlink>
      <a:folHlink>
        <a:srgbClr val="954F72"/>
      </a:folHlink>
    </a:clrScheme>
    <a:fontScheme name="Cold start: GNN у рекомендаційних системах">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Офіс">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2991</Words>
  <Application>Microsoft Office PowerPoint</Application>
  <PresentationFormat>Широкий екран</PresentationFormat>
  <Paragraphs>326</Paragraphs>
  <Slides>17</Slides>
  <Notes>17</Notes>
  <HiddenSlides>0</HiddenSlides>
  <MMClips>0</MMClips>
  <ScaleCrop>false</ScaleCrop>
  <HeadingPairs>
    <vt:vector size="6" baseType="variant">
      <vt:variant>
        <vt:lpstr>Використані шрифти</vt:lpstr>
      </vt:variant>
      <vt:variant>
        <vt:i4>2</vt:i4>
      </vt:variant>
      <vt:variant>
        <vt:lpstr>Тема</vt:lpstr>
      </vt:variant>
      <vt:variant>
        <vt:i4>1</vt:i4>
      </vt:variant>
      <vt:variant>
        <vt:lpstr>Заголовки слайдів</vt:lpstr>
      </vt:variant>
      <vt:variant>
        <vt:i4>17</vt:i4>
      </vt:variant>
    </vt:vector>
  </HeadingPairs>
  <TitlesOfParts>
    <vt:vector size="20" baseType="lpstr">
      <vt:lpstr>Montserrat</vt:lpstr>
      <vt:lpstr>Arial</vt:lpstr>
      <vt:lpstr>Cold start: GNN у рекомендаційних системах</vt:lpstr>
      <vt:lpstr>ХОЛОДНИЙ СТАРТ У РЕКОМЕНДАЦІЙНИХ СИСТЕМАХ</vt:lpstr>
      <vt:lpstr>ХТО І НАД ЧИМ ПРАЦЮВАВ</vt:lpstr>
      <vt:lpstr>ХОЛОДНИЙ СТАРТ: ЩО ЦЕ І ЧОМУ КЛАСИЧНІ МЕТОДИ ТУТ СЛАБКІ</vt:lpstr>
      <vt:lpstr>ПІДХОДИ ДО РОЗВ’ЯЗАННЯ І ЧОМУ ГРАФ</vt:lpstr>
      <vt:lpstr>ГЕТЕРОГЕННИЙ ГРАФ: НАВІЩО ВІН ПОТРІБЕН НОВОМУ ТОВАРУ</vt:lpstr>
      <vt:lpstr>ЯК ТОЧКА ЗБИРАЄ ОПИС ВІД СУСІДІВ</vt:lpstr>
      <vt:lpstr>ПРИНЦИП РОБОТИ, СИЛЬНІ Й СЛАБКІ СТОРОНИ GNN-МОДЕЛЕЙ</vt:lpstr>
      <vt:lpstr>ДАТАСЕТИ ДАНИХ</vt:lpstr>
      <vt:lpstr>СИМУЛЯЦІЯ COLD START</vt:lpstr>
      <vt:lpstr>МЕТРИКИ РАНЖУВАННЯ ТА ВАЛІДАЦІЯ ОБЧИСЛЕНЬ.</vt:lpstr>
      <vt:lpstr>РЕЗУЛЬТАТИ ДОСЛІДЖЕННЯ PINTEREST (KDD 2018)</vt:lpstr>
      <vt:lpstr>ПОВЕДІНКА МОДЕЛЕЙ У СИТУАЦІЇ COLD START (ХОЛОДНИЙ СТАРТ)</vt:lpstr>
      <vt:lpstr>ОБМЕЖЕННЯ ТА ТЕХНІЧНІ РИЗИКИ ВПРОВАДЖЕННЯ GNN (ГРАФОВОЇ НЕЙРОННОЇ МЕРЕЖІ)</vt:lpstr>
      <vt:lpstr>ІНЖЕНЕРНА ДОЦІЛЬНІСТЬ ТА ДОСВІД ІНДУСТРІЇ</vt:lpstr>
      <vt:lpstr>ДЖЕРЕЛА ТА РЕСУРСИ</vt:lpstr>
      <vt:lpstr>ВИСНОВКИ</vt:lpstr>
      <vt:lpstr>ДЯКУЄМО ЗА УВАГУ!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Cold start: GNN у рекомендаційних системах</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Montserrat
Copyright 2024 The Montserrat.Git Project Authors (https://github.com/JulietaUla/Montserrat.git)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Maria Zanko</cp:lastModifiedBy>
  <cp:revision>3</cp:revision>
  <dcterms:created xsi:type="dcterms:W3CDTF">2026-11-01T16:04:18Z</dcterms:created>
  <dcterms:modified xsi:type="dcterms:W3CDTF">2026-11-01T16:13:04Z</dcterms:modified>
</cp:coreProperties>
</file>